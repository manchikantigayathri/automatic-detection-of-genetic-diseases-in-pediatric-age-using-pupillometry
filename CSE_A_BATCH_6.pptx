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3" r:id="rId1"/>
  </p:sldMasterIdLst>
  <p:notesMasterIdLst>
    <p:notesMasterId r:id="rId39"/>
  </p:notesMasterIdLst>
  <p:sldIdLst>
    <p:sldId id="272" r:id="rId2"/>
    <p:sldId id="258" r:id="rId3"/>
    <p:sldId id="259" r:id="rId4"/>
    <p:sldId id="260" r:id="rId5"/>
    <p:sldId id="283" r:id="rId6"/>
    <p:sldId id="262" r:id="rId7"/>
    <p:sldId id="263" r:id="rId8"/>
    <p:sldId id="264" r:id="rId9"/>
    <p:sldId id="268" r:id="rId10"/>
    <p:sldId id="265" r:id="rId11"/>
    <p:sldId id="269" r:id="rId12"/>
    <p:sldId id="267" r:id="rId13"/>
    <p:sldId id="270" r:id="rId14"/>
    <p:sldId id="293" r:id="rId15"/>
    <p:sldId id="287" r:id="rId16"/>
    <p:sldId id="284" r:id="rId17"/>
    <p:sldId id="285" r:id="rId18"/>
    <p:sldId id="288" r:id="rId19"/>
    <p:sldId id="294" r:id="rId20"/>
    <p:sldId id="295" r:id="rId21"/>
    <p:sldId id="296" r:id="rId22"/>
    <p:sldId id="297" r:id="rId23"/>
    <p:sldId id="298" r:id="rId24"/>
    <p:sldId id="271" r:id="rId25"/>
    <p:sldId id="273" r:id="rId26"/>
    <p:sldId id="282" r:id="rId27"/>
    <p:sldId id="276" r:id="rId28"/>
    <p:sldId id="277" r:id="rId29"/>
    <p:sldId id="278" r:id="rId30"/>
    <p:sldId id="279" r:id="rId31"/>
    <p:sldId id="280" r:id="rId32"/>
    <p:sldId id="281" r:id="rId33"/>
    <p:sldId id="291" r:id="rId34"/>
    <p:sldId id="292" r:id="rId35"/>
    <p:sldId id="274" r:id="rId36"/>
    <p:sldId id="290" r:id="rId37"/>
    <p:sldId id="289"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2696" autoAdjust="0"/>
    <p:restoredTop sz="94364" autoAdjust="0"/>
  </p:normalViewPr>
  <p:slideViewPr>
    <p:cSldViewPr snapToGrid="0">
      <p:cViewPr varScale="1">
        <p:scale>
          <a:sx n="82" d="100"/>
          <a:sy n="82" d="100"/>
        </p:scale>
        <p:origin x="1142" y="-22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513DA7-99A8-437F-9AA8-C1135B919FCB}" type="datetimeFigureOut">
              <a:rPr lang="en-IN" smtClean="0"/>
              <a:t>14-04-2025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64C2E7-6720-4700-81EE-B80A5A6A067D}" type="slidenum">
              <a:rPr lang="en-IN" smtClean="0"/>
              <a:t>‹#›</a:t>
            </a:fld>
            <a:endParaRPr lang="en-IN"/>
          </a:p>
        </p:txBody>
      </p:sp>
    </p:spTree>
    <p:extLst>
      <p:ext uri="{BB962C8B-B14F-4D97-AF65-F5344CB8AC3E}">
        <p14:creationId xmlns:p14="http://schemas.microsoft.com/office/powerpoint/2010/main" val="961572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F64C2E7-6720-4700-81EE-B80A5A6A067D}" type="slidenum">
              <a:rPr lang="en-IN" smtClean="0"/>
              <a:t>5</a:t>
            </a:fld>
            <a:endParaRPr lang="en-IN"/>
          </a:p>
        </p:txBody>
      </p:sp>
    </p:spTree>
    <p:extLst>
      <p:ext uri="{BB962C8B-B14F-4D97-AF65-F5344CB8AC3E}">
        <p14:creationId xmlns:p14="http://schemas.microsoft.com/office/powerpoint/2010/main" val="1674140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F64C2E7-6720-4700-81EE-B80A5A6A067D}" type="slidenum">
              <a:rPr lang="en-IN" smtClean="0"/>
              <a:t>27</a:t>
            </a:fld>
            <a:endParaRPr lang="en-IN"/>
          </a:p>
        </p:txBody>
      </p:sp>
    </p:spTree>
    <p:extLst>
      <p:ext uri="{BB962C8B-B14F-4D97-AF65-F5344CB8AC3E}">
        <p14:creationId xmlns:p14="http://schemas.microsoft.com/office/powerpoint/2010/main" val="3044794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F64C2E7-6720-4700-81EE-B80A5A6A067D}" type="slidenum">
              <a:rPr lang="en-IN" smtClean="0"/>
              <a:t>28</a:t>
            </a:fld>
            <a:endParaRPr lang="en-IN"/>
          </a:p>
        </p:txBody>
      </p:sp>
    </p:spTree>
    <p:extLst>
      <p:ext uri="{BB962C8B-B14F-4D97-AF65-F5344CB8AC3E}">
        <p14:creationId xmlns:p14="http://schemas.microsoft.com/office/powerpoint/2010/main" val="40249913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IN"/>
              <a:t>11-04-2025</a:t>
            </a:r>
          </a:p>
        </p:txBody>
      </p:sp>
      <p:sp>
        <p:nvSpPr>
          <p:cNvPr id="5" name="Footer Placeholder 4"/>
          <p:cNvSpPr>
            <a:spLocks noGrp="1"/>
          </p:cNvSpPr>
          <p:nvPr>
            <p:ph type="ftr" sz="quarter" idx="11"/>
          </p:nvPr>
        </p:nvSpPr>
        <p:spPr/>
        <p:txBody>
          <a:bodyPr/>
          <a:lstStyle/>
          <a:p>
            <a:r>
              <a:rPr lang="en-US" dirty="0"/>
              <a:t>Department of CSE,BVCITS(H4),Amalapuram</a:t>
            </a:r>
            <a:endParaRPr lang="en-IN" dirty="0"/>
          </a:p>
        </p:txBody>
      </p:sp>
      <p:sp>
        <p:nvSpPr>
          <p:cNvPr id="6" name="Slide Number Placeholder 5"/>
          <p:cNvSpPr>
            <a:spLocks noGrp="1"/>
          </p:cNvSpPr>
          <p:nvPr>
            <p:ph type="sldNum" sz="quarter" idx="12"/>
          </p:nvPr>
        </p:nvSpPr>
        <p:spPr/>
        <p:txBody>
          <a:bodyPr/>
          <a:lstStyle/>
          <a:p>
            <a:fld id="{D11D1588-8316-42EA-B695-F2D8B3238057}" type="slidenum">
              <a:rPr lang="en-IN" smtClean="0"/>
              <a:t>‹#›</a:t>
            </a:fld>
            <a:endParaRPr lang="en-IN"/>
          </a:p>
        </p:txBody>
      </p:sp>
    </p:spTree>
    <p:extLst>
      <p:ext uri="{BB962C8B-B14F-4D97-AF65-F5344CB8AC3E}">
        <p14:creationId xmlns:p14="http://schemas.microsoft.com/office/powerpoint/2010/main" val="1323981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IN"/>
              <a:t>11-04-2025</a:t>
            </a:r>
          </a:p>
        </p:txBody>
      </p:sp>
      <p:sp>
        <p:nvSpPr>
          <p:cNvPr id="5" name="Footer Placeholder 4"/>
          <p:cNvSpPr>
            <a:spLocks noGrp="1"/>
          </p:cNvSpPr>
          <p:nvPr>
            <p:ph type="ftr" sz="quarter" idx="11"/>
          </p:nvPr>
        </p:nvSpPr>
        <p:spPr/>
        <p:txBody>
          <a:bodyPr/>
          <a:lstStyle/>
          <a:p>
            <a:r>
              <a:rPr lang="en-US" dirty="0"/>
              <a:t>Department of CSE,BVCITS(H4),Amalapuram</a:t>
            </a:r>
            <a:endParaRPr lang="en-IN" dirty="0"/>
          </a:p>
        </p:txBody>
      </p:sp>
      <p:sp>
        <p:nvSpPr>
          <p:cNvPr id="6" name="Slide Number Placeholder 5"/>
          <p:cNvSpPr>
            <a:spLocks noGrp="1"/>
          </p:cNvSpPr>
          <p:nvPr>
            <p:ph type="sldNum" sz="quarter" idx="12"/>
          </p:nvPr>
        </p:nvSpPr>
        <p:spPr/>
        <p:txBody>
          <a:bodyPr/>
          <a:lstStyle/>
          <a:p>
            <a:fld id="{D11D1588-8316-42EA-B695-F2D8B3238057}" type="slidenum">
              <a:rPr lang="en-IN" smtClean="0"/>
              <a:t>‹#›</a:t>
            </a:fld>
            <a:endParaRPr lang="en-IN"/>
          </a:p>
        </p:txBody>
      </p:sp>
    </p:spTree>
    <p:extLst>
      <p:ext uri="{BB962C8B-B14F-4D97-AF65-F5344CB8AC3E}">
        <p14:creationId xmlns:p14="http://schemas.microsoft.com/office/powerpoint/2010/main" val="3304673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IN"/>
              <a:t>11-04-2025</a:t>
            </a:r>
          </a:p>
        </p:txBody>
      </p:sp>
      <p:sp>
        <p:nvSpPr>
          <p:cNvPr id="5" name="Footer Placeholder 4"/>
          <p:cNvSpPr>
            <a:spLocks noGrp="1"/>
          </p:cNvSpPr>
          <p:nvPr>
            <p:ph type="ftr" sz="quarter" idx="11"/>
          </p:nvPr>
        </p:nvSpPr>
        <p:spPr/>
        <p:txBody>
          <a:bodyPr/>
          <a:lstStyle/>
          <a:p>
            <a:r>
              <a:rPr lang="en-US" dirty="0"/>
              <a:t>Department of CSE,BVCITS(H4),Amalapuram</a:t>
            </a:r>
            <a:endParaRPr lang="en-IN" dirty="0"/>
          </a:p>
        </p:txBody>
      </p:sp>
      <p:sp>
        <p:nvSpPr>
          <p:cNvPr id="6" name="Slide Number Placeholder 5"/>
          <p:cNvSpPr>
            <a:spLocks noGrp="1"/>
          </p:cNvSpPr>
          <p:nvPr>
            <p:ph type="sldNum" sz="quarter" idx="12"/>
          </p:nvPr>
        </p:nvSpPr>
        <p:spPr/>
        <p:txBody>
          <a:bodyPr/>
          <a:lstStyle/>
          <a:p>
            <a:fld id="{D11D1588-8316-42EA-B695-F2D8B3238057}" type="slidenum">
              <a:rPr lang="en-IN" smtClean="0"/>
              <a:t>‹#›</a:t>
            </a:fld>
            <a:endParaRPr lang="en-IN"/>
          </a:p>
        </p:txBody>
      </p:sp>
    </p:spTree>
    <p:extLst>
      <p:ext uri="{BB962C8B-B14F-4D97-AF65-F5344CB8AC3E}">
        <p14:creationId xmlns:p14="http://schemas.microsoft.com/office/powerpoint/2010/main" val="3487197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IN"/>
              <a:t>11-04-2025</a:t>
            </a:r>
          </a:p>
        </p:txBody>
      </p:sp>
      <p:sp>
        <p:nvSpPr>
          <p:cNvPr id="6" name="Footer Placeholder 5"/>
          <p:cNvSpPr>
            <a:spLocks noGrp="1"/>
          </p:cNvSpPr>
          <p:nvPr>
            <p:ph type="ftr" sz="quarter" idx="11"/>
          </p:nvPr>
        </p:nvSpPr>
        <p:spPr/>
        <p:txBody>
          <a:bodyPr/>
          <a:lstStyle/>
          <a:p>
            <a:r>
              <a:rPr lang="en-US" dirty="0"/>
              <a:t>Department of CSE,BVCITS(H4),Amalapuram</a:t>
            </a:r>
            <a:endParaRPr lang="en-IN" dirty="0"/>
          </a:p>
        </p:txBody>
      </p:sp>
      <p:sp>
        <p:nvSpPr>
          <p:cNvPr id="7" name="Slide Number Placeholder 6"/>
          <p:cNvSpPr>
            <a:spLocks noGrp="1"/>
          </p:cNvSpPr>
          <p:nvPr>
            <p:ph type="sldNum" sz="quarter" idx="12"/>
          </p:nvPr>
        </p:nvSpPr>
        <p:spPr/>
        <p:txBody>
          <a:bodyPr/>
          <a:lstStyle/>
          <a:p>
            <a:fld id="{D11D1588-8316-42EA-B695-F2D8B3238057}" type="slidenum">
              <a:rPr lang="en-IN" smtClean="0"/>
              <a:t>‹#›</a:t>
            </a:fld>
            <a:endParaRPr lang="en-IN"/>
          </a:p>
        </p:txBody>
      </p:sp>
    </p:spTree>
    <p:extLst>
      <p:ext uri="{BB962C8B-B14F-4D97-AF65-F5344CB8AC3E}">
        <p14:creationId xmlns:p14="http://schemas.microsoft.com/office/powerpoint/2010/main" val="1909462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IN"/>
              <a:t>11-04-2025</a:t>
            </a:r>
          </a:p>
        </p:txBody>
      </p:sp>
      <p:sp>
        <p:nvSpPr>
          <p:cNvPr id="8" name="Footer Placeholder 7"/>
          <p:cNvSpPr>
            <a:spLocks noGrp="1"/>
          </p:cNvSpPr>
          <p:nvPr>
            <p:ph type="ftr" sz="quarter" idx="11"/>
          </p:nvPr>
        </p:nvSpPr>
        <p:spPr/>
        <p:txBody>
          <a:bodyPr/>
          <a:lstStyle/>
          <a:p>
            <a:r>
              <a:rPr lang="en-US" dirty="0"/>
              <a:t>Department of CSE,BVCITS(H4),Amalapuram</a:t>
            </a:r>
            <a:endParaRPr lang="en-IN" dirty="0"/>
          </a:p>
        </p:txBody>
      </p:sp>
      <p:sp>
        <p:nvSpPr>
          <p:cNvPr id="9" name="Slide Number Placeholder 8"/>
          <p:cNvSpPr>
            <a:spLocks noGrp="1"/>
          </p:cNvSpPr>
          <p:nvPr>
            <p:ph type="sldNum" sz="quarter" idx="12"/>
          </p:nvPr>
        </p:nvSpPr>
        <p:spPr/>
        <p:txBody>
          <a:bodyPr/>
          <a:lstStyle/>
          <a:p>
            <a:fld id="{D11D1588-8316-42EA-B695-F2D8B3238057}" type="slidenum">
              <a:rPr lang="en-IN" smtClean="0"/>
              <a:t>‹#›</a:t>
            </a:fld>
            <a:endParaRPr lang="en-IN"/>
          </a:p>
        </p:txBody>
      </p:sp>
    </p:spTree>
    <p:extLst>
      <p:ext uri="{BB962C8B-B14F-4D97-AF65-F5344CB8AC3E}">
        <p14:creationId xmlns:p14="http://schemas.microsoft.com/office/powerpoint/2010/main" val="2445406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IN"/>
              <a:t>11-04-2025</a:t>
            </a:r>
          </a:p>
        </p:txBody>
      </p:sp>
      <p:sp>
        <p:nvSpPr>
          <p:cNvPr id="4" name="Footer Placeholder 3"/>
          <p:cNvSpPr>
            <a:spLocks noGrp="1"/>
          </p:cNvSpPr>
          <p:nvPr>
            <p:ph type="ftr" sz="quarter" idx="11"/>
          </p:nvPr>
        </p:nvSpPr>
        <p:spPr/>
        <p:txBody>
          <a:bodyPr/>
          <a:lstStyle/>
          <a:p>
            <a:r>
              <a:rPr lang="en-US" dirty="0"/>
              <a:t>Department of CSE,BVCITS(H4),Amalapuram</a:t>
            </a:r>
            <a:endParaRPr lang="en-IN" dirty="0"/>
          </a:p>
        </p:txBody>
      </p:sp>
      <p:sp>
        <p:nvSpPr>
          <p:cNvPr id="5" name="Slide Number Placeholder 4"/>
          <p:cNvSpPr>
            <a:spLocks noGrp="1"/>
          </p:cNvSpPr>
          <p:nvPr>
            <p:ph type="sldNum" sz="quarter" idx="12"/>
          </p:nvPr>
        </p:nvSpPr>
        <p:spPr/>
        <p:txBody>
          <a:bodyPr/>
          <a:lstStyle/>
          <a:p>
            <a:fld id="{D11D1588-8316-42EA-B695-F2D8B3238057}" type="slidenum">
              <a:rPr lang="en-IN" smtClean="0"/>
              <a:t>‹#›</a:t>
            </a:fld>
            <a:endParaRPr lang="en-IN"/>
          </a:p>
        </p:txBody>
      </p:sp>
    </p:spTree>
    <p:extLst>
      <p:ext uri="{BB962C8B-B14F-4D97-AF65-F5344CB8AC3E}">
        <p14:creationId xmlns:p14="http://schemas.microsoft.com/office/powerpoint/2010/main" val="2797342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r>
              <a:rPr lang="en-IN"/>
              <a:t>11-04-2025</a:t>
            </a:r>
          </a:p>
        </p:txBody>
      </p:sp>
      <p:sp>
        <p:nvSpPr>
          <p:cNvPr id="3" name="Footer Placeholder 2"/>
          <p:cNvSpPr>
            <a:spLocks noGrp="1"/>
          </p:cNvSpPr>
          <p:nvPr>
            <p:ph type="ftr" sz="quarter" idx="11"/>
          </p:nvPr>
        </p:nvSpPr>
        <p:spPr/>
        <p:txBody>
          <a:bodyPr/>
          <a:lstStyle/>
          <a:p>
            <a:r>
              <a:rPr lang="en-US" dirty="0"/>
              <a:t>Department of CSE,BVCITS(H4),Amalapuram</a:t>
            </a:r>
            <a:endParaRPr lang="en-IN" dirty="0"/>
          </a:p>
        </p:txBody>
      </p:sp>
      <p:sp>
        <p:nvSpPr>
          <p:cNvPr id="4" name="Slide Number Placeholder 3"/>
          <p:cNvSpPr>
            <a:spLocks noGrp="1"/>
          </p:cNvSpPr>
          <p:nvPr>
            <p:ph type="sldNum" sz="quarter" idx="12"/>
          </p:nvPr>
        </p:nvSpPr>
        <p:spPr/>
        <p:txBody>
          <a:bodyPr/>
          <a:lstStyle/>
          <a:p>
            <a:fld id="{D11D1588-8316-42EA-B695-F2D8B3238057}" type="slidenum">
              <a:rPr lang="en-IN" smtClean="0"/>
              <a:t>‹#›</a:t>
            </a:fld>
            <a:endParaRPr lang="en-IN"/>
          </a:p>
        </p:txBody>
      </p:sp>
    </p:spTree>
    <p:extLst>
      <p:ext uri="{BB962C8B-B14F-4D97-AF65-F5344CB8AC3E}">
        <p14:creationId xmlns:p14="http://schemas.microsoft.com/office/powerpoint/2010/main" val="3415348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IN"/>
              <a:t>11-04-2025</a:t>
            </a:r>
          </a:p>
        </p:txBody>
      </p:sp>
      <p:sp>
        <p:nvSpPr>
          <p:cNvPr id="6" name="Footer Placeholder 5"/>
          <p:cNvSpPr>
            <a:spLocks noGrp="1"/>
          </p:cNvSpPr>
          <p:nvPr>
            <p:ph type="ftr" sz="quarter" idx="11"/>
          </p:nvPr>
        </p:nvSpPr>
        <p:spPr/>
        <p:txBody>
          <a:bodyPr/>
          <a:lstStyle/>
          <a:p>
            <a:r>
              <a:rPr lang="en-US" dirty="0"/>
              <a:t>Department of CSE,BVCITS(H4),Amalapuram</a:t>
            </a:r>
            <a:endParaRPr lang="en-IN" dirty="0"/>
          </a:p>
        </p:txBody>
      </p:sp>
      <p:sp>
        <p:nvSpPr>
          <p:cNvPr id="7" name="Slide Number Placeholder 6"/>
          <p:cNvSpPr>
            <a:spLocks noGrp="1"/>
          </p:cNvSpPr>
          <p:nvPr>
            <p:ph type="sldNum" sz="quarter" idx="12"/>
          </p:nvPr>
        </p:nvSpPr>
        <p:spPr/>
        <p:txBody>
          <a:bodyPr/>
          <a:lstStyle/>
          <a:p>
            <a:fld id="{D11D1588-8316-42EA-B695-F2D8B3238057}" type="slidenum">
              <a:rPr lang="en-IN" smtClean="0"/>
              <a:t>‹#›</a:t>
            </a:fld>
            <a:endParaRPr lang="en-IN"/>
          </a:p>
        </p:txBody>
      </p:sp>
    </p:spTree>
    <p:extLst>
      <p:ext uri="{BB962C8B-B14F-4D97-AF65-F5344CB8AC3E}">
        <p14:creationId xmlns:p14="http://schemas.microsoft.com/office/powerpoint/2010/main" val="690580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IN"/>
              <a:t>11-04-2025</a:t>
            </a:r>
          </a:p>
        </p:txBody>
      </p:sp>
      <p:sp>
        <p:nvSpPr>
          <p:cNvPr id="6" name="Footer Placeholder 5"/>
          <p:cNvSpPr>
            <a:spLocks noGrp="1"/>
          </p:cNvSpPr>
          <p:nvPr>
            <p:ph type="ftr" sz="quarter" idx="11"/>
          </p:nvPr>
        </p:nvSpPr>
        <p:spPr/>
        <p:txBody>
          <a:bodyPr/>
          <a:lstStyle/>
          <a:p>
            <a:r>
              <a:rPr lang="en-US" dirty="0"/>
              <a:t>Department of CSE,BVCITS(H4),Amalapuram</a:t>
            </a:r>
          </a:p>
        </p:txBody>
      </p:sp>
      <p:sp>
        <p:nvSpPr>
          <p:cNvPr id="7" name="Slide Number Placeholder 6"/>
          <p:cNvSpPr>
            <a:spLocks noGrp="1"/>
          </p:cNvSpPr>
          <p:nvPr>
            <p:ph type="sldNum" sz="quarter" idx="12"/>
          </p:nvPr>
        </p:nvSpPr>
        <p:spPr/>
        <p:txBody>
          <a:bodyPr/>
          <a:lstStyle/>
          <a:p>
            <a:fld id="{D11D1588-8316-42EA-B695-F2D8B3238057}" type="slidenum">
              <a:rPr lang="en-IN" smtClean="0"/>
              <a:t>‹#›</a:t>
            </a:fld>
            <a:endParaRPr lang="en-IN"/>
          </a:p>
        </p:txBody>
      </p:sp>
    </p:spTree>
    <p:extLst>
      <p:ext uri="{BB962C8B-B14F-4D97-AF65-F5344CB8AC3E}">
        <p14:creationId xmlns:p14="http://schemas.microsoft.com/office/powerpoint/2010/main" val="1937716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IN"/>
              <a:t>11-04-2025</a:t>
            </a:r>
          </a:p>
        </p:txBody>
      </p:sp>
      <p:sp>
        <p:nvSpPr>
          <p:cNvPr id="6" name="Footer Placeholder 5"/>
          <p:cNvSpPr>
            <a:spLocks noGrp="1"/>
          </p:cNvSpPr>
          <p:nvPr>
            <p:ph type="ftr" sz="quarter" idx="11"/>
          </p:nvPr>
        </p:nvSpPr>
        <p:spPr/>
        <p:txBody>
          <a:bodyPr/>
          <a:lstStyle/>
          <a:p>
            <a:r>
              <a:rPr lang="en-US" dirty="0"/>
              <a:t>Department of CSE,BVCITS(H4),Amalapuram</a:t>
            </a:r>
            <a:endParaRPr lang="en-IN" dirty="0"/>
          </a:p>
        </p:txBody>
      </p:sp>
      <p:sp>
        <p:nvSpPr>
          <p:cNvPr id="7" name="Slide Number Placeholder 6"/>
          <p:cNvSpPr>
            <a:spLocks noGrp="1"/>
          </p:cNvSpPr>
          <p:nvPr>
            <p:ph type="sldNum" sz="quarter" idx="12"/>
          </p:nvPr>
        </p:nvSpPr>
        <p:spPr/>
        <p:txBody>
          <a:bodyPr/>
          <a:lstStyle/>
          <a:p>
            <a:fld id="{D11D1588-8316-42EA-B695-F2D8B3238057}" type="slidenum">
              <a:rPr lang="en-IN" smtClean="0"/>
              <a:t>‹#›</a:t>
            </a:fld>
            <a:endParaRPr lang="en-IN"/>
          </a:p>
        </p:txBody>
      </p:sp>
    </p:spTree>
    <p:extLst>
      <p:ext uri="{BB962C8B-B14F-4D97-AF65-F5344CB8AC3E}">
        <p14:creationId xmlns:p14="http://schemas.microsoft.com/office/powerpoint/2010/main" val="3905010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IN"/>
              <a:t>11-04-2025</a:t>
            </a:r>
          </a:p>
        </p:txBody>
      </p:sp>
      <p:sp>
        <p:nvSpPr>
          <p:cNvPr id="6" name="Footer Placeholder 5"/>
          <p:cNvSpPr>
            <a:spLocks noGrp="1"/>
          </p:cNvSpPr>
          <p:nvPr>
            <p:ph type="ftr" sz="quarter" idx="11"/>
          </p:nvPr>
        </p:nvSpPr>
        <p:spPr/>
        <p:txBody>
          <a:bodyPr/>
          <a:lstStyle/>
          <a:p>
            <a:r>
              <a:rPr lang="en-US" dirty="0"/>
              <a:t>Department of CSE,BVCITS(H4),Amalapuram</a:t>
            </a:r>
            <a:endParaRPr lang="en-IN" dirty="0"/>
          </a:p>
        </p:txBody>
      </p:sp>
      <p:sp>
        <p:nvSpPr>
          <p:cNvPr id="7" name="Slide Number Placeholder 6"/>
          <p:cNvSpPr>
            <a:spLocks noGrp="1"/>
          </p:cNvSpPr>
          <p:nvPr>
            <p:ph type="sldNum" sz="quarter" idx="12"/>
          </p:nvPr>
        </p:nvSpPr>
        <p:spPr/>
        <p:txBody>
          <a:bodyPr/>
          <a:lstStyle/>
          <a:p>
            <a:fld id="{D11D1588-8316-42EA-B695-F2D8B3238057}" type="slidenum">
              <a:rPr lang="en-IN" smtClean="0"/>
              <a:t>‹#›</a:t>
            </a:fld>
            <a:endParaRPr lang="en-IN"/>
          </a:p>
        </p:txBody>
      </p:sp>
    </p:spTree>
    <p:extLst>
      <p:ext uri="{BB962C8B-B14F-4D97-AF65-F5344CB8AC3E}">
        <p14:creationId xmlns:p14="http://schemas.microsoft.com/office/powerpoint/2010/main" val="6133944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IN"/>
              <a:t>11-04-2025</a:t>
            </a:r>
          </a:p>
        </p:txBody>
      </p:sp>
      <p:sp>
        <p:nvSpPr>
          <p:cNvPr id="6" name="Footer Placeholder 5"/>
          <p:cNvSpPr>
            <a:spLocks noGrp="1"/>
          </p:cNvSpPr>
          <p:nvPr>
            <p:ph type="ftr" sz="quarter" idx="11"/>
          </p:nvPr>
        </p:nvSpPr>
        <p:spPr/>
        <p:txBody>
          <a:bodyPr/>
          <a:lstStyle/>
          <a:p>
            <a:r>
              <a:rPr lang="en-US" dirty="0"/>
              <a:t>Department of CSE,BVCITS(H4),Amalapuram</a:t>
            </a:r>
            <a:endParaRPr lang="en-IN" dirty="0"/>
          </a:p>
        </p:txBody>
      </p:sp>
      <p:sp>
        <p:nvSpPr>
          <p:cNvPr id="7" name="Slide Number Placeholder 6"/>
          <p:cNvSpPr>
            <a:spLocks noGrp="1"/>
          </p:cNvSpPr>
          <p:nvPr>
            <p:ph type="sldNum" sz="quarter" idx="12"/>
          </p:nvPr>
        </p:nvSpPr>
        <p:spPr/>
        <p:txBody>
          <a:bodyPr/>
          <a:lstStyle/>
          <a:p>
            <a:fld id="{D11D1588-8316-42EA-B695-F2D8B3238057}"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014506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IN"/>
              <a:t>11-04-2025</a:t>
            </a:r>
          </a:p>
        </p:txBody>
      </p:sp>
      <p:sp>
        <p:nvSpPr>
          <p:cNvPr id="6" name="Footer Placeholder 5"/>
          <p:cNvSpPr>
            <a:spLocks noGrp="1"/>
          </p:cNvSpPr>
          <p:nvPr>
            <p:ph type="ftr" sz="quarter" idx="11"/>
          </p:nvPr>
        </p:nvSpPr>
        <p:spPr/>
        <p:txBody>
          <a:bodyPr/>
          <a:lstStyle/>
          <a:p>
            <a:r>
              <a:rPr lang="en-US" dirty="0"/>
              <a:t>Department of CSE,BVCITS(H4),Amalapuram</a:t>
            </a:r>
            <a:endParaRPr lang="en-IN" dirty="0"/>
          </a:p>
        </p:txBody>
      </p:sp>
      <p:sp>
        <p:nvSpPr>
          <p:cNvPr id="7" name="Slide Number Placeholder 6"/>
          <p:cNvSpPr>
            <a:spLocks noGrp="1"/>
          </p:cNvSpPr>
          <p:nvPr>
            <p:ph type="sldNum" sz="quarter" idx="12"/>
          </p:nvPr>
        </p:nvSpPr>
        <p:spPr/>
        <p:txBody>
          <a:bodyPr/>
          <a:lstStyle/>
          <a:p>
            <a:fld id="{D11D1588-8316-42EA-B695-F2D8B3238057}" type="slidenum">
              <a:rPr lang="en-IN" smtClean="0"/>
              <a:t>‹#›</a:t>
            </a:fld>
            <a:endParaRPr lang="en-IN"/>
          </a:p>
        </p:txBody>
      </p:sp>
    </p:spTree>
    <p:extLst>
      <p:ext uri="{BB962C8B-B14F-4D97-AF65-F5344CB8AC3E}">
        <p14:creationId xmlns:p14="http://schemas.microsoft.com/office/powerpoint/2010/main" val="15234134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r>
              <a:rPr lang="en-IN"/>
              <a:t>11-04-2025</a:t>
            </a:r>
          </a:p>
        </p:txBody>
      </p:sp>
      <p:sp>
        <p:nvSpPr>
          <p:cNvPr id="4" name="Footer Placeholder 3"/>
          <p:cNvSpPr>
            <a:spLocks noGrp="1"/>
          </p:cNvSpPr>
          <p:nvPr>
            <p:ph type="ftr" sz="quarter" idx="11"/>
          </p:nvPr>
        </p:nvSpPr>
        <p:spPr/>
        <p:txBody>
          <a:bodyPr/>
          <a:lstStyle/>
          <a:p>
            <a:r>
              <a:rPr lang="en-US" dirty="0"/>
              <a:t>Department of CSE,BVCITS(H4),Amalapuram</a:t>
            </a:r>
            <a:endParaRPr lang="en-IN" dirty="0"/>
          </a:p>
        </p:txBody>
      </p:sp>
      <p:sp>
        <p:nvSpPr>
          <p:cNvPr id="5" name="Slide Number Placeholder 4"/>
          <p:cNvSpPr>
            <a:spLocks noGrp="1"/>
          </p:cNvSpPr>
          <p:nvPr>
            <p:ph type="sldNum" sz="quarter" idx="12"/>
          </p:nvPr>
        </p:nvSpPr>
        <p:spPr/>
        <p:txBody>
          <a:bodyPr/>
          <a:lstStyle/>
          <a:p>
            <a:fld id="{D11D1588-8316-42EA-B695-F2D8B3238057}" type="slidenum">
              <a:rPr lang="en-IN" smtClean="0"/>
              <a:t>‹#›</a:t>
            </a:fld>
            <a:endParaRPr lang="en-IN"/>
          </a:p>
        </p:txBody>
      </p:sp>
    </p:spTree>
    <p:extLst>
      <p:ext uri="{BB962C8B-B14F-4D97-AF65-F5344CB8AC3E}">
        <p14:creationId xmlns:p14="http://schemas.microsoft.com/office/powerpoint/2010/main" val="359768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r>
              <a:rPr lang="en-IN"/>
              <a:t>11-04-2025</a:t>
            </a:r>
          </a:p>
        </p:txBody>
      </p:sp>
      <p:sp>
        <p:nvSpPr>
          <p:cNvPr id="4" name="Footer Placeholder 3"/>
          <p:cNvSpPr>
            <a:spLocks noGrp="1"/>
          </p:cNvSpPr>
          <p:nvPr>
            <p:ph type="ftr" sz="quarter" idx="11"/>
          </p:nvPr>
        </p:nvSpPr>
        <p:spPr/>
        <p:txBody>
          <a:bodyPr/>
          <a:lstStyle/>
          <a:p>
            <a:r>
              <a:rPr lang="en-US" dirty="0"/>
              <a:t>Department of CSE,BVCITS(H4),Amalapuram</a:t>
            </a:r>
            <a:endParaRPr lang="en-IN" dirty="0"/>
          </a:p>
        </p:txBody>
      </p:sp>
      <p:sp>
        <p:nvSpPr>
          <p:cNvPr id="5" name="Slide Number Placeholder 4"/>
          <p:cNvSpPr>
            <a:spLocks noGrp="1"/>
          </p:cNvSpPr>
          <p:nvPr>
            <p:ph type="sldNum" sz="quarter" idx="12"/>
          </p:nvPr>
        </p:nvSpPr>
        <p:spPr/>
        <p:txBody>
          <a:bodyPr/>
          <a:lstStyle/>
          <a:p>
            <a:fld id="{D11D1588-8316-42EA-B695-F2D8B3238057}" type="slidenum">
              <a:rPr lang="en-IN" smtClean="0"/>
              <a:t>‹#›</a:t>
            </a:fld>
            <a:endParaRPr lang="en-IN"/>
          </a:p>
        </p:txBody>
      </p:sp>
    </p:spTree>
    <p:extLst>
      <p:ext uri="{BB962C8B-B14F-4D97-AF65-F5344CB8AC3E}">
        <p14:creationId xmlns:p14="http://schemas.microsoft.com/office/powerpoint/2010/main" val="12636296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IN"/>
              <a:t>11-04-2025</a:t>
            </a:r>
          </a:p>
        </p:txBody>
      </p:sp>
      <p:sp>
        <p:nvSpPr>
          <p:cNvPr id="5" name="Footer Placeholder 4"/>
          <p:cNvSpPr>
            <a:spLocks noGrp="1"/>
          </p:cNvSpPr>
          <p:nvPr>
            <p:ph type="ftr" sz="quarter" idx="11"/>
          </p:nvPr>
        </p:nvSpPr>
        <p:spPr/>
        <p:txBody>
          <a:bodyPr/>
          <a:lstStyle/>
          <a:p>
            <a:r>
              <a:rPr lang="en-US" dirty="0"/>
              <a:t>Department of CSE,BVCITS(H4),Amalapuram</a:t>
            </a:r>
            <a:endParaRPr lang="en-IN" dirty="0"/>
          </a:p>
        </p:txBody>
      </p:sp>
      <p:sp>
        <p:nvSpPr>
          <p:cNvPr id="6" name="Slide Number Placeholder 5"/>
          <p:cNvSpPr>
            <a:spLocks noGrp="1"/>
          </p:cNvSpPr>
          <p:nvPr>
            <p:ph type="sldNum" sz="quarter" idx="12"/>
          </p:nvPr>
        </p:nvSpPr>
        <p:spPr/>
        <p:txBody>
          <a:bodyPr/>
          <a:lstStyle/>
          <a:p>
            <a:fld id="{D11D1588-8316-42EA-B695-F2D8B3238057}" type="slidenum">
              <a:rPr lang="en-IN" smtClean="0"/>
              <a:t>‹#›</a:t>
            </a:fld>
            <a:endParaRPr lang="en-IN"/>
          </a:p>
        </p:txBody>
      </p:sp>
    </p:spTree>
    <p:extLst>
      <p:ext uri="{BB962C8B-B14F-4D97-AF65-F5344CB8AC3E}">
        <p14:creationId xmlns:p14="http://schemas.microsoft.com/office/powerpoint/2010/main" val="14283497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IN"/>
              <a:t>11-04-2025</a:t>
            </a:r>
          </a:p>
        </p:txBody>
      </p:sp>
      <p:sp>
        <p:nvSpPr>
          <p:cNvPr id="5" name="Footer Placeholder 4"/>
          <p:cNvSpPr>
            <a:spLocks noGrp="1"/>
          </p:cNvSpPr>
          <p:nvPr>
            <p:ph type="ftr" sz="quarter" idx="11"/>
          </p:nvPr>
        </p:nvSpPr>
        <p:spPr/>
        <p:txBody>
          <a:bodyPr/>
          <a:lstStyle/>
          <a:p>
            <a:r>
              <a:rPr lang="en-US" dirty="0"/>
              <a:t>Department of CSE,BVCITS(H4),Amalapuram</a:t>
            </a:r>
            <a:endParaRPr lang="en-IN" dirty="0"/>
          </a:p>
        </p:txBody>
      </p:sp>
      <p:sp>
        <p:nvSpPr>
          <p:cNvPr id="6" name="Slide Number Placeholder 5"/>
          <p:cNvSpPr>
            <a:spLocks noGrp="1"/>
          </p:cNvSpPr>
          <p:nvPr>
            <p:ph type="sldNum" sz="quarter" idx="12"/>
          </p:nvPr>
        </p:nvSpPr>
        <p:spPr/>
        <p:txBody>
          <a:bodyPr/>
          <a:lstStyle/>
          <a:p>
            <a:fld id="{D11D1588-8316-42EA-B695-F2D8B3238057}" type="slidenum">
              <a:rPr lang="en-IN" smtClean="0"/>
              <a:t>‹#›</a:t>
            </a:fld>
            <a:endParaRPr lang="en-IN"/>
          </a:p>
        </p:txBody>
      </p:sp>
    </p:spTree>
    <p:extLst>
      <p:ext uri="{BB962C8B-B14F-4D97-AF65-F5344CB8AC3E}">
        <p14:creationId xmlns:p14="http://schemas.microsoft.com/office/powerpoint/2010/main" val="3006199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r>
              <a:rPr lang="en-IN"/>
              <a:t>11-04-2025</a:t>
            </a:r>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r>
              <a:rPr lang="en-US" dirty="0"/>
              <a:t>Department of CSE,BVCITS(H4),Amalapuram</a:t>
            </a:r>
            <a:endParaRPr lang="en-IN"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D11D1588-8316-42EA-B695-F2D8B3238057}" type="slidenum">
              <a:rPr lang="en-IN" smtClean="0"/>
              <a:t>‹#›</a:t>
            </a:fld>
            <a:endParaRPr lang="en-IN"/>
          </a:p>
        </p:txBody>
      </p:sp>
    </p:spTree>
    <p:extLst>
      <p:ext uri="{BB962C8B-B14F-4D97-AF65-F5344CB8AC3E}">
        <p14:creationId xmlns:p14="http://schemas.microsoft.com/office/powerpoint/2010/main" val="4192124546"/>
      </p:ext>
    </p:extLst>
  </p:cSld>
  <p:clrMap bg1="lt1" tx1="dk1" bg2="lt2" tx2="dk2" accent1="accent1" accent2="accent2" accent3="accent3" accent4="accent4" accent5="accent5" accent6="accent6" hlink="hlink" folHlink="folHlink"/>
  <p:sldLayoutIdLst>
    <p:sldLayoutId id="2147483984" r:id="rId1"/>
    <p:sldLayoutId id="2147483985" r:id="rId2"/>
    <p:sldLayoutId id="2147483986" r:id="rId3"/>
    <p:sldLayoutId id="2147483987" r:id="rId4"/>
    <p:sldLayoutId id="2147483988" r:id="rId5"/>
    <p:sldLayoutId id="2147483989" r:id="rId6"/>
    <p:sldLayoutId id="2147483990" r:id="rId7"/>
    <p:sldLayoutId id="2147483991" r:id="rId8"/>
    <p:sldLayoutId id="2147483992" r:id="rId9"/>
    <p:sldLayoutId id="2147483993" r:id="rId10"/>
    <p:sldLayoutId id="2147483994" r:id="rId11"/>
    <p:sldLayoutId id="2147483995" r:id="rId12"/>
    <p:sldLayoutId id="2147483996" r:id="rId13"/>
    <p:sldLayoutId id="2147483997" r:id="rId14"/>
    <p:sldLayoutId id="2147483998" r:id="rId15"/>
    <p:sldLayoutId id="2147483999" r:id="rId16"/>
    <p:sldLayoutId id="2147484000" r:id="rId17"/>
  </p:sldLayoutIdLst>
  <p:hf hdr="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nature.com/articles/eye2008221?utm_source=chatgpt.com#auth-H-Houlden-Aff1"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nature.com/articles/eye2008221?utm_source=chatgpt.com#auth-S-Smith-Aff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hyperlink" Target="https://en.wikipedia.org/wiki/Pupillometry?utm_source=chatgpt.com" TargetMode="External"/><Relationship Id="rId2" Type="http://schemas.openxmlformats.org/officeDocument/2006/relationships/hyperlink" Target="https://ieeexplore.ieee.org/document/8998205" TargetMode="External"/><Relationship Id="rId1" Type="http://schemas.openxmlformats.org/officeDocument/2006/relationships/slideLayout" Target="../slideLayouts/slideLayout3.xml"/><Relationship Id="rId4" Type="http://schemas.openxmlformats.org/officeDocument/2006/relationships/hyperlink" Target="https://www.geeksforgeeks.org/machine-learning-with-python/"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B99E3-EF5B-D6DE-8645-33ECFF15ED89}"/>
              </a:ext>
            </a:extLst>
          </p:cNvPr>
          <p:cNvSpPr>
            <a:spLocks noGrp="1"/>
          </p:cNvSpPr>
          <p:nvPr>
            <p:ph type="ctrTitle"/>
          </p:nvPr>
        </p:nvSpPr>
        <p:spPr>
          <a:xfrm rot="10800000" flipH="1" flipV="1">
            <a:off x="0" y="1"/>
            <a:ext cx="12192000" cy="6858000"/>
          </a:xfrm>
        </p:spPr>
        <p:txBody>
          <a:bodyPr>
            <a:normAutofit/>
          </a:bodyPr>
          <a:lstStyle/>
          <a:p>
            <a:pPr algn="just">
              <a:lnSpc>
                <a:spcPct val="150000"/>
              </a:lnSpc>
            </a:pPr>
            <a:r>
              <a:rPr lang="pt-BR" sz="2000" dirty="0">
                <a:latin typeface="Times New Roman" panose="02020603050405020304" pitchFamily="18" charset="0"/>
                <a:cs typeface="Times New Roman" panose="02020603050405020304" pitchFamily="18" charset="0"/>
              </a:rPr>
              <a:t>                      </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910D87E-202E-1481-E4EA-8F70E1849681}"/>
              </a:ext>
            </a:extLst>
          </p:cNvPr>
          <p:cNvSpPr>
            <a:spLocks noGrp="1"/>
          </p:cNvSpPr>
          <p:nvPr>
            <p:ph type="subTitle" idx="1"/>
          </p:nvPr>
        </p:nvSpPr>
        <p:spPr>
          <a:xfrm flipH="1">
            <a:off x="0" y="0"/>
            <a:ext cx="12192000" cy="6858000"/>
          </a:xfrm>
        </p:spPr>
        <p:txBody>
          <a:bodyPr>
            <a:normAutofit/>
          </a:bodyPr>
          <a:lstStyle/>
          <a:p>
            <a:pPr marL="44450" marR="95250" algn="ctr"/>
            <a:endParaRPr lang="en-US" sz="1800" b="1" spc="-20" dirty="0">
              <a:solidFill>
                <a:srgbClr val="17365D"/>
              </a:solidFill>
              <a:effectLst/>
              <a:latin typeface="Times New Roman" panose="02020603050405020304" pitchFamily="18" charset="0"/>
              <a:ea typeface="Times New Roman" panose="02020603050405020304" pitchFamily="18" charset="0"/>
            </a:endParaRPr>
          </a:p>
          <a:p>
            <a:pPr marL="44450" marR="95250" algn="ctr">
              <a:lnSpc>
                <a:spcPct val="100000"/>
              </a:lnSpc>
            </a:pPr>
            <a:r>
              <a:rPr lang="en-US" sz="2800" b="1" spc="-20" dirty="0">
                <a:solidFill>
                  <a:srgbClr val="17365D"/>
                </a:solidFill>
                <a:effectLst/>
                <a:latin typeface="Times New Roman" panose="02020603050405020304" pitchFamily="18" charset="0"/>
                <a:ea typeface="Times New Roman" panose="02020603050405020304" pitchFamily="18" charset="0"/>
              </a:rPr>
              <a:t>               </a:t>
            </a:r>
            <a:r>
              <a:rPr lang="en-US" sz="2000" b="1" spc="-20" dirty="0">
                <a:solidFill>
                  <a:srgbClr val="17365D"/>
                </a:solidFill>
                <a:effectLst/>
                <a:latin typeface="Times New Roman" panose="02020603050405020304" pitchFamily="18" charset="0"/>
                <a:ea typeface="Times New Roman" panose="02020603050405020304" pitchFamily="18" charset="0"/>
              </a:rPr>
              <a:t>BONAM</a:t>
            </a:r>
            <a:r>
              <a:rPr lang="en-US" sz="2000" b="1" spc="-85" dirty="0">
                <a:solidFill>
                  <a:srgbClr val="17365D"/>
                </a:solidFill>
                <a:effectLst/>
                <a:latin typeface="Times New Roman" panose="02020603050405020304" pitchFamily="18" charset="0"/>
                <a:ea typeface="Times New Roman" panose="02020603050405020304" pitchFamily="18" charset="0"/>
              </a:rPr>
              <a:t> </a:t>
            </a:r>
            <a:r>
              <a:rPr lang="en-US" sz="2000" b="1" spc="-20" dirty="0">
                <a:solidFill>
                  <a:srgbClr val="17365D"/>
                </a:solidFill>
                <a:effectLst/>
                <a:latin typeface="Times New Roman" panose="02020603050405020304" pitchFamily="18" charset="0"/>
                <a:ea typeface="Times New Roman" panose="02020603050405020304" pitchFamily="18" charset="0"/>
              </a:rPr>
              <a:t>VENKATA</a:t>
            </a:r>
            <a:r>
              <a:rPr lang="en-US" sz="2000" b="1" spc="-90" dirty="0">
                <a:solidFill>
                  <a:srgbClr val="17365D"/>
                </a:solidFill>
                <a:effectLst/>
                <a:latin typeface="Times New Roman" panose="02020603050405020304" pitchFamily="18" charset="0"/>
                <a:ea typeface="Times New Roman" panose="02020603050405020304" pitchFamily="18" charset="0"/>
              </a:rPr>
              <a:t> </a:t>
            </a:r>
            <a:r>
              <a:rPr lang="en-US" sz="2000" b="1" spc="-20" dirty="0">
                <a:solidFill>
                  <a:srgbClr val="17365D"/>
                </a:solidFill>
                <a:effectLst/>
                <a:latin typeface="Times New Roman" panose="02020603050405020304" pitchFamily="18" charset="0"/>
                <a:ea typeface="Times New Roman" panose="02020603050405020304" pitchFamily="18" charset="0"/>
              </a:rPr>
              <a:t>CHALAMAYYA</a:t>
            </a:r>
            <a:endParaRPr lang="en-IN" sz="2000" dirty="0">
              <a:effectLst/>
              <a:latin typeface="Times New Roman" panose="02020603050405020304" pitchFamily="18" charset="0"/>
              <a:ea typeface="Times New Roman" panose="02020603050405020304" pitchFamily="18" charset="0"/>
            </a:endParaRPr>
          </a:p>
          <a:p>
            <a:pPr marL="313055" marR="57150" algn="ctr">
              <a:lnSpc>
                <a:spcPct val="100000"/>
              </a:lnSpc>
              <a:spcBef>
                <a:spcPts val="975"/>
              </a:spcBef>
            </a:pPr>
            <a:r>
              <a:rPr lang="en-US" sz="2000" b="1" dirty="0">
                <a:solidFill>
                  <a:srgbClr val="17365D"/>
                </a:solidFill>
                <a:effectLst/>
                <a:latin typeface="Times New Roman" panose="02020603050405020304" pitchFamily="18" charset="0"/>
                <a:ea typeface="Times New Roman" panose="02020603050405020304" pitchFamily="18" charset="0"/>
              </a:rPr>
              <a:t>             INSTITUTE</a:t>
            </a:r>
            <a:r>
              <a:rPr lang="en-US" sz="2000" b="1" spc="-55" dirty="0">
                <a:solidFill>
                  <a:srgbClr val="17365D"/>
                </a:solidFill>
                <a:effectLst/>
                <a:latin typeface="Times New Roman" panose="02020603050405020304" pitchFamily="18" charset="0"/>
                <a:ea typeface="Times New Roman" panose="02020603050405020304" pitchFamily="18" charset="0"/>
              </a:rPr>
              <a:t> </a:t>
            </a:r>
            <a:r>
              <a:rPr lang="en-US" sz="2000" b="1" dirty="0">
                <a:solidFill>
                  <a:srgbClr val="17365D"/>
                </a:solidFill>
                <a:effectLst/>
                <a:latin typeface="Times New Roman" panose="02020603050405020304" pitchFamily="18" charset="0"/>
                <a:ea typeface="Times New Roman" panose="02020603050405020304" pitchFamily="18" charset="0"/>
              </a:rPr>
              <a:t>OF</a:t>
            </a:r>
            <a:r>
              <a:rPr lang="en-US" sz="2000" b="1" spc="-110" dirty="0">
                <a:solidFill>
                  <a:srgbClr val="17365D"/>
                </a:solidFill>
                <a:effectLst/>
                <a:latin typeface="Times New Roman" panose="02020603050405020304" pitchFamily="18" charset="0"/>
                <a:ea typeface="Times New Roman" panose="02020603050405020304" pitchFamily="18" charset="0"/>
              </a:rPr>
              <a:t> </a:t>
            </a:r>
            <a:r>
              <a:rPr lang="en-US" sz="2000" b="1" dirty="0">
                <a:solidFill>
                  <a:srgbClr val="17365D"/>
                </a:solidFill>
                <a:effectLst/>
                <a:latin typeface="Times New Roman" panose="02020603050405020304" pitchFamily="18" charset="0"/>
                <a:ea typeface="Times New Roman" panose="02020603050405020304" pitchFamily="18" charset="0"/>
              </a:rPr>
              <a:t>TECHNOLOGY</a:t>
            </a:r>
            <a:r>
              <a:rPr lang="en-US" sz="2000" b="1" spc="-170" dirty="0">
                <a:solidFill>
                  <a:srgbClr val="17365D"/>
                </a:solidFill>
                <a:effectLst/>
                <a:latin typeface="Times New Roman" panose="02020603050405020304" pitchFamily="18" charset="0"/>
                <a:ea typeface="Times New Roman" panose="02020603050405020304" pitchFamily="18" charset="0"/>
              </a:rPr>
              <a:t> </a:t>
            </a:r>
            <a:r>
              <a:rPr lang="en-US" sz="2000" b="1" dirty="0">
                <a:solidFill>
                  <a:srgbClr val="17365D"/>
                </a:solidFill>
                <a:effectLst/>
                <a:latin typeface="Times New Roman" panose="02020603050405020304" pitchFamily="18" charset="0"/>
                <a:ea typeface="Times New Roman" panose="02020603050405020304" pitchFamily="18" charset="0"/>
              </a:rPr>
              <a:t>AND</a:t>
            </a:r>
            <a:r>
              <a:rPr lang="en-US" sz="2000" b="1" spc="-30" dirty="0">
                <a:solidFill>
                  <a:srgbClr val="17365D"/>
                </a:solidFill>
                <a:effectLst/>
                <a:latin typeface="Times New Roman" panose="02020603050405020304" pitchFamily="18" charset="0"/>
                <a:ea typeface="Times New Roman" panose="02020603050405020304" pitchFamily="18" charset="0"/>
              </a:rPr>
              <a:t> </a:t>
            </a:r>
            <a:r>
              <a:rPr lang="en-US" sz="2000" b="1" spc="-10" dirty="0">
                <a:solidFill>
                  <a:srgbClr val="17365D"/>
                </a:solidFill>
                <a:effectLst/>
                <a:latin typeface="Times New Roman" panose="02020603050405020304" pitchFamily="18" charset="0"/>
                <a:ea typeface="Times New Roman" panose="02020603050405020304" pitchFamily="18" charset="0"/>
              </a:rPr>
              <a:t>SCIENCE</a:t>
            </a:r>
            <a:r>
              <a:rPr lang="en-US" sz="2000" b="1" spc="-10" dirty="0">
                <a:solidFill>
                  <a:srgbClr val="17365D"/>
                </a:solidFill>
                <a:latin typeface="Times New Roman" panose="02020603050405020304" pitchFamily="18" charset="0"/>
                <a:ea typeface="Times New Roman" panose="02020603050405020304" pitchFamily="18" charset="0"/>
              </a:rPr>
              <a:t>  </a:t>
            </a:r>
            <a:endParaRPr lang="en-US" sz="2000" b="1" spc="-10" dirty="0">
              <a:solidFill>
                <a:srgbClr val="17365D"/>
              </a:solidFill>
              <a:effectLst/>
              <a:latin typeface="Times New Roman" panose="02020603050405020304" pitchFamily="18" charset="0"/>
              <a:ea typeface="Times New Roman" panose="02020603050405020304" pitchFamily="18" charset="0"/>
            </a:endParaRPr>
          </a:p>
          <a:p>
            <a:pPr marL="313055" marR="57150" algn="ctr">
              <a:lnSpc>
                <a:spcPct val="100000"/>
              </a:lnSpc>
              <a:spcBef>
                <a:spcPts val="975"/>
              </a:spcBef>
            </a:pPr>
            <a:r>
              <a:rPr lang="en-US" sz="2000" b="1" spc="-10" dirty="0">
                <a:solidFill>
                  <a:schemeClr val="accent1">
                    <a:lumMod val="60000"/>
                    <a:lumOff val="40000"/>
                  </a:schemeClr>
                </a:solidFill>
                <a:effectLst/>
                <a:latin typeface="Times New Roman" panose="02020603050405020304" pitchFamily="18" charset="0"/>
                <a:ea typeface="Times New Roman" panose="02020603050405020304" pitchFamily="18" charset="0"/>
              </a:rPr>
              <a:t>           </a:t>
            </a:r>
            <a:r>
              <a:rPr lang="en-US" sz="2000" b="1" spc="-10" dirty="0">
                <a:solidFill>
                  <a:srgbClr val="0070C0"/>
                </a:solidFill>
                <a:effectLst/>
                <a:latin typeface="Times New Roman" panose="02020603050405020304" pitchFamily="18" charset="0"/>
                <a:ea typeface="Times New Roman" panose="02020603050405020304" pitchFamily="18" charset="0"/>
              </a:rPr>
              <a:t>(AUTONOMOUS)</a:t>
            </a:r>
          </a:p>
          <a:p>
            <a:pPr marL="313055" marR="57150" algn="ctr">
              <a:lnSpc>
                <a:spcPct val="100000"/>
              </a:lnSpc>
              <a:spcBef>
                <a:spcPts val="975"/>
              </a:spcBef>
            </a:pPr>
            <a:r>
              <a:rPr lang="en-US" sz="2000" b="1" spc="-10" dirty="0">
                <a:solidFill>
                  <a:schemeClr val="accent1">
                    <a:lumMod val="60000"/>
                    <a:lumOff val="40000"/>
                  </a:schemeClr>
                </a:solidFill>
                <a:latin typeface="Times New Roman" panose="02020603050405020304" pitchFamily="18" charset="0"/>
                <a:ea typeface="Times New Roman" panose="02020603050405020304" pitchFamily="18" charset="0"/>
              </a:rPr>
              <a:t>   </a:t>
            </a:r>
            <a:endParaRPr lang="en-US" sz="2000" b="1" spc="-10" dirty="0">
              <a:solidFill>
                <a:schemeClr val="accent1">
                  <a:lumMod val="60000"/>
                  <a:lumOff val="40000"/>
                </a:schemeClr>
              </a:solidFill>
              <a:effectLst/>
              <a:latin typeface="Times New Roman" panose="02020603050405020304" pitchFamily="18" charset="0"/>
              <a:ea typeface="Times New Roman" panose="02020603050405020304" pitchFamily="18" charset="0"/>
            </a:endParaRPr>
          </a:p>
          <a:p>
            <a:pPr marL="313055" marR="57150">
              <a:lnSpc>
                <a:spcPct val="100000"/>
              </a:lnSpc>
              <a:spcBef>
                <a:spcPts val="975"/>
              </a:spcBef>
            </a:pPr>
            <a:r>
              <a:rPr lang="en-US" sz="2000" b="1" spc="-20" dirty="0">
                <a:solidFill>
                  <a:srgbClr val="F4AF83"/>
                </a:solidFill>
                <a:effectLst/>
                <a:latin typeface="Times New Roman" panose="02020603050405020304" pitchFamily="18" charset="0"/>
                <a:ea typeface="Times New Roman" panose="02020603050405020304" pitchFamily="18" charset="0"/>
              </a:rPr>
              <a:t>                      </a:t>
            </a:r>
            <a:r>
              <a:rPr lang="en-US" sz="2000" b="1" spc="-20" dirty="0">
                <a:solidFill>
                  <a:srgbClr val="FF0000"/>
                </a:solidFill>
                <a:effectLst/>
                <a:latin typeface="Times New Roman" panose="02020603050405020304" pitchFamily="18" charset="0"/>
                <a:ea typeface="Times New Roman" panose="02020603050405020304" pitchFamily="18" charset="0"/>
              </a:rPr>
              <a:t>DEPARTMENT</a:t>
            </a:r>
            <a:r>
              <a:rPr lang="en-US" sz="2000" b="1" spc="-10" dirty="0">
                <a:solidFill>
                  <a:srgbClr val="FF0000"/>
                </a:solidFill>
                <a:effectLst/>
                <a:latin typeface="Times New Roman" panose="02020603050405020304" pitchFamily="18" charset="0"/>
                <a:ea typeface="Times New Roman" panose="02020603050405020304" pitchFamily="18" charset="0"/>
              </a:rPr>
              <a:t> </a:t>
            </a:r>
            <a:r>
              <a:rPr lang="en-US" sz="2000" b="1" spc="-20" dirty="0">
                <a:solidFill>
                  <a:srgbClr val="FF0000"/>
                </a:solidFill>
                <a:effectLst/>
                <a:latin typeface="Times New Roman" panose="02020603050405020304" pitchFamily="18" charset="0"/>
                <a:ea typeface="Times New Roman" panose="02020603050405020304" pitchFamily="18" charset="0"/>
              </a:rPr>
              <a:t>OF</a:t>
            </a:r>
            <a:r>
              <a:rPr lang="en-US" sz="2000" b="1" spc="-30" dirty="0">
                <a:solidFill>
                  <a:srgbClr val="FF0000"/>
                </a:solidFill>
                <a:effectLst/>
                <a:latin typeface="Times New Roman" panose="02020603050405020304" pitchFamily="18" charset="0"/>
                <a:ea typeface="Times New Roman" panose="02020603050405020304" pitchFamily="18" charset="0"/>
              </a:rPr>
              <a:t> </a:t>
            </a:r>
            <a:r>
              <a:rPr lang="en-US" sz="2000" b="1" spc="-20" dirty="0">
                <a:solidFill>
                  <a:srgbClr val="FF0000"/>
                </a:solidFill>
                <a:effectLst/>
                <a:latin typeface="Times New Roman" panose="02020603050405020304" pitchFamily="18" charset="0"/>
                <a:ea typeface="Times New Roman" panose="02020603050405020304" pitchFamily="18" charset="0"/>
              </a:rPr>
              <a:t>COMPUTER</a:t>
            </a:r>
            <a:r>
              <a:rPr lang="en-US" sz="2000" b="1" spc="-75" dirty="0">
                <a:solidFill>
                  <a:srgbClr val="FF0000"/>
                </a:solidFill>
                <a:effectLst/>
                <a:latin typeface="Times New Roman" panose="02020603050405020304" pitchFamily="18" charset="0"/>
                <a:ea typeface="Times New Roman" panose="02020603050405020304" pitchFamily="18" charset="0"/>
              </a:rPr>
              <a:t> </a:t>
            </a:r>
            <a:r>
              <a:rPr lang="en-US" sz="2000" b="1" spc="-20" dirty="0">
                <a:solidFill>
                  <a:srgbClr val="FF0000"/>
                </a:solidFill>
                <a:effectLst/>
                <a:latin typeface="Times New Roman" panose="02020603050405020304" pitchFamily="18" charset="0"/>
                <a:ea typeface="Times New Roman" panose="02020603050405020304" pitchFamily="18" charset="0"/>
              </a:rPr>
              <a:t>SCIENCE</a:t>
            </a:r>
            <a:r>
              <a:rPr lang="en-US" sz="2000" b="1" spc="15" dirty="0">
                <a:solidFill>
                  <a:srgbClr val="FF0000"/>
                </a:solidFill>
                <a:effectLst/>
                <a:latin typeface="Times New Roman" panose="02020603050405020304" pitchFamily="18" charset="0"/>
                <a:ea typeface="Times New Roman" panose="02020603050405020304" pitchFamily="18" charset="0"/>
              </a:rPr>
              <a:t> </a:t>
            </a:r>
            <a:r>
              <a:rPr lang="en-US" sz="2000" b="1" spc="-20" dirty="0">
                <a:solidFill>
                  <a:srgbClr val="FF0000"/>
                </a:solidFill>
                <a:effectLst/>
                <a:latin typeface="Times New Roman" panose="02020603050405020304" pitchFamily="18" charset="0"/>
                <a:ea typeface="Times New Roman" panose="02020603050405020304" pitchFamily="18" charset="0"/>
              </a:rPr>
              <a:t>AND</a:t>
            </a:r>
            <a:r>
              <a:rPr lang="en-US" sz="2000" b="1" spc="-50" dirty="0">
                <a:solidFill>
                  <a:srgbClr val="FF0000"/>
                </a:solidFill>
                <a:effectLst/>
                <a:latin typeface="Times New Roman" panose="02020603050405020304" pitchFamily="18" charset="0"/>
                <a:ea typeface="Times New Roman" panose="02020603050405020304" pitchFamily="18" charset="0"/>
              </a:rPr>
              <a:t> </a:t>
            </a:r>
            <a:r>
              <a:rPr lang="en-US" sz="2000" b="1" spc="-20" dirty="0">
                <a:solidFill>
                  <a:srgbClr val="FF0000"/>
                </a:solidFill>
                <a:effectLst/>
                <a:latin typeface="Times New Roman" panose="02020603050405020304" pitchFamily="18" charset="0"/>
                <a:ea typeface="Times New Roman" panose="02020603050405020304" pitchFamily="18" charset="0"/>
              </a:rPr>
              <a:t>ENGINEERING </a:t>
            </a:r>
          </a:p>
          <a:p>
            <a:pPr marL="313055" marR="57150">
              <a:lnSpc>
                <a:spcPct val="100000"/>
              </a:lnSpc>
              <a:spcBef>
                <a:spcPts val="975"/>
              </a:spcBef>
            </a:pPr>
            <a:r>
              <a:rPr lang="en-US" sz="2000" b="1" spc="-20" dirty="0">
                <a:solidFill>
                  <a:schemeClr val="accent2"/>
                </a:solidFill>
                <a:effectLst/>
                <a:latin typeface="Times New Roman" panose="02020603050405020304" pitchFamily="18" charset="0"/>
                <a:ea typeface="Times New Roman" panose="02020603050405020304" pitchFamily="18" charset="0"/>
              </a:rPr>
              <a:t>project presentation on</a:t>
            </a:r>
          </a:p>
          <a:p>
            <a:pPr marL="313055" marR="57150">
              <a:lnSpc>
                <a:spcPct val="100000"/>
              </a:lnSpc>
              <a:spcBef>
                <a:spcPts val="975"/>
              </a:spcBef>
            </a:pPr>
            <a:r>
              <a:rPr lang="en-US" sz="2400" b="1" dirty="0">
                <a:solidFill>
                  <a:srgbClr val="000000"/>
                </a:solidFill>
                <a:effectLst/>
                <a:latin typeface="Times New Roman" panose="02020603050405020304" pitchFamily="18" charset="0"/>
                <a:ea typeface="Times New Roman" panose="02020603050405020304" pitchFamily="18" charset="0"/>
              </a:rPr>
              <a:t>AUTOMATIC DETECTION OF GENETIC DISEASES IN PEDIATRIC AGE USING PUPILLOMETRY</a:t>
            </a:r>
            <a:endParaRPr lang="en-US" sz="2400" b="1" dirty="0">
              <a:solidFill>
                <a:srgbClr val="000000"/>
              </a:solidFill>
              <a:latin typeface="Times New Roman" panose="02020603050405020304" pitchFamily="18" charset="0"/>
              <a:ea typeface="Times New Roman" panose="02020603050405020304" pitchFamily="18" charset="0"/>
            </a:endParaRPr>
          </a:p>
          <a:p>
            <a:pPr algn="l">
              <a:lnSpc>
                <a:spcPct val="100000"/>
              </a:lnSpc>
            </a:pPr>
            <a:r>
              <a:rPr lang="en-US" sz="2000" b="1" cap="none" dirty="0">
                <a:solidFill>
                  <a:srgbClr val="000000"/>
                </a:solidFill>
                <a:latin typeface="Times New Roman" panose="02020603050405020304" pitchFamily="18" charset="0"/>
                <a:cs typeface="Times New Roman" panose="02020603050405020304" pitchFamily="18" charset="0"/>
              </a:rPr>
              <a:t>        </a:t>
            </a:r>
            <a:r>
              <a:rPr lang="en-US" sz="1800" b="1" cap="none" dirty="0">
                <a:solidFill>
                  <a:schemeClr val="tx1"/>
                </a:solidFill>
                <a:latin typeface="Times New Roman" panose="02020603050405020304" pitchFamily="18" charset="0"/>
                <a:cs typeface="Times New Roman" panose="02020603050405020304" pitchFamily="18" charset="0"/>
              </a:rPr>
              <a:t>Under the guidance of                                                                                                     Presented By</a:t>
            </a:r>
            <a:endParaRPr lang="en-US" sz="1800" b="1" dirty="0">
              <a:solidFill>
                <a:schemeClr val="tx1"/>
              </a:solidFill>
              <a:latin typeface="Times New Roman" panose="02020603050405020304" pitchFamily="18" charset="0"/>
              <a:cs typeface="Times New Roman" panose="02020603050405020304" pitchFamily="18" charset="0"/>
            </a:endParaRPr>
          </a:p>
          <a:p>
            <a:pPr algn="l">
              <a:lnSpc>
                <a:spcPct val="100000"/>
              </a:lnSpc>
            </a:pPr>
            <a:r>
              <a:rPr lang="en-US" sz="1800" kern="100" cap="none"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Mrs. B. S. R. D. Lakshmi</a:t>
            </a:r>
            <a:r>
              <a:rPr lang="en-US" sz="1800" kern="100" cap="none"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G V </a:t>
            </a:r>
            <a:r>
              <a:rPr lang="en-US" sz="1800" kern="1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V</a:t>
            </a:r>
            <a:r>
              <a:rPr lang="en-US" sz="1800"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S </a:t>
            </a:r>
            <a:r>
              <a:rPr lang="en-US" sz="1800" kern="1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US" sz="1800"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S</a:t>
            </a:r>
            <a:r>
              <a:rPr lang="en-US" sz="1800"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GANESH    </a:t>
            </a:r>
            <a:r>
              <a:rPr lang="en-US" sz="1400"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(21H41A0514)</a:t>
            </a:r>
          </a:p>
          <a:p>
            <a:pPr algn="l">
              <a:lnSpc>
                <a:spcPct val="100000"/>
              </a:lnSpc>
            </a:pPr>
            <a:r>
              <a:rPr lang="en-US" sz="1400" kern="100" cap="none" dirty="0">
                <a:latin typeface="Times New Roman" panose="02020603050405020304" pitchFamily="18" charset="0"/>
                <a:ea typeface="Calibri" panose="020F0502020204030204" pitchFamily="34" charset="0"/>
                <a:cs typeface="Times New Roman" panose="02020603050405020304" pitchFamily="18" charset="0"/>
              </a:rPr>
              <a:t>                                  </a:t>
            </a:r>
            <a:r>
              <a:rPr lang="en-US" sz="1400" kern="100"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M. Tech., (Ph.D.,)</a:t>
            </a:r>
            <a:r>
              <a:rPr lang="en-US" sz="1400" kern="100" cap="none" dirty="0">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Y C R DURGA                        (21H41A0566)</a:t>
            </a:r>
          </a:p>
          <a:p>
            <a:pPr algn="l">
              <a:lnSpc>
                <a:spcPct val="100000"/>
              </a:lnSpc>
            </a:pPr>
            <a:r>
              <a:rPr lang="en-US" sz="1800" kern="100" cap="none"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Assistant professor</a:t>
            </a:r>
            <a:r>
              <a:rPr lang="en-US" sz="1400" kern="100" cap="none" dirty="0">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M GAYATHRI                         (21H41A0534)</a:t>
            </a:r>
          </a:p>
          <a:p>
            <a:pPr algn="l">
              <a:lnSpc>
                <a:spcPct val="100000"/>
              </a:lnSpc>
            </a:pPr>
            <a:r>
              <a:rPr lang="en-US" sz="14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DEPARTMENT OF CSE</a:t>
            </a:r>
            <a:r>
              <a:rPr lang="en-US" sz="1400" kern="100" dirty="0">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V MEGHANA                         (21H41A0561)</a:t>
            </a:r>
          </a:p>
          <a:p>
            <a:pPr algn="l">
              <a:lnSpc>
                <a:spcPct val="100000"/>
              </a:lnSpc>
            </a:pPr>
            <a:r>
              <a:rPr lang="en-US" sz="1400" kern="100" dirty="0">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A G S SAVERI                         (21H41A0502)</a:t>
            </a:r>
          </a:p>
          <a:p>
            <a:pPr algn="l">
              <a:lnSpc>
                <a:spcPct val="100000"/>
              </a:lnSpc>
            </a:pPr>
            <a:endParaRPr lang="en-US" sz="1800" b="1" dirty="0">
              <a:solidFill>
                <a:srgbClr val="0070C0"/>
              </a:solidFill>
              <a:effectLst/>
              <a:latin typeface="Times New Roman" panose="02020603050405020304" pitchFamily="18" charset="0"/>
              <a:ea typeface="Times New Roman" panose="02020603050405020304" pitchFamily="18" charset="0"/>
            </a:endParaRPr>
          </a:p>
          <a:p>
            <a:pPr>
              <a:lnSpc>
                <a:spcPct val="150000"/>
              </a:lnSpc>
            </a:pPr>
            <a:endParaRPr lang="en-IN" sz="1800" dirty="0"/>
          </a:p>
        </p:txBody>
      </p:sp>
      <p:sp>
        <p:nvSpPr>
          <p:cNvPr id="5" name="Slide Number Placeholder 4">
            <a:extLst>
              <a:ext uri="{FF2B5EF4-FFF2-40B4-BE49-F238E27FC236}">
                <a16:creationId xmlns:a16="http://schemas.microsoft.com/office/drawing/2014/main" id="{9CA83AF6-70A3-73DE-A404-06D86D691F57}"/>
              </a:ext>
            </a:extLst>
          </p:cNvPr>
          <p:cNvSpPr>
            <a:spLocks noGrp="1"/>
          </p:cNvSpPr>
          <p:nvPr>
            <p:ph type="sldNum" sz="quarter" idx="12"/>
          </p:nvPr>
        </p:nvSpPr>
        <p:spPr>
          <a:xfrm>
            <a:off x="9448800" y="6492876"/>
            <a:ext cx="2743200" cy="365125"/>
          </a:xfrm>
        </p:spPr>
        <p:txBody>
          <a:bodyPr/>
          <a:lstStyle/>
          <a:p>
            <a:fld id="{3A968ACF-B9CD-4D12-9D89-9E5A80B0589A}" type="slidenum">
              <a:rPr lang="en-IN" smtClean="0"/>
              <a:t>1</a:t>
            </a:fld>
            <a:endParaRPr lang="en-IN" dirty="0"/>
          </a:p>
        </p:txBody>
      </p:sp>
      <p:pic>
        <p:nvPicPr>
          <p:cNvPr id="4" name="Image 1">
            <a:extLst>
              <a:ext uri="{FF2B5EF4-FFF2-40B4-BE49-F238E27FC236}">
                <a16:creationId xmlns:a16="http://schemas.microsoft.com/office/drawing/2014/main" id="{6D9C9691-6EE4-156A-3427-6B1F9AB8B107}"/>
              </a:ext>
            </a:extLst>
          </p:cNvPr>
          <p:cNvPicPr>
            <a:picLocks/>
          </p:cNvPicPr>
          <p:nvPr/>
        </p:nvPicPr>
        <p:blipFill>
          <a:blip r:embed="rId2" cstate="print"/>
          <a:stretch>
            <a:fillRect/>
          </a:stretch>
        </p:blipFill>
        <p:spPr>
          <a:xfrm>
            <a:off x="238124" y="353007"/>
            <a:ext cx="2148840" cy="1594485"/>
          </a:xfrm>
          <a:prstGeom prst="rect">
            <a:avLst/>
          </a:prstGeom>
        </p:spPr>
      </p:pic>
      <p:sp>
        <p:nvSpPr>
          <p:cNvPr id="6" name="Footer Placeholder 5">
            <a:extLst>
              <a:ext uri="{FF2B5EF4-FFF2-40B4-BE49-F238E27FC236}">
                <a16:creationId xmlns:a16="http://schemas.microsoft.com/office/drawing/2014/main" id="{97B11AE6-F06F-B3B0-D1B7-AADBB68F27DC}"/>
              </a:ext>
            </a:extLst>
          </p:cNvPr>
          <p:cNvSpPr>
            <a:spLocks noGrp="1"/>
          </p:cNvSpPr>
          <p:nvPr>
            <p:ph type="ftr" sz="quarter" idx="11"/>
          </p:nvPr>
        </p:nvSpPr>
        <p:spPr>
          <a:xfrm>
            <a:off x="714895" y="5883275"/>
            <a:ext cx="3171306" cy="1594485"/>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9C3E9F22-D2EB-A217-C89E-A00FD06A9F28}"/>
              </a:ext>
            </a:extLst>
          </p:cNvPr>
          <p:cNvSpPr>
            <a:spLocks noGrp="1"/>
          </p:cNvSpPr>
          <p:nvPr>
            <p:ph type="dt" sz="half" idx="10"/>
          </p:nvPr>
        </p:nvSpPr>
        <p:spPr>
          <a:xfrm>
            <a:off x="7678737" y="5883275"/>
            <a:ext cx="2743200" cy="1523365"/>
          </a:xfrm>
        </p:spPr>
        <p:txBody>
          <a:bodyPr/>
          <a:lstStyle/>
          <a:p>
            <a:r>
              <a:rPr lang="en-IN" dirty="0"/>
              <a:t>11-04-2025</a:t>
            </a:r>
          </a:p>
        </p:txBody>
      </p:sp>
    </p:spTree>
    <p:extLst>
      <p:ext uri="{BB962C8B-B14F-4D97-AF65-F5344CB8AC3E}">
        <p14:creationId xmlns:p14="http://schemas.microsoft.com/office/powerpoint/2010/main" val="1962451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FD42B-984B-CE1A-B764-3F955E6F6FC2}"/>
              </a:ext>
            </a:extLst>
          </p:cNvPr>
          <p:cNvSpPr>
            <a:spLocks noGrp="1"/>
          </p:cNvSpPr>
          <p:nvPr>
            <p:ph type="title"/>
          </p:nvPr>
        </p:nvSpPr>
        <p:spPr>
          <a:xfrm>
            <a:off x="913775" y="191589"/>
            <a:ext cx="10364451" cy="714102"/>
          </a:xfrm>
        </p:spPr>
        <p:txBody>
          <a:bodyPr>
            <a:normAutofit/>
          </a:bodyPr>
          <a:lstStyle/>
          <a:p>
            <a:r>
              <a:rPr lang="en-IN" sz="2800"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D1FE5BC1-134E-97C9-1E41-F9627E3966AC}"/>
              </a:ext>
            </a:extLst>
          </p:cNvPr>
          <p:cNvSpPr>
            <a:spLocks noGrp="1"/>
          </p:cNvSpPr>
          <p:nvPr>
            <p:ph sz="quarter" idx="13"/>
          </p:nvPr>
        </p:nvSpPr>
        <p:spPr>
          <a:xfrm>
            <a:off x="723207" y="806336"/>
            <a:ext cx="10554393" cy="5943600"/>
          </a:xfrm>
        </p:spPr>
        <p:txBody>
          <a:bodyPr>
            <a:normAutofit fontScale="25000" lnSpcReduction="20000"/>
          </a:bodyPr>
          <a:lstStyle/>
          <a:p>
            <a:pPr marL="0" indent="0">
              <a:buNone/>
            </a:pPr>
            <a:r>
              <a:rPr lang="en-US" sz="8000" cap="none" dirty="0" err="1">
                <a:latin typeface="Times New Roman" panose="02020603050405020304" pitchFamily="18" charset="0"/>
                <a:cs typeface="Times New Roman" panose="02020603050405020304" pitchFamily="18" charset="0"/>
              </a:rPr>
              <a:t>S.No</a:t>
            </a:r>
            <a:r>
              <a:rPr lang="en-US" sz="8000" cap="none" dirty="0">
                <a:latin typeface="Times New Roman" panose="02020603050405020304" pitchFamily="18" charset="0"/>
                <a:cs typeface="Times New Roman" panose="02020603050405020304" pitchFamily="18" charset="0"/>
              </a:rPr>
              <a:t>     Description of topic</a:t>
            </a:r>
          </a:p>
          <a:p>
            <a:pPr marL="0" indent="0">
              <a:buNone/>
            </a:pPr>
            <a:r>
              <a:rPr lang="en-US" sz="5600" cap="none" dirty="0">
                <a:latin typeface="Times New Roman" panose="02020603050405020304" pitchFamily="18" charset="0"/>
                <a:cs typeface="Times New Roman" panose="02020603050405020304" pitchFamily="18" charset="0"/>
              </a:rPr>
              <a:t>1.            Abstract</a:t>
            </a:r>
          </a:p>
          <a:p>
            <a:pPr marL="0" indent="0">
              <a:buNone/>
            </a:pPr>
            <a:r>
              <a:rPr lang="en-US" sz="5600" cap="none" dirty="0">
                <a:latin typeface="Times New Roman" panose="02020603050405020304" pitchFamily="18" charset="0"/>
                <a:cs typeface="Times New Roman" panose="02020603050405020304" pitchFamily="18" charset="0"/>
              </a:rPr>
              <a:t>2.            Introduction</a:t>
            </a:r>
          </a:p>
          <a:p>
            <a:pPr marL="0" indent="0">
              <a:buNone/>
            </a:pPr>
            <a:r>
              <a:rPr lang="en-US" sz="5600" cap="none" dirty="0">
                <a:latin typeface="Times New Roman" panose="02020603050405020304" pitchFamily="18" charset="0"/>
                <a:cs typeface="Times New Roman" panose="02020603050405020304" pitchFamily="18" charset="0"/>
              </a:rPr>
              <a:t>3.            Literature Survey</a:t>
            </a:r>
          </a:p>
          <a:p>
            <a:pPr marL="0" indent="0">
              <a:buNone/>
            </a:pPr>
            <a:r>
              <a:rPr lang="en-US" sz="5600" cap="none" dirty="0">
                <a:latin typeface="Times New Roman" panose="02020603050405020304" pitchFamily="18" charset="0"/>
                <a:cs typeface="Times New Roman" panose="02020603050405020304" pitchFamily="18" charset="0"/>
              </a:rPr>
              <a:t>4.            Existing System &amp; Disadvantages</a:t>
            </a:r>
          </a:p>
          <a:p>
            <a:pPr marL="0" indent="0">
              <a:buNone/>
            </a:pPr>
            <a:r>
              <a:rPr lang="en-US" sz="5600" cap="none" dirty="0">
                <a:latin typeface="Times New Roman" panose="02020603050405020304" pitchFamily="18" charset="0"/>
                <a:cs typeface="Times New Roman" panose="02020603050405020304" pitchFamily="18" charset="0"/>
              </a:rPr>
              <a:t>5.            Proposed System &amp; Advantages</a:t>
            </a:r>
          </a:p>
          <a:p>
            <a:pPr marL="0" indent="0">
              <a:buNone/>
            </a:pPr>
            <a:r>
              <a:rPr lang="en-US" sz="5600" cap="none" dirty="0">
                <a:latin typeface="Times New Roman" panose="02020603050405020304" pitchFamily="18" charset="0"/>
                <a:cs typeface="Times New Roman" panose="02020603050405020304" pitchFamily="18" charset="0"/>
              </a:rPr>
              <a:t>6.            Hardware &amp; Software requirements</a:t>
            </a:r>
          </a:p>
          <a:p>
            <a:pPr marL="0" indent="0">
              <a:buNone/>
            </a:pPr>
            <a:r>
              <a:rPr lang="en-US" sz="5600" cap="none" dirty="0">
                <a:latin typeface="Times New Roman" panose="02020603050405020304" pitchFamily="18" charset="0"/>
                <a:cs typeface="Times New Roman" panose="02020603050405020304" pitchFamily="18" charset="0"/>
              </a:rPr>
              <a:t>7.            Feasibility study</a:t>
            </a:r>
          </a:p>
          <a:p>
            <a:pPr marL="0" indent="0">
              <a:buNone/>
            </a:pPr>
            <a:r>
              <a:rPr lang="en-US" sz="5600" cap="none" dirty="0">
                <a:latin typeface="Times New Roman" panose="02020603050405020304" pitchFamily="18" charset="0"/>
                <a:cs typeface="Times New Roman" panose="02020603050405020304" pitchFamily="18" charset="0"/>
              </a:rPr>
              <a:t>8.            Functional requirements</a:t>
            </a:r>
          </a:p>
          <a:p>
            <a:pPr marL="0" indent="0">
              <a:buNone/>
            </a:pPr>
            <a:r>
              <a:rPr lang="en-US" sz="5600" cap="none" dirty="0">
                <a:latin typeface="Times New Roman" panose="02020603050405020304" pitchFamily="18" charset="0"/>
                <a:cs typeface="Times New Roman" panose="02020603050405020304" pitchFamily="18" charset="0"/>
              </a:rPr>
              <a:t>9.            Non-functional requirements</a:t>
            </a:r>
          </a:p>
          <a:p>
            <a:pPr marL="0" indent="0">
              <a:buNone/>
            </a:pPr>
            <a:r>
              <a:rPr lang="en-US" sz="5600" cap="none" dirty="0">
                <a:latin typeface="Times New Roman" panose="02020603050405020304" pitchFamily="18" charset="0"/>
                <a:cs typeface="Times New Roman" panose="02020603050405020304" pitchFamily="18" charset="0"/>
              </a:rPr>
              <a:t>10.          Modules</a:t>
            </a:r>
          </a:p>
          <a:p>
            <a:pPr marL="0" indent="0">
              <a:buNone/>
            </a:pPr>
            <a:r>
              <a:rPr lang="en-US" sz="5600" cap="none" dirty="0">
                <a:latin typeface="Times New Roman" panose="02020603050405020304" pitchFamily="18" charset="0"/>
                <a:cs typeface="Times New Roman" panose="02020603050405020304" pitchFamily="18" charset="0"/>
              </a:rPr>
              <a:t>11.          UML Diagram</a:t>
            </a:r>
          </a:p>
          <a:p>
            <a:pPr marL="0" indent="0">
              <a:buNone/>
            </a:pPr>
            <a:r>
              <a:rPr lang="en-US" sz="5600" cap="none" dirty="0">
                <a:latin typeface="Times New Roman" panose="02020603050405020304" pitchFamily="18" charset="0"/>
                <a:cs typeface="Times New Roman" panose="02020603050405020304" pitchFamily="18" charset="0"/>
              </a:rPr>
              <a:t>12.          Implementation</a:t>
            </a:r>
          </a:p>
          <a:p>
            <a:pPr marL="0" indent="0">
              <a:buNone/>
            </a:pPr>
            <a:r>
              <a:rPr lang="en-US" sz="5600" cap="none" dirty="0">
                <a:latin typeface="Times New Roman" panose="02020603050405020304" pitchFamily="18" charset="0"/>
                <a:cs typeface="Times New Roman" panose="02020603050405020304" pitchFamily="18" charset="0"/>
              </a:rPr>
              <a:t>13.          Test Cases</a:t>
            </a:r>
          </a:p>
          <a:p>
            <a:pPr marL="0" indent="0">
              <a:buNone/>
            </a:pPr>
            <a:r>
              <a:rPr lang="en-US" sz="5600" cap="none" dirty="0">
                <a:latin typeface="Times New Roman" panose="02020603050405020304" pitchFamily="18" charset="0"/>
                <a:cs typeface="Times New Roman" panose="02020603050405020304" pitchFamily="18" charset="0"/>
              </a:rPr>
              <a:t>14.          Project Execution Screens</a:t>
            </a:r>
          </a:p>
          <a:p>
            <a:pPr marL="0" indent="0">
              <a:buNone/>
            </a:pPr>
            <a:r>
              <a:rPr lang="en-US" sz="5600" cap="none" dirty="0">
                <a:latin typeface="Times New Roman" panose="02020603050405020304" pitchFamily="18" charset="0"/>
                <a:cs typeface="Times New Roman" panose="02020603050405020304" pitchFamily="18" charset="0"/>
              </a:rPr>
              <a:t>15.          Conclusion &amp; Future Enhancement</a:t>
            </a:r>
          </a:p>
          <a:p>
            <a:pPr marL="0" indent="0">
              <a:buNone/>
            </a:pPr>
            <a:r>
              <a:rPr lang="en-US" sz="5600" cap="none" dirty="0">
                <a:latin typeface="Times New Roman" panose="02020603050405020304" pitchFamily="18" charset="0"/>
                <a:cs typeface="Times New Roman" panose="02020603050405020304" pitchFamily="18" charset="0"/>
              </a:rPr>
              <a:t>16.          Reference  </a:t>
            </a:r>
            <a:endParaRPr lang="en-IN" sz="5600" cap="none"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4E7C24B-10CF-3025-F3CC-E48B27BB5C19}"/>
              </a:ext>
            </a:extLst>
          </p:cNvPr>
          <p:cNvSpPr>
            <a:spLocks noGrp="1"/>
          </p:cNvSpPr>
          <p:nvPr>
            <p:ph type="ftr" sz="quarter" idx="11"/>
          </p:nvPr>
        </p:nvSpPr>
        <p:spPr>
          <a:xfrm>
            <a:off x="913774" y="5883275"/>
            <a:ext cx="6672887" cy="1757507"/>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97A1B96-CB49-0F8B-49A9-0C02364AC7C2}"/>
              </a:ext>
            </a:extLst>
          </p:cNvPr>
          <p:cNvSpPr>
            <a:spLocks noGrp="1"/>
          </p:cNvSpPr>
          <p:nvPr>
            <p:ph type="sldNum" sz="quarter" idx="12"/>
          </p:nvPr>
        </p:nvSpPr>
        <p:spPr>
          <a:xfrm>
            <a:off x="10514011" y="5883275"/>
            <a:ext cx="1677989" cy="1688827"/>
          </a:xfrm>
        </p:spPr>
        <p:txBody>
          <a:bodyPr/>
          <a:lstStyle/>
          <a:p>
            <a:fld id="{D11D1588-8316-42EA-B695-F2D8B3238057}" type="slidenum">
              <a:rPr lang="en-IN" smtClean="0"/>
              <a:t>2</a:t>
            </a:fld>
            <a:endParaRPr lang="en-IN" dirty="0"/>
          </a:p>
        </p:txBody>
      </p:sp>
      <p:sp>
        <p:nvSpPr>
          <p:cNvPr id="6" name="Date Placeholder 5">
            <a:extLst>
              <a:ext uri="{FF2B5EF4-FFF2-40B4-BE49-F238E27FC236}">
                <a16:creationId xmlns:a16="http://schemas.microsoft.com/office/drawing/2014/main" id="{316E96B5-0F2E-B35F-FC66-AF4CCAACB6C9}"/>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2945759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D621A-BC31-B883-F999-C2D451BA93CF}"/>
              </a:ext>
            </a:extLst>
          </p:cNvPr>
          <p:cNvSpPr>
            <a:spLocks noGrp="1"/>
          </p:cNvSpPr>
          <p:nvPr>
            <p:ph type="title"/>
          </p:nvPr>
        </p:nvSpPr>
        <p:spPr>
          <a:xfrm>
            <a:off x="914399" y="714596"/>
            <a:ext cx="10364451" cy="644434"/>
          </a:xfrm>
        </p:spPr>
        <p:txBody>
          <a:bodyPr>
            <a:normAutofit/>
          </a:bodyPr>
          <a:lstStyle/>
          <a:p>
            <a:r>
              <a:rPr lang="en-IN" sz="2800"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D9B1E6B7-9D1D-DB99-CEB0-602C65CAEC5F}"/>
              </a:ext>
            </a:extLst>
          </p:cNvPr>
          <p:cNvSpPr>
            <a:spLocks noGrp="1"/>
          </p:cNvSpPr>
          <p:nvPr>
            <p:ph sz="quarter" idx="13"/>
          </p:nvPr>
        </p:nvSpPr>
        <p:spPr>
          <a:xfrm>
            <a:off x="739833" y="1758075"/>
            <a:ext cx="10798232" cy="4385329"/>
          </a:xfrm>
        </p:spPr>
        <p:txBody>
          <a:bodyPr>
            <a:noAutofit/>
          </a:bodyPr>
          <a:lstStyle/>
          <a:p>
            <a:pPr marL="0" indent="0" algn="just">
              <a:lnSpc>
                <a:spcPct val="100000"/>
              </a:lnSpc>
              <a:buNone/>
            </a:pPr>
            <a:r>
              <a:rPr lang="en-US" cap="none" dirty="0">
                <a:latin typeface="Times New Roman" panose="02020603050405020304" pitchFamily="18" charset="0"/>
                <a:cs typeface="Times New Roman" panose="02020603050405020304" pitchFamily="18" charset="0"/>
              </a:rPr>
              <a:t>	</a:t>
            </a:r>
            <a:r>
              <a:rPr lang="en-US" sz="1800" b="0" i="0" cap="none" dirty="0">
                <a:effectLst/>
                <a:latin typeface="Times New Roman" panose="02020603050405020304" pitchFamily="18" charset="0"/>
                <a:cs typeface="Times New Roman" panose="02020603050405020304" pitchFamily="18" charset="0"/>
              </a:rPr>
              <a:t>Inherited retinal diseases cause severe visual defects in children. They are classified in outer and inner retina diseases, and often cause blindness in childhood. The diagnosis for this type of illness is challenging, given the wide range of clinical and genetic causes. It is routinely based on a complex pattern of clinical tests, including invasive ones, not always appropriate for infants or young children.</a:t>
            </a:r>
          </a:p>
          <a:p>
            <a:pPr marL="0" indent="0" algn="just">
              <a:lnSpc>
                <a:spcPct val="100000"/>
              </a:lnSpc>
              <a:buNone/>
            </a:pPr>
            <a:r>
              <a:rPr lang="en-US" sz="1800" cap="none" dirty="0">
                <a:latin typeface="Times New Roman" panose="02020603050405020304" pitchFamily="18" charset="0"/>
                <a:cs typeface="Times New Roman" panose="02020603050405020304" pitchFamily="18" charset="0"/>
              </a:rPr>
              <a:t>	</a:t>
            </a:r>
            <a:r>
              <a:rPr lang="en-US" sz="1800" b="0" i="0" cap="none" dirty="0">
                <a:effectLst/>
                <a:latin typeface="Times New Roman" panose="02020603050405020304" pitchFamily="18" charset="0"/>
                <a:cs typeface="Times New Roman" panose="02020603050405020304" pitchFamily="18" charset="0"/>
              </a:rPr>
              <a:t>A different approach is thus needed, </a:t>
            </a:r>
            <a:r>
              <a:rPr lang="en-US" sz="1800" cap="none" dirty="0">
                <a:latin typeface="Times New Roman" panose="02020603050405020304" pitchFamily="18" charset="0"/>
                <a:cs typeface="Times New Roman" panose="02020603050405020304" pitchFamily="18" charset="0"/>
              </a:rPr>
              <a:t>the use of pupillometry, a non-invasive technique that measures pupil size and reactions, as a potential tool for detecting genetic diseases in children. Pupil reactions were recorded using an automated pupillometer under controlled lighting conditions. The pupillometry system tested on both synthetic and real-world data, achieving accurate results with lower computational cost than traditional methods.</a:t>
            </a:r>
            <a:endParaRPr lang="en-IN" sz="1800" cap="none"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956263C-6FDA-ED80-41AF-441476A4591D}"/>
              </a:ext>
            </a:extLst>
          </p:cNvPr>
          <p:cNvSpPr>
            <a:spLocks noGrp="1"/>
          </p:cNvSpPr>
          <p:nvPr>
            <p:ph type="ftr" sz="quarter" idx="11"/>
          </p:nvPr>
        </p:nvSpPr>
        <p:spPr>
          <a:xfrm>
            <a:off x="739834" y="5883275"/>
            <a:ext cx="6846828" cy="1743652"/>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1CB67EB8-0533-7585-C6A9-F6AEF569D1A2}"/>
              </a:ext>
            </a:extLst>
          </p:cNvPr>
          <p:cNvSpPr>
            <a:spLocks noGrp="1"/>
          </p:cNvSpPr>
          <p:nvPr>
            <p:ph type="sldNum" sz="quarter" idx="12"/>
          </p:nvPr>
        </p:nvSpPr>
        <p:spPr>
          <a:xfrm>
            <a:off x="10514011" y="5883275"/>
            <a:ext cx="1726480" cy="1653598"/>
          </a:xfrm>
        </p:spPr>
        <p:txBody>
          <a:bodyPr/>
          <a:lstStyle/>
          <a:p>
            <a:fld id="{D11D1588-8316-42EA-B695-F2D8B3238057}" type="slidenum">
              <a:rPr lang="en-IN" smtClean="0"/>
              <a:t>3</a:t>
            </a:fld>
            <a:endParaRPr lang="en-IN" dirty="0"/>
          </a:p>
        </p:txBody>
      </p:sp>
      <p:sp>
        <p:nvSpPr>
          <p:cNvPr id="6" name="Date Placeholder 5">
            <a:extLst>
              <a:ext uri="{FF2B5EF4-FFF2-40B4-BE49-F238E27FC236}">
                <a16:creationId xmlns:a16="http://schemas.microsoft.com/office/drawing/2014/main" id="{EF9FBA7B-8A37-CAE1-386D-DFFA6947F047}"/>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151007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6B686-11EE-7BE1-4F5C-6EDD2F1CF96B}"/>
              </a:ext>
            </a:extLst>
          </p:cNvPr>
          <p:cNvSpPr>
            <a:spLocks noGrp="1"/>
          </p:cNvSpPr>
          <p:nvPr>
            <p:ph type="title"/>
          </p:nvPr>
        </p:nvSpPr>
        <p:spPr>
          <a:xfrm>
            <a:off x="913774" y="388982"/>
            <a:ext cx="10364451" cy="627018"/>
          </a:xfrm>
        </p:spPr>
        <p:txBody>
          <a:bodyPr>
            <a:normAutofit/>
          </a:bodyPr>
          <a:lstStyle/>
          <a:p>
            <a:r>
              <a:rPr lang="en-IN" sz="28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3B1856BD-B5FF-1713-C8B9-8FE0A2A6EF2A}"/>
              </a:ext>
            </a:extLst>
          </p:cNvPr>
          <p:cNvSpPr>
            <a:spLocks noGrp="1"/>
          </p:cNvSpPr>
          <p:nvPr>
            <p:ph sz="quarter" idx="13"/>
          </p:nvPr>
        </p:nvSpPr>
        <p:spPr>
          <a:xfrm>
            <a:off x="731521" y="1356164"/>
            <a:ext cx="10814858" cy="5305894"/>
          </a:xfrm>
        </p:spPr>
        <p:txBody>
          <a:bodyPr>
            <a:noAutofit/>
          </a:bodyPr>
          <a:lstStyle/>
          <a:p>
            <a:pPr algn="just">
              <a:lnSpc>
                <a:spcPct val="100000"/>
              </a:lnSpc>
              <a:buNone/>
            </a:pPr>
            <a:r>
              <a:rPr lang="en-US" sz="1800" cap="none" dirty="0">
                <a:latin typeface="Times New Roman" panose="02020603050405020304" pitchFamily="18" charset="0"/>
                <a:cs typeface="Times New Roman" panose="02020603050405020304" pitchFamily="18" charset="0"/>
              </a:rPr>
              <a:t>    	Detecting genetic eye diseases early in children is very important for timely treatment and preventing vision loss. However, current diagnostic methods often involve invasive clinical tests, which can be stressful and uncomfortable for young patients. This creates a need for non-invasive, accurate, and child-friendly diagnostic tools.</a:t>
            </a:r>
          </a:p>
          <a:p>
            <a:pPr algn="just">
              <a:lnSpc>
                <a:spcPct val="100000"/>
              </a:lnSpc>
              <a:buNone/>
            </a:pPr>
            <a:r>
              <a:rPr lang="en-US" sz="1800" cap="none" dirty="0">
                <a:latin typeface="Times New Roman" panose="02020603050405020304" pitchFamily="18" charset="0"/>
                <a:cs typeface="Times New Roman" panose="02020603050405020304" pitchFamily="18" charset="0"/>
              </a:rPr>
              <a:t>    	To address this challenge, our project uses pupillometry and machine learning to automatically detect genetic eye diseases in children. Pupillometry, a technique that measures changes in pupil size in response to light, offers a non-invasive and sensitive method for assessing eye health. The data captured by pupillometry devices provides valuable information about the eye data, which is often affected by genetic eye conditions.</a:t>
            </a:r>
          </a:p>
          <a:p>
            <a:pPr algn="just">
              <a:lnSpc>
                <a:spcPct val="100000"/>
              </a:lnSpc>
              <a:buNone/>
            </a:pPr>
            <a:r>
              <a:rPr lang="en-US" sz="1800" cap="none" dirty="0">
                <a:latin typeface="Times New Roman" panose="02020603050405020304" pitchFamily="18" charset="0"/>
                <a:cs typeface="Times New Roman" panose="02020603050405020304" pitchFamily="18" charset="0"/>
              </a:rPr>
              <a:t>     	In this project, we use machine learning, specifically Support Vector Machines (SVM), to analyze pupillometry data and identify patterns that indicate specific genetic eye diseases. By training SVM classifiers on datasets of pupillometry recordings from both healthy and affected children, we aim to develop a reliable and accurate diagnostic tool. We also combine the results of multiple SVM classifiers to improve the overall accuracy of our predictions. This approach aims to reduce the need for invasive clinical procedures, making the diagnostic process more comfortable and accessible for children, ultimately leading to earlier detection and better outcomes.</a:t>
            </a:r>
          </a:p>
        </p:txBody>
      </p:sp>
      <p:sp>
        <p:nvSpPr>
          <p:cNvPr id="4" name="Footer Placeholder 3">
            <a:extLst>
              <a:ext uri="{FF2B5EF4-FFF2-40B4-BE49-F238E27FC236}">
                <a16:creationId xmlns:a16="http://schemas.microsoft.com/office/drawing/2014/main" id="{1D971304-CB7E-85BF-AA88-FBF6D410DA69}"/>
              </a:ext>
            </a:extLst>
          </p:cNvPr>
          <p:cNvSpPr>
            <a:spLocks noGrp="1"/>
          </p:cNvSpPr>
          <p:nvPr>
            <p:ph type="ftr" sz="quarter" idx="11"/>
          </p:nvPr>
        </p:nvSpPr>
        <p:spPr>
          <a:xfrm>
            <a:off x="731522" y="5883275"/>
            <a:ext cx="6855140" cy="1688234"/>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D969643-40B0-368E-98EC-1E9FD3EA407F}"/>
              </a:ext>
            </a:extLst>
          </p:cNvPr>
          <p:cNvSpPr>
            <a:spLocks noGrp="1"/>
          </p:cNvSpPr>
          <p:nvPr>
            <p:ph type="sldNum" sz="quarter" idx="12"/>
          </p:nvPr>
        </p:nvSpPr>
        <p:spPr>
          <a:xfrm>
            <a:off x="10514011" y="5883275"/>
            <a:ext cx="1677989" cy="1688234"/>
          </a:xfrm>
        </p:spPr>
        <p:txBody>
          <a:bodyPr/>
          <a:lstStyle/>
          <a:p>
            <a:fld id="{D11D1588-8316-42EA-B695-F2D8B3238057}" type="slidenum">
              <a:rPr lang="en-IN" smtClean="0"/>
              <a:t>4</a:t>
            </a:fld>
            <a:endParaRPr lang="en-IN" dirty="0"/>
          </a:p>
        </p:txBody>
      </p:sp>
      <p:sp>
        <p:nvSpPr>
          <p:cNvPr id="6" name="Date Placeholder 5">
            <a:extLst>
              <a:ext uri="{FF2B5EF4-FFF2-40B4-BE49-F238E27FC236}">
                <a16:creationId xmlns:a16="http://schemas.microsoft.com/office/drawing/2014/main" id="{F58FCD6A-AB2D-A39E-D1A6-9F26B2A1A98D}"/>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2483163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2786C-415B-7970-2908-0C368C9331DA}"/>
              </a:ext>
            </a:extLst>
          </p:cNvPr>
          <p:cNvSpPr>
            <a:spLocks noGrp="1"/>
          </p:cNvSpPr>
          <p:nvPr>
            <p:ph type="title"/>
          </p:nvPr>
        </p:nvSpPr>
        <p:spPr>
          <a:xfrm>
            <a:off x="1002266" y="0"/>
            <a:ext cx="10364451" cy="653142"/>
          </a:xfrm>
        </p:spPr>
        <p:txBody>
          <a:bodyPr>
            <a:normAutofit/>
          </a:bodyPr>
          <a:lstStyle/>
          <a:p>
            <a:r>
              <a:rPr lang="en-IN" sz="2800" dirty="0">
                <a:latin typeface="Times New Roman" panose="02020603050405020304" pitchFamily="18" charset="0"/>
                <a:cs typeface="Times New Roman" panose="02020603050405020304" pitchFamily="18" charset="0"/>
              </a:rPr>
              <a:t>Literature survey</a:t>
            </a:r>
          </a:p>
        </p:txBody>
      </p:sp>
      <p:graphicFrame>
        <p:nvGraphicFramePr>
          <p:cNvPr id="4" name="Content Placeholder 3">
            <a:extLst>
              <a:ext uri="{FF2B5EF4-FFF2-40B4-BE49-F238E27FC236}">
                <a16:creationId xmlns:a16="http://schemas.microsoft.com/office/drawing/2014/main" id="{3713A329-A8EA-EEAF-A641-548856C0B864}"/>
              </a:ext>
            </a:extLst>
          </p:cNvPr>
          <p:cNvGraphicFramePr>
            <a:graphicFrameLocks noGrp="1"/>
          </p:cNvGraphicFramePr>
          <p:nvPr>
            <p:ph sz="quarter" idx="13"/>
            <p:extLst>
              <p:ext uri="{D42A27DB-BD31-4B8C-83A1-F6EECF244321}">
                <p14:modId xmlns:p14="http://schemas.microsoft.com/office/powerpoint/2010/main" val="3819467803"/>
              </p:ext>
            </p:extLst>
          </p:nvPr>
        </p:nvGraphicFramePr>
        <p:xfrm>
          <a:off x="101600" y="561701"/>
          <a:ext cx="11978640" cy="6014265"/>
        </p:xfrm>
        <a:graphic>
          <a:graphicData uri="http://schemas.openxmlformats.org/drawingml/2006/table">
            <a:tbl>
              <a:tblPr firstRow="1" bandRow="1">
                <a:tableStyleId>{7E9639D4-E3E2-4D34-9284-5A2195B3D0D7}</a:tableStyleId>
              </a:tblPr>
              <a:tblGrid>
                <a:gridCol w="3013262">
                  <a:extLst>
                    <a:ext uri="{9D8B030D-6E8A-4147-A177-3AD203B41FA5}">
                      <a16:colId xmlns:a16="http://schemas.microsoft.com/office/drawing/2014/main" val="379571834"/>
                    </a:ext>
                  </a:extLst>
                </a:gridCol>
                <a:gridCol w="1473763">
                  <a:extLst>
                    <a:ext uri="{9D8B030D-6E8A-4147-A177-3AD203B41FA5}">
                      <a16:colId xmlns:a16="http://schemas.microsoft.com/office/drawing/2014/main" val="2389820991"/>
                    </a:ext>
                  </a:extLst>
                </a:gridCol>
                <a:gridCol w="812344">
                  <a:extLst>
                    <a:ext uri="{9D8B030D-6E8A-4147-A177-3AD203B41FA5}">
                      <a16:colId xmlns:a16="http://schemas.microsoft.com/office/drawing/2014/main" val="132116483"/>
                    </a:ext>
                  </a:extLst>
                </a:gridCol>
                <a:gridCol w="3954347">
                  <a:extLst>
                    <a:ext uri="{9D8B030D-6E8A-4147-A177-3AD203B41FA5}">
                      <a16:colId xmlns:a16="http://schemas.microsoft.com/office/drawing/2014/main" val="212669065"/>
                    </a:ext>
                  </a:extLst>
                </a:gridCol>
                <a:gridCol w="2724924">
                  <a:extLst>
                    <a:ext uri="{9D8B030D-6E8A-4147-A177-3AD203B41FA5}">
                      <a16:colId xmlns:a16="http://schemas.microsoft.com/office/drawing/2014/main" val="99392555"/>
                    </a:ext>
                  </a:extLst>
                </a:gridCol>
              </a:tblGrid>
              <a:tr h="348538">
                <a:tc>
                  <a:txBody>
                    <a:bodyPr/>
                    <a:lstStyle/>
                    <a:p>
                      <a:pPr algn="ctr"/>
                      <a:r>
                        <a:rPr lang="en-IN" sz="1700" b="1" i="0" kern="1200" cap="none" baseline="0" dirty="0">
                          <a:solidFill>
                            <a:schemeClr val="tx1"/>
                          </a:solidFill>
                          <a:effectLst/>
                          <a:latin typeface="Times New Roman" panose="02020603050405020304" pitchFamily="18" charset="0"/>
                          <a:ea typeface="+mn-ea"/>
                          <a:cs typeface="Times New Roman" panose="02020603050405020304" pitchFamily="18" charset="0"/>
                        </a:rPr>
                        <a:t>Title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US" sz="1700" b="1" i="0" kern="1200" cap="none" baseline="0" dirty="0">
                          <a:solidFill>
                            <a:schemeClr val="tx1"/>
                          </a:solidFill>
                          <a:effectLst/>
                          <a:latin typeface="Times New Roman" panose="02020603050405020304" pitchFamily="18" charset="0"/>
                          <a:ea typeface="+mn-ea"/>
                          <a:cs typeface="Times New Roman" panose="02020603050405020304" pitchFamily="18" charset="0"/>
                        </a:rPr>
                        <a:t>P</a:t>
                      </a:r>
                      <a:r>
                        <a:rPr lang="en-IN" sz="1700" b="1" i="0" kern="1200" cap="none" baseline="0" dirty="0" err="1">
                          <a:solidFill>
                            <a:schemeClr val="tx1"/>
                          </a:solidFill>
                          <a:effectLst/>
                          <a:latin typeface="Times New Roman" panose="02020603050405020304" pitchFamily="18" charset="0"/>
                          <a:ea typeface="+mn-ea"/>
                          <a:cs typeface="Times New Roman" panose="02020603050405020304" pitchFamily="18" charset="0"/>
                        </a:rPr>
                        <a:t>ublished</a:t>
                      </a:r>
                      <a:r>
                        <a:rPr lang="en-IN" sz="1700" b="1" i="0" kern="1200" cap="none" baseline="0" dirty="0">
                          <a:solidFill>
                            <a:schemeClr val="tx1"/>
                          </a:solidFill>
                          <a:effectLst/>
                          <a:latin typeface="Times New Roman" panose="02020603050405020304" pitchFamily="18" charset="0"/>
                          <a:ea typeface="+mn-ea"/>
                          <a:cs typeface="Times New Roman" panose="02020603050405020304" pitchFamily="18" charset="0"/>
                        </a:rPr>
                        <a:t> by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IN" sz="1700" b="1" i="0" kern="1200" cap="none" baseline="0" dirty="0">
                          <a:solidFill>
                            <a:schemeClr val="tx1"/>
                          </a:solidFill>
                          <a:effectLst/>
                          <a:latin typeface="Times New Roman" panose="02020603050405020304" pitchFamily="18" charset="0"/>
                          <a:ea typeface="+mn-ea"/>
                          <a:cs typeface="Times New Roman" panose="02020603050405020304" pitchFamily="18" charset="0"/>
                        </a:rPr>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IN" sz="1700" b="1" i="0" kern="1200" cap="none" baseline="0" dirty="0">
                          <a:solidFill>
                            <a:schemeClr val="tx1"/>
                          </a:solidFill>
                          <a:effectLst/>
                          <a:latin typeface="Times New Roman" panose="02020603050405020304" pitchFamily="18" charset="0"/>
                          <a:ea typeface="+mn-ea"/>
                          <a:cs typeface="Times New Roman" panose="02020603050405020304" pitchFamily="18" charset="0"/>
                        </a:rPr>
                        <a:t>Observations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r>
                        <a:rPr lang="en-IN" sz="1700" b="1" i="0" kern="1200" cap="none" baseline="0" dirty="0">
                          <a:solidFill>
                            <a:schemeClr val="tx1"/>
                          </a:solidFill>
                          <a:effectLst/>
                          <a:latin typeface="Times New Roman" panose="02020603050405020304" pitchFamily="18" charset="0"/>
                          <a:ea typeface="+mn-ea"/>
                          <a:cs typeface="Times New Roman" panose="02020603050405020304" pitchFamily="18" charset="0"/>
                        </a:rPr>
                        <a:t>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4122733754"/>
                  </a:ext>
                </a:extLst>
              </a:tr>
              <a:tr h="1132749">
                <a:tc>
                  <a:txBody>
                    <a:bodyPr/>
                    <a:lstStyle/>
                    <a:p>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Pupil abnormalities in 131 cases of genetically defined inherited peripheral neuropathy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700" b="0" i="0" kern="1200" cap="none" baseline="0" dirty="0" err="1">
                          <a:solidFill>
                            <a:schemeClr val="tx1"/>
                          </a:solidFill>
                          <a:effectLst/>
                          <a:latin typeface="Times New Roman" panose="02020603050405020304" pitchFamily="18" charset="0"/>
                          <a:ea typeface="+mn-ea"/>
                          <a:cs typeface="Times New Roman" panose="02020603050405020304" pitchFamily="18" charset="0"/>
                          <a:hlinkClick r:id="rId3">
                            <a:extLst>
                              <a:ext uri="{A12FA001-AC4F-418D-AE19-62706E023703}">
                                <ahyp:hlinkClr xmlns:ahyp="http://schemas.microsoft.com/office/drawing/2018/hyperlinkcolor" val="tx"/>
                              </a:ext>
                            </a:extLst>
                          </a:hlinkClick>
                        </a:rPr>
                        <a:t>H.Houlden</a:t>
                      </a:r>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 </a:t>
                      </a:r>
                    </a:p>
                    <a:p>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hlinkClick r:id="rId4">
                            <a:extLst>
                              <a:ext uri="{A12FA001-AC4F-418D-AE19-62706E023703}">
                                <ahyp:hlinkClr xmlns:ahyp="http://schemas.microsoft.com/office/drawing/2018/hyperlinkcolor" val="tx"/>
                              </a:ext>
                            </a:extLst>
                          </a:hlinkClick>
                        </a:rPr>
                        <a:t>S Smith</a:t>
                      </a:r>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2008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The study provided key insights into the presence of pupil abnormalities in different types of inherited peripheral neuropathies. </a:t>
                      </a:r>
                      <a:endPar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Small and Uneven Sample Distribution</a:t>
                      </a:r>
                      <a:endPar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475024"/>
                  </a:ext>
                </a:extLst>
              </a:tr>
              <a:tr h="1132749">
                <a:tc>
                  <a:txBody>
                    <a:bodyPr/>
                    <a:lstStyle/>
                    <a:p>
                      <a:pPr algn="ctr"/>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Genes and Genetics in Eye Diseases: A Genomic Medicine Approach</a:t>
                      </a:r>
                      <a:endPar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Mahavir Singh, Suresh C Tyagi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2018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The research identifies specific genes responsible for various inherited eye disorders</a:t>
                      </a:r>
                      <a:endPar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Genetic testing and gene therapies are expensive, making them inaccessible to low-income</a:t>
                      </a:r>
                      <a:endPar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8089114"/>
                  </a:ext>
                </a:extLst>
              </a:tr>
              <a:tr h="1132749">
                <a:tc>
                  <a:txBody>
                    <a:bodyPr/>
                    <a:lstStyle/>
                    <a:p>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Genetic analysis of children with congenital ocular anomalies in three ecological regions of Nepal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Srijana Adhikari, Neelam Thakur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2020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identified unique genetic mutations associated with congenital ocular anomalies in the Nepalese population</a:t>
                      </a:r>
                      <a:endPar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The study focused only on a few known genes related to congenital ocular anomalies.</a:t>
                      </a:r>
                      <a:endPar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3345923"/>
                  </a:ext>
                </a:extLst>
              </a:tr>
              <a:tr h="1132749">
                <a:tc>
                  <a:txBody>
                    <a:bodyPr/>
                    <a:lstStyle/>
                    <a:p>
                      <a:pPr algn="ctr"/>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Pediatric Eye Disease—Screening, Causes, and Management</a:t>
                      </a:r>
                      <a:endPar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Guy L.J. Chen, Jason C.S. Yam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2021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The process involves early screening, genetic analysis, advanced imaging techniques, and artificial intelligence-based diagnostics for accurate detection</a:t>
                      </a:r>
                      <a:endPar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Screening programs are inaccessible in some regions.</a:t>
                      </a:r>
                      <a:endPar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79757530"/>
                  </a:ext>
                </a:extLst>
              </a:tr>
              <a:tr h="1132749">
                <a:tc>
                  <a:txBody>
                    <a:bodyPr/>
                    <a:lstStyle/>
                    <a:p>
                      <a:pPr algn="ctr"/>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Optical Coherence Tomography in Children with Inherited Retinal Diseases</a:t>
                      </a:r>
                      <a:endPar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Jasleen K. Jolly, Brent M. Rodda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By providing high-resolution images of retinal microstructures, OCT enables early diagnosis, tracks disease progression, and aids in treatment.</a:t>
                      </a:r>
                      <a:endPar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700" b="0" i="0" kern="1200" cap="none" baseline="0" dirty="0">
                          <a:solidFill>
                            <a:schemeClr val="tx1"/>
                          </a:solidFill>
                          <a:effectLst/>
                          <a:latin typeface="Times New Roman" panose="02020603050405020304" pitchFamily="18" charset="0"/>
                          <a:ea typeface="+mn-ea"/>
                          <a:cs typeface="Times New Roman" panose="02020603050405020304" pitchFamily="18" charset="0"/>
                        </a:rPr>
                        <a:t>Difficulty in imaging due to child movement.</a:t>
                      </a:r>
                      <a:endParaRPr lang="en-IN" sz="1700" b="0" i="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7278456"/>
                  </a:ext>
                </a:extLst>
              </a:tr>
            </a:tbl>
          </a:graphicData>
        </a:graphic>
      </p:graphicFrame>
      <p:sp>
        <p:nvSpPr>
          <p:cNvPr id="3" name="Footer Placeholder 2">
            <a:extLst>
              <a:ext uri="{FF2B5EF4-FFF2-40B4-BE49-F238E27FC236}">
                <a16:creationId xmlns:a16="http://schemas.microsoft.com/office/drawing/2014/main" id="{695DE385-8385-45B9-AD09-EB4B5E138D4F}"/>
              </a:ext>
            </a:extLst>
          </p:cNvPr>
          <p:cNvSpPr>
            <a:spLocks noGrp="1"/>
          </p:cNvSpPr>
          <p:nvPr>
            <p:ph type="ftr" sz="quarter" idx="11"/>
          </p:nvPr>
        </p:nvSpPr>
        <p:spPr>
          <a:xfrm>
            <a:off x="723207" y="5883275"/>
            <a:ext cx="6863454" cy="1653598"/>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78199EBC-2621-4B7D-6CE7-19F63BACB63B}"/>
              </a:ext>
            </a:extLst>
          </p:cNvPr>
          <p:cNvSpPr>
            <a:spLocks noGrp="1"/>
          </p:cNvSpPr>
          <p:nvPr>
            <p:ph type="sldNum" sz="quarter" idx="12"/>
          </p:nvPr>
        </p:nvSpPr>
        <p:spPr>
          <a:xfrm>
            <a:off x="10514011" y="5883275"/>
            <a:ext cx="1677989" cy="1653598"/>
          </a:xfrm>
        </p:spPr>
        <p:txBody>
          <a:bodyPr/>
          <a:lstStyle/>
          <a:p>
            <a:fld id="{D11D1588-8316-42EA-B695-F2D8B3238057}" type="slidenum">
              <a:rPr lang="en-IN" smtClean="0"/>
              <a:t>5</a:t>
            </a:fld>
            <a:endParaRPr lang="en-IN" dirty="0"/>
          </a:p>
        </p:txBody>
      </p:sp>
      <p:sp>
        <p:nvSpPr>
          <p:cNvPr id="6" name="Date Placeholder 5">
            <a:extLst>
              <a:ext uri="{FF2B5EF4-FFF2-40B4-BE49-F238E27FC236}">
                <a16:creationId xmlns:a16="http://schemas.microsoft.com/office/drawing/2014/main" id="{900E860A-7924-9AEF-D341-1044B2D3B70A}"/>
              </a:ext>
            </a:extLst>
          </p:cNvPr>
          <p:cNvSpPr>
            <a:spLocks noGrp="1"/>
          </p:cNvSpPr>
          <p:nvPr>
            <p:ph type="dt" sz="half" idx="10"/>
          </p:nvPr>
        </p:nvSpPr>
        <p:spPr>
          <a:xfrm>
            <a:off x="7678737" y="5883275"/>
            <a:ext cx="2743200" cy="1797685"/>
          </a:xfrm>
        </p:spPr>
        <p:txBody>
          <a:bodyPr/>
          <a:lstStyle/>
          <a:p>
            <a:r>
              <a:rPr lang="en-IN" dirty="0"/>
              <a:t>11-04-2025</a:t>
            </a:r>
          </a:p>
        </p:txBody>
      </p:sp>
    </p:spTree>
    <p:extLst>
      <p:ext uri="{BB962C8B-B14F-4D97-AF65-F5344CB8AC3E}">
        <p14:creationId xmlns:p14="http://schemas.microsoft.com/office/powerpoint/2010/main" val="3672191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DF276-1EB2-AF3B-5CD1-CDEB4B9C60A1}"/>
              </a:ext>
            </a:extLst>
          </p:cNvPr>
          <p:cNvSpPr>
            <a:spLocks noGrp="1"/>
          </p:cNvSpPr>
          <p:nvPr>
            <p:ph type="title"/>
          </p:nvPr>
        </p:nvSpPr>
        <p:spPr>
          <a:xfrm>
            <a:off x="1023241" y="526680"/>
            <a:ext cx="10364451" cy="704131"/>
          </a:xfrm>
        </p:spPr>
        <p:txBody>
          <a:bodyPr>
            <a:normAutofit/>
          </a:bodyPr>
          <a:lstStyle/>
          <a:p>
            <a:r>
              <a:rPr lang="en-IN" sz="2800"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60ECBCCA-3B0B-A5B6-A7E3-763517F6DA78}"/>
              </a:ext>
            </a:extLst>
          </p:cNvPr>
          <p:cNvSpPr>
            <a:spLocks noGrp="1"/>
          </p:cNvSpPr>
          <p:nvPr>
            <p:ph sz="quarter" idx="13"/>
          </p:nvPr>
        </p:nvSpPr>
        <p:spPr>
          <a:xfrm>
            <a:off x="706582" y="1449790"/>
            <a:ext cx="10814858" cy="5550450"/>
          </a:xfrm>
        </p:spPr>
        <p:txBody>
          <a:bodyPr>
            <a:normAutofit/>
          </a:bodyPr>
          <a:lstStyle/>
          <a:p>
            <a:pPr marL="0" indent="0" algn="just">
              <a:lnSpc>
                <a:spcPct val="100000"/>
              </a:lnSpc>
              <a:buNone/>
            </a:pPr>
            <a:r>
              <a:rPr lang="en-US" sz="1800" cap="none" dirty="0">
                <a:latin typeface="Times New Roman" panose="02020603050405020304" pitchFamily="18" charset="0"/>
                <a:cs typeface="Times New Roman" panose="02020603050405020304" pitchFamily="18" charset="0"/>
              </a:rPr>
              <a:t>	 The existing system for diagnosing Inherited Retinal Diseases (IRDs) primarily relies on a series of complex clinical tests, with electrophysiological testing being the most commonly used. These tests, though informative, are often invasive and require a specialized medical setting. The process can be challenging for pediatric patients, especially since these tests often require sedation. This can be problematic, as the procedure is expensive, time-consuming, and not always effective in detecting changes in visual function, particularly in young children.</a:t>
            </a:r>
          </a:p>
          <a:p>
            <a:pPr marL="0" indent="0" algn="just">
              <a:lnSpc>
                <a:spcPct val="100000"/>
              </a:lnSpc>
              <a:buNone/>
            </a:pPr>
            <a:endParaRPr lang="en-US" sz="1800" cap="none" dirty="0">
              <a:solidFill>
                <a:srgbClr val="333333"/>
              </a:solidFill>
              <a:latin typeface="Times New Roman" panose="02020603050405020304" pitchFamily="18" charset="0"/>
              <a:cs typeface="Times New Roman" panose="02020603050405020304" pitchFamily="18" charset="0"/>
            </a:endParaRPr>
          </a:p>
          <a:p>
            <a:pPr marL="0" indent="0" algn="just">
              <a:lnSpc>
                <a:spcPct val="100000"/>
              </a:lnSpc>
              <a:buNone/>
            </a:pPr>
            <a:r>
              <a:rPr lang="en-US" b="1" cap="none" dirty="0">
                <a:solidFill>
                  <a:srgbClr val="333333"/>
                </a:solidFill>
                <a:latin typeface="Times New Roman" panose="02020603050405020304" pitchFamily="18" charset="0"/>
                <a:cs typeface="Times New Roman" panose="02020603050405020304" pitchFamily="18" charset="0"/>
              </a:rPr>
              <a:t>DISADVANTAGES:</a:t>
            </a:r>
          </a:p>
          <a:p>
            <a:pPr algn="just">
              <a:lnSpc>
                <a:spcPct val="100000"/>
              </a:lnSpc>
              <a:buFont typeface="Wingdings" panose="05000000000000000000" pitchFamily="2" charset="2"/>
              <a:buChar char="§"/>
            </a:pPr>
            <a:r>
              <a:rPr lang="en-US" sz="1800" b="1" cap="none" dirty="0">
                <a:solidFill>
                  <a:srgbClr val="333333"/>
                </a:solidFill>
                <a:latin typeface="Times New Roman" panose="02020603050405020304" pitchFamily="18" charset="0"/>
                <a:cs typeface="Times New Roman" panose="02020603050405020304" pitchFamily="18" charset="0"/>
              </a:rPr>
              <a:t>Invasive tests </a:t>
            </a:r>
            <a:r>
              <a:rPr lang="en-US" sz="1800" cap="none" dirty="0">
                <a:latin typeface="Times New Roman" panose="02020603050405020304" pitchFamily="18" charset="0"/>
                <a:cs typeface="Times New Roman" panose="02020603050405020304" pitchFamily="18" charset="0"/>
              </a:rPr>
              <a:t>that may require sedation, which is not always suitable for children.</a:t>
            </a:r>
          </a:p>
          <a:p>
            <a:pPr algn="just">
              <a:lnSpc>
                <a:spcPct val="100000"/>
              </a:lnSpc>
              <a:buFont typeface="Wingdings" panose="05000000000000000000" pitchFamily="2" charset="2"/>
              <a:buChar char="§"/>
            </a:pPr>
            <a:r>
              <a:rPr lang="en-US" sz="1800" b="1" cap="none" dirty="0">
                <a:solidFill>
                  <a:srgbClr val="333333"/>
                </a:solidFill>
                <a:latin typeface="Times New Roman" panose="02020603050405020304" pitchFamily="18" charset="0"/>
                <a:cs typeface="Times New Roman" panose="02020603050405020304" pitchFamily="18" charset="0"/>
              </a:rPr>
              <a:t>High costs </a:t>
            </a:r>
            <a:r>
              <a:rPr lang="en-US" sz="1800" cap="none" dirty="0">
                <a:latin typeface="Times New Roman" panose="02020603050405020304" pitchFamily="18" charset="0"/>
                <a:cs typeface="Times New Roman" panose="02020603050405020304" pitchFamily="18" charset="0"/>
              </a:rPr>
              <a:t>due to specialized equipment and medical staff.</a:t>
            </a:r>
          </a:p>
          <a:p>
            <a:pPr algn="just">
              <a:lnSpc>
                <a:spcPct val="100000"/>
              </a:lnSpc>
              <a:buFont typeface="Wingdings" panose="05000000000000000000" pitchFamily="2" charset="2"/>
              <a:buChar char="§"/>
            </a:pPr>
            <a:r>
              <a:rPr lang="en-US" sz="1800" b="1" cap="none" dirty="0">
                <a:solidFill>
                  <a:srgbClr val="333333"/>
                </a:solidFill>
                <a:latin typeface="Times New Roman" panose="02020603050405020304" pitchFamily="18" charset="0"/>
                <a:cs typeface="Times New Roman" panose="02020603050405020304" pitchFamily="18" charset="0"/>
              </a:rPr>
              <a:t>Time-consuming </a:t>
            </a:r>
            <a:r>
              <a:rPr lang="en-US" sz="1800" cap="none" dirty="0">
                <a:latin typeface="Times New Roman" panose="02020603050405020304" pitchFamily="18" charset="0"/>
                <a:cs typeface="Times New Roman" panose="02020603050405020304" pitchFamily="18" charset="0"/>
              </a:rPr>
              <a:t>diagnosis process, requiring visits to specialized centers.</a:t>
            </a:r>
          </a:p>
          <a:p>
            <a:pPr algn="just">
              <a:lnSpc>
                <a:spcPct val="100000"/>
              </a:lnSpc>
              <a:buFont typeface="Wingdings" panose="05000000000000000000" pitchFamily="2" charset="2"/>
              <a:buChar char="§"/>
            </a:pPr>
            <a:r>
              <a:rPr lang="en-US" sz="1800" b="1" cap="none" dirty="0">
                <a:solidFill>
                  <a:srgbClr val="333333"/>
                </a:solidFill>
                <a:latin typeface="Times New Roman" panose="02020603050405020304" pitchFamily="18" charset="0"/>
                <a:cs typeface="Times New Roman" panose="02020603050405020304" pitchFamily="18" charset="0"/>
              </a:rPr>
              <a:t>Limited ability to monitor disease </a:t>
            </a:r>
            <a:r>
              <a:rPr lang="en-US" sz="1800" cap="none" dirty="0">
                <a:latin typeface="Times New Roman" panose="02020603050405020304" pitchFamily="18" charset="0"/>
                <a:cs typeface="Times New Roman" panose="02020603050405020304" pitchFamily="18" charset="0"/>
              </a:rPr>
              <a:t>progression effectively due to poor test reliability.</a:t>
            </a:r>
            <a:endParaRPr lang="en-IN" sz="1800" cap="none"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A760B6D-4F40-7453-D2BD-85B0D90EA176}"/>
              </a:ext>
            </a:extLst>
          </p:cNvPr>
          <p:cNvSpPr>
            <a:spLocks noGrp="1"/>
          </p:cNvSpPr>
          <p:nvPr>
            <p:ph type="ftr" sz="quarter" idx="11"/>
          </p:nvPr>
        </p:nvSpPr>
        <p:spPr>
          <a:xfrm>
            <a:off x="706582" y="5883275"/>
            <a:ext cx="6880079" cy="1612034"/>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00573303-2F68-4661-8332-F2B70789077A}"/>
              </a:ext>
            </a:extLst>
          </p:cNvPr>
          <p:cNvSpPr>
            <a:spLocks noGrp="1"/>
          </p:cNvSpPr>
          <p:nvPr>
            <p:ph type="sldNum" sz="quarter" idx="12"/>
          </p:nvPr>
        </p:nvSpPr>
        <p:spPr>
          <a:xfrm>
            <a:off x="10514011" y="6001789"/>
            <a:ext cx="1677989" cy="1493520"/>
          </a:xfrm>
        </p:spPr>
        <p:txBody>
          <a:bodyPr/>
          <a:lstStyle/>
          <a:p>
            <a:fld id="{D11D1588-8316-42EA-B695-F2D8B3238057}" type="slidenum">
              <a:rPr lang="en-IN" smtClean="0"/>
              <a:t>6</a:t>
            </a:fld>
            <a:endParaRPr lang="en-IN" dirty="0"/>
          </a:p>
        </p:txBody>
      </p:sp>
      <p:sp>
        <p:nvSpPr>
          <p:cNvPr id="6" name="Date Placeholder 5">
            <a:extLst>
              <a:ext uri="{FF2B5EF4-FFF2-40B4-BE49-F238E27FC236}">
                <a16:creationId xmlns:a16="http://schemas.microsoft.com/office/drawing/2014/main" id="{14C423F5-2CD7-DD54-1721-56B3ED678841}"/>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380053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3AEB7-39E2-1556-127F-32F1543C7121}"/>
              </a:ext>
            </a:extLst>
          </p:cNvPr>
          <p:cNvSpPr>
            <a:spLocks noGrp="1"/>
          </p:cNvSpPr>
          <p:nvPr>
            <p:ph type="title"/>
          </p:nvPr>
        </p:nvSpPr>
        <p:spPr>
          <a:xfrm>
            <a:off x="913774" y="548641"/>
            <a:ext cx="10364451" cy="853440"/>
          </a:xfrm>
        </p:spPr>
        <p:txBody>
          <a:bodyPr>
            <a:normAutofit/>
          </a:bodyPr>
          <a:lstStyle/>
          <a:p>
            <a:r>
              <a:rPr lang="en-IN" sz="2800"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D8455106-0A16-1A7E-060D-0B24FC6D5F7A}"/>
              </a:ext>
            </a:extLst>
          </p:cNvPr>
          <p:cNvSpPr>
            <a:spLocks noGrp="1"/>
          </p:cNvSpPr>
          <p:nvPr>
            <p:ph sz="quarter" idx="13"/>
          </p:nvPr>
        </p:nvSpPr>
        <p:spPr>
          <a:xfrm>
            <a:off x="714895" y="1599850"/>
            <a:ext cx="10823170" cy="5489210"/>
          </a:xfrm>
        </p:spPr>
        <p:txBody>
          <a:bodyPr>
            <a:normAutofit/>
          </a:bodyPr>
          <a:lstStyle/>
          <a:p>
            <a:pPr marL="0" indent="0" algn="just">
              <a:lnSpc>
                <a:spcPct val="100000"/>
              </a:lnSpc>
              <a:buNone/>
            </a:pPr>
            <a:r>
              <a:rPr lang="en-US" cap="none" dirty="0">
                <a:solidFill>
                  <a:srgbClr val="333333"/>
                </a:solidFill>
                <a:latin typeface="Times New Roman" panose="02020603050405020304" pitchFamily="18" charset="0"/>
                <a:cs typeface="Times New Roman" panose="02020603050405020304" pitchFamily="18" charset="0"/>
              </a:rPr>
              <a:t>	</a:t>
            </a:r>
            <a:r>
              <a:rPr lang="en-US" sz="1800" cap="none" dirty="0">
                <a:latin typeface="Times New Roman" panose="02020603050405020304" pitchFamily="18" charset="0"/>
                <a:cs typeface="Times New Roman" panose="02020603050405020304" pitchFamily="18" charset="0"/>
              </a:rPr>
              <a:t>The proposed system uses Chromatic Pupillometry combined with Machine Learning to diagnose Inherited Retinal Diseases (IRDs) in children. This system utilizes a pupillometer to collect non-invasive pupillary response data, which is then analyzed using Support Vector Machines (SVMs) to classify the disease. The goal of this system is to provide a faster, easier, and more efficient way to diagnose IRDs, without the need for invasive procedures or sedation, making it particularly suitable for pediatric patients.</a:t>
            </a:r>
          </a:p>
          <a:p>
            <a:pPr marL="0" indent="0" algn="just">
              <a:lnSpc>
                <a:spcPct val="100000"/>
              </a:lnSpc>
              <a:buNone/>
            </a:pPr>
            <a:endParaRPr lang="en-US" sz="1800" cap="none" dirty="0">
              <a:solidFill>
                <a:srgbClr val="333333"/>
              </a:solidFill>
              <a:latin typeface="Times New Roman" panose="02020603050405020304" pitchFamily="18" charset="0"/>
              <a:cs typeface="Times New Roman" panose="02020603050405020304" pitchFamily="18" charset="0"/>
            </a:endParaRPr>
          </a:p>
          <a:p>
            <a:pPr marL="0" indent="0" algn="just">
              <a:lnSpc>
                <a:spcPct val="100000"/>
              </a:lnSpc>
              <a:buNone/>
            </a:pPr>
            <a:r>
              <a:rPr lang="en-IN" b="1" cap="none" dirty="0">
                <a:solidFill>
                  <a:srgbClr val="333333"/>
                </a:solidFill>
                <a:latin typeface="Times New Roman" panose="02020603050405020304" pitchFamily="18" charset="0"/>
                <a:cs typeface="Times New Roman" panose="02020603050405020304" pitchFamily="18" charset="0"/>
              </a:rPr>
              <a:t>ADVANTAGES:</a:t>
            </a:r>
          </a:p>
          <a:p>
            <a:pPr algn="just">
              <a:lnSpc>
                <a:spcPct val="100000"/>
              </a:lnSpc>
              <a:buFont typeface="Wingdings" panose="05000000000000000000" pitchFamily="2" charset="2"/>
              <a:buChar char="§"/>
            </a:pPr>
            <a:r>
              <a:rPr lang="en-US" sz="1800" b="1" cap="none" dirty="0">
                <a:solidFill>
                  <a:srgbClr val="333333"/>
                </a:solidFill>
                <a:latin typeface="Times New Roman" panose="02020603050405020304" pitchFamily="18" charset="0"/>
                <a:cs typeface="Times New Roman" panose="02020603050405020304" pitchFamily="18" charset="0"/>
              </a:rPr>
              <a:t>Non-invasive</a:t>
            </a:r>
            <a:r>
              <a:rPr lang="en-US" sz="1800" cap="none" dirty="0">
                <a:solidFill>
                  <a:srgbClr val="333333"/>
                </a:solidFill>
                <a:latin typeface="Times New Roman" panose="02020603050405020304" pitchFamily="18" charset="0"/>
                <a:cs typeface="Times New Roman" panose="02020603050405020304" pitchFamily="18" charset="0"/>
              </a:rPr>
              <a:t> method that eliminates the need for sedation or other invasive tests.</a:t>
            </a:r>
          </a:p>
          <a:p>
            <a:pPr algn="just">
              <a:lnSpc>
                <a:spcPct val="100000"/>
              </a:lnSpc>
              <a:buFont typeface="Wingdings" panose="05000000000000000000" pitchFamily="2" charset="2"/>
              <a:buChar char="§"/>
            </a:pPr>
            <a:r>
              <a:rPr lang="en-US" sz="1800" b="1" cap="none" dirty="0">
                <a:solidFill>
                  <a:srgbClr val="333333"/>
                </a:solidFill>
                <a:latin typeface="Times New Roman" panose="02020603050405020304" pitchFamily="18" charset="0"/>
                <a:cs typeface="Times New Roman" panose="02020603050405020304" pitchFamily="18" charset="0"/>
              </a:rPr>
              <a:t>Faster diagnosis </a:t>
            </a:r>
            <a:r>
              <a:rPr lang="en-US" sz="1800" cap="none" dirty="0">
                <a:solidFill>
                  <a:srgbClr val="333333"/>
                </a:solidFill>
                <a:latin typeface="Times New Roman" panose="02020603050405020304" pitchFamily="18" charset="0"/>
                <a:cs typeface="Times New Roman" panose="02020603050405020304" pitchFamily="18" charset="0"/>
              </a:rPr>
              <a:t>with the ability to quickly analyze data using Machine Learning.</a:t>
            </a:r>
          </a:p>
          <a:p>
            <a:pPr algn="just">
              <a:lnSpc>
                <a:spcPct val="100000"/>
              </a:lnSpc>
              <a:buFont typeface="Wingdings" panose="05000000000000000000" pitchFamily="2" charset="2"/>
              <a:buChar char="§"/>
            </a:pPr>
            <a:r>
              <a:rPr lang="en-US" sz="1800" b="1" cap="none" dirty="0">
                <a:solidFill>
                  <a:srgbClr val="333333"/>
                </a:solidFill>
                <a:latin typeface="Times New Roman" panose="02020603050405020304" pitchFamily="18" charset="0"/>
                <a:cs typeface="Times New Roman" panose="02020603050405020304" pitchFamily="18" charset="0"/>
              </a:rPr>
              <a:t>Cost-effective</a:t>
            </a:r>
            <a:r>
              <a:rPr lang="en-US" sz="1800" cap="none" dirty="0">
                <a:solidFill>
                  <a:srgbClr val="333333"/>
                </a:solidFill>
                <a:latin typeface="Times New Roman" panose="02020603050405020304" pitchFamily="18" charset="0"/>
                <a:cs typeface="Times New Roman" panose="02020603050405020304" pitchFamily="18" charset="0"/>
              </a:rPr>
              <a:t>, reducing the need for specialized equipment and complex procedures.</a:t>
            </a:r>
          </a:p>
          <a:p>
            <a:pPr algn="just">
              <a:lnSpc>
                <a:spcPct val="100000"/>
              </a:lnSpc>
              <a:buFont typeface="Wingdings" panose="05000000000000000000" pitchFamily="2" charset="2"/>
              <a:buChar char="§"/>
            </a:pPr>
            <a:r>
              <a:rPr lang="en-US" sz="1800" b="1" cap="none" dirty="0">
                <a:solidFill>
                  <a:srgbClr val="333333"/>
                </a:solidFill>
                <a:latin typeface="Times New Roman" panose="02020603050405020304" pitchFamily="18" charset="0"/>
                <a:cs typeface="Times New Roman" panose="02020603050405020304" pitchFamily="18" charset="0"/>
              </a:rPr>
              <a:t>Easy monitoring </a:t>
            </a:r>
            <a:r>
              <a:rPr lang="en-US" sz="1800" cap="none" dirty="0">
                <a:solidFill>
                  <a:srgbClr val="333333"/>
                </a:solidFill>
                <a:latin typeface="Times New Roman" panose="02020603050405020304" pitchFamily="18" charset="0"/>
                <a:cs typeface="Times New Roman" panose="02020603050405020304" pitchFamily="18" charset="0"/>
              </a:rPr>
              <a:t>of disease progression and treatment effectiveness through repeated pupillometry tests.</a:t>
            </a:r>
            <a:endParaRPr lang="en-IN" sz="1800" cap="none" dirty="0">
              <a:solidFill>
                <a:srgbClr val="333333"/>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490CF06-F5C6-84A8-39F7-C3C3C1C27DDC}"/>
              </a:ext>
            </a:extLst>
          </p:cNvPr>
          <p:cNvSpPr>
            <a:spLocks noGrp="1"/>
          </p:cNvSpPr>
          <p:nvPr>
            <p:ph type="ftr" sz="quarter" idx="11"/>
          </p:nvPr>
        </p:nvSpPr>
        <p:spPr>
          <a:xfrm>
            <a:off x="714896" y="5883275"/>
            <a:ext cx="6871766" cy="1570470"/>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567CE02A-034E-E551-CD8F-D98F37A74A36}"/>
              </a:ext>
            </a:extLst>
          </p:cNvPr>
          <p:cNvSpPr>
            <a:spLocks noGrp="1"/>
          </p:cNvSpPr>
          <p:nvPr>
            <p:ph type="sldNum" sz="quarter" idx="12"/>
          </p:nvPr>
        </p:nvSpPr>
        <p:spPr>
          <a:xfrm>
            <a:off x="10514011" y="5883275"/>
            <a:ext cx="1677989" cy="1688234"/>
          </a:xfrm>
        </p:spPr>
        <p:txBody>
          <a:bodyPr/>
          <a:lstStyle/>
          <a:p>
            <a:fld id="{D11D1588-8316-42EA-B695-F2D8B3238057}" type="slidenum">
              <a:rPr lang="en-IN" smtClean="0"/>
              <a:t>7</a:t>
            </a:fld>
            <a:endParaRPr lang="en-IN" dirty="0"/>
          </a:p>
        </p:txBody>
      </p:sp>
      <p:sp>
        <p:nvSpPr>
          <p:cNvPr id="6" name="Date Placeholder 5">
            <a:extLst>
              <a:ext uri="{FF2B5EF4-FFF2-40B4-BE49-F238E27FC236}">
                <a16:creationId xmlns:a16="http://schemas.microsoft.com/office/drawing/2014/main" id="{1CBE6FD1-3E41-A661-413E-8E81CE4A2F0C}"/>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204140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54A55-63C5-0658-7A5B-83CD223E8000}"/>
              </a:ext>
            </a:extLst>
          </p:cNvPr>
          <p:cNvSpPr>
            <a:spLocks noGrp="1"/>
          </p:cNvSpPr>
          <p:nvPr>
            <p:ph type="title"/>
          </p:nvPr>
        </p:nvSpPr>
        <p:spPr>
          <a:xfrm>
            <a:off x="913774" y="353306"/>
            <a:ext cx="10364451" cy="940525"/>
          </a:xfrm>
        </p:spPr>
        <p:txBody>
          <a:bodyPr>
            <a:normAutofit/>
          </a:bodyPr>
          <a:lstStyle/>
          <a:p>
            <a:r>
              <a:rPr lang="en-IN" sz="2800" dirty="0">
                <a:latin typeface="Times New Roman" panose="02020603050405020304" pitchFamily="18" charset="0"/>
                <a:cs typeface="Times New Roman" panose="02020603050405020304" pitchFamily="18" charset="0"/>
              </a:rPr>
              <a:t>REQUIREMENTS</a:t>
            </a:r>
          </a:p>
        </p:txBody>
      </p:sp>
      <p:sp>
        <p:nvSpPr>
          <p:cNvPr id="3" name="Content Placeholder 2">
            <a:extLst>
              <a:ext uri="{FF2B5EF4-FFF2-40B4-BE49-F238E27FC236}">
                <a16:creationId xmlns:a16="http://schemas.microsoft.com/office/drawing/2014/main" id="{5CD636D8-B7A2-9C07-26AD-A06B10970C0C}"/>
              </a:ext>
            </a:extLst>
          </p:cNvPr>
          <p:cNvSpPr>
            <a:spLocks noGrp="1"/>
          </p:cNvSpPr>
          <p:nvPr>
            <p:ph sz="quarter" idx="13"/>
          </p:nvPr>
        </p:nvSpPr>
        <p:spPr>
          <a:xfrm>
            <a:off x="723207" y="1613005"/>
            <a:ext cx="10636299" cy="4891689"/>
          </a:xfrm>
        </p:spPr>
        <p:txBody>
          <a:bodyPr>
            <a:normAutofit/>
          </a:bodyPr>
          <a:lstStyle/>
          <a:p>
            <a:pPr algn="just">
              <a:lnSpc>
                <a:spcPct val="10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HARDWARE REQUIREMENTS:</a:t>
            </a:r>
          </a:p>
          <a:p>
            <a:pPr marL="0" indent="0" algn="just">
              <a:lnSpc>
                <a:spcPct val="100000"/>
              </a:lnSpc>
              <a:buNone/>
            </a:pPr>
            <a:r>
              <a:rPr lang="en-IN" sz="1800" cap="none" dirty="0">
                <a:solidFill>
                  <a:srgbClr val="333333"/>
                </a:solidFill>
                <a:latin typeface="Times New Roman" panose="02020603050405020304" pitchFamily="18" charset="0"/>
                <a:cs typeface="Times New Roman" panose="02020603050405020304" pitchFamily="18" charset="0"/>
              </a:rPr>
              <a:t>    </a:t>
            </a:r>
            <a:r>
              <a:rPr lang="en-IN" sz="1800" b="1" cap="none" dirty="0">
                <a:solidFill>
                  <a:srgbClr val="333333"/>
                </a:solidFill>
                <a:latin typeface="Times New Roman" panose="02020603050405020304" pitchFamily="18" charset="0"/>
                <a:cs typeface="Times New Roman" panose="02020603050405020304" pitchFamily="18" charset="0"/>
              </a:rPr>
              <a:t>Operating System  </a:t>
            </a:r>
            <a:r>
              <a:rPr lang="en-IN" sz="1800" cap="none" dirty="0">
                <a:solidFill>
                  <a:srgbClr val="333333"/>
                </a:solidFill>
                <a:latin typeface="Times New Roman" panose="02020603050405020304" pitchFamily="18" charset="0"/>
                <a:cs typeface="Times New Roman" panose="02020603050405020304" pitchFamily="18" charset="0"/>
              </a:rPr>
              <a:t>: Windows</a:t>
            </a:r>
          </a:p>
          <a:p>
            <a:pPr marL="0" indent="0" algn="just">
              <a:lnSpc>
                <a:spcPct val="100000"/>
              </a:lnSpc>
              <a:buNone/>
            </a:pPr>
            <a:r>
              <a:rPr lang="en-IN" sz="1800" cap="none" dirty="0">
                <a:solidFill>
                  <a:srgbClr val="333333"/>
                </a:solidFill>
                <a:latin typeface="Times New Roman" panose="02020603050405020304" pitchFamily="18" charset="0"/>
                <a:cs typeface="Times New Roman" panose="02020603050405020304" pitchFamily="18" charset="0"/>
              </a:rPr>
              <a:t>   </a:t>
            </a:r>
            <a:r>
              <a:rPr lang="en-IN" sz="1800" b="1" cap="none" dirty="0">
                <a:solidFill>
                  <a:srgbClr val="333333"/>
                </a:solidFill>
                <a:latin typeface="Times New Roman" panose="02020603050405020304" pitchFamily="18" charset="0"/>
                <a:cs typeface="Times New Roman" panose="02020603050405020304" pitchFamily="18" charset="0"/>
              </a:rPr>
              <a:t> Processor                </a:t>
            </a:r>
            <a:r>
              <a:rPr lang="en-IN" sz="1800" cap="none" dirty="0">
                <a:solidFill>
                  <a:srgbClr val="333333"/>
                </a:solidFill>
                <a:latin typeface="Times New Roman" panose="02020603050405020304" pitchFamily="18" charset="0"/>
                <a:cs typeface="Times New Roman" panose="02020603050405020304" pitchFamily="18" charset="0"/>
              </a:rPr>
              <a:t>:  i3 and above</a:t>
            </a:r>
          </a:p>
          <a:p>
            <a:pPr marL="0" indent="0" algn="just">
              <a:lnSpc>
                <a:spcPct val="100000"/>
              </a:lnSpc>
              <a:buNone/>
            </a:pPr>
            <a:r>
              <a:rPr lang="en-IN" sz="1800" cap="none" dirty="0">
                <a:solidFill>
                  <a:srgbClr val="333333"/>
                </a:solidFill>
                <a:latin typeface="Times New Roman" panose="02020603050405020304" pitchFamily="18" charset="0"/>
                <a:cs typeface="Times New Roman" panose="02020603050405020304" pitchFamily="18" charset="0"/>
              </a:rPr>
              <a:t>   </a:t>
            </a:r>
            <a:r>
              <a:rPr lang="en-IN" sz="1800" b="1" cap="none" dirty="0">
                <a:solidFill>
                  <a:srgbClr val="333333"/>
                </a:solidFill>
                <a:latin typeface="Times New Roman" panose="02020603050405020304" pitchFamily="18" charset="0"/>
                <a:cs typeface="Times New Roman" panose="02020603050405020304" pitchFamily="18" charset="0"/>
              </a:rPr>
              <a:t> RAM                       </a:t>
            </a:r>
            <a:r>
              <a:rPr lang="en-IN" sz="1800" cap="none" dirty="0">
                <a:solidFill>
                  <a:srgbClr val="333333"/>
                </a:solidFill>
                <a:latin typeface="Times New Roman" panose="02020603050405020304" pitchFamily="18" charset="0"/>
                <a:cs typeface="Times New Roman" panose="02020603050405020304" pitchFamily="18" charset="0"/>
              </a:rPr>
              <a:t>: 4GB and above</a:t>
            </a:r>
          </a:p>
          <a:p>
            <a:pPr marL="0" indent="0" algn="just">
              <a:lnSpc>
                <a:spcPct val="100000"/>
              </a:lnSpc>
              <a:buNone/>
            </a:pPr>
            <a:r>
              <a:rPr lang="en-IN" sz="1800" cap="none" dirty="0">
                <a:solidFill>
                  <a:srgbClr val="333333"/>
                </a:solidFill>
                <a:latin typeface="Times New Roman" panose="02020603050405020304" pitchFamily="18" charset="0"/>
                <a:cs typeface="Times New Roman" panose="02020603050405020304" pitchFamily="18" charset="0"/>
              </a:rPr>
              <a:t>    </a:t>
            </a:r>
            <a:r>
              <a:rPr lang="en-IN" sz="1800" b="1" cap="none" dirty="0">
                <a:solidFill>
                  <a:srgbClr val="333333"/>
                </a:solidFill>
                <a:latin typeface="Times New Roman" panose="02020603050405020304" pitchFamily="18" charset="0"/>
                <a:cs typeface="Times New Roman" panose="02020603050405020304" pitchFamily="18" charset="0"/>
              </a:rPr>
              <a:t>Hard Disk               </a:t>
            </a:r>
            <a:r>
              <a:rPr lang="en-IN" sz="1800" cap="none" dirty="0">
                <a:solidFill>
                  <a:srgbClr val="333333"/>
                </a:solidFill>
                <a:latin typeface="Times New Roman" panose="02020603050405020304" pitchFamily="18" charset="0"/>
                <a:cs typeface="Times New Roman" panose="02020603050405020304" pitchFamily="18" charset="0"/>
              </a:rPr>
              <a:t>: 20GB and above</a:t>
            </a:r>
          </a:p>
          <a:p>
            <a:pPr marL="0" indent="0" algn="just">
              <a:lnSpc>
                <a:spcPct val="100000"/>
              </a:lnSpc>
              <a:buNone/>
            </a:pPr>
            <a:endParaRPr lang="en-IN" sz="1800" cap="none" dirty="0">
              <a:solidFill>
                <a:srgbClr val="333333"/>
              </a:solidFill>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Software requirements:</a:t>
            </a:r>
          </a:p>
          <a:p>
            <a:pPr marL="0" indent="0" algn="just">
              <a:lnSpc>
                <a:spcPct val="100000"/>
              </a:lnSpc>
              <a:buNone/>
            </a:pPr>
            <a:r>
              <a:rPr lang="en-IN" dirty="0"/>
              <a:t>    </a:t>
            </a:r>
            <a:r>
              <a:rPr lang="en-IN" sz="1800" cap="none" dirty="0">
                <a:solidFill>
                  <a:srgbClr val="333333"/>
                </a:solidFill>
                <a:latin typeface="Times New Roman" panose="02020603050405020304" pitchFamily="18" charset="0"/>
                <a:cs typeface="Times New Roman" panose="02020603050405020304" pitchFamily="18" charset="0"/>
              </a:rPr>
              <a:t>Python IDEL  (Python 3.7)</a:t>
            </a:r>
          </a:p>
          <a:p>
            <a:pPr marL="0" indent="0" algn="just">
              <a:lnSpc>
                <a:spcPct val="100000"/>
              </a:lnSpc>
              <a:buNone/>
            </a:pPr>
            <a:r>
              <a:rPr lang="en-IN" dirty="0"/>
              <a:t>    </a:t>
            </a:r>
          </a:p>
        </p:txBody>
      </p:sp>
      <p:sp>
        <p:nvSpPr>
          <p:cNvPr id="4" name="Footer Placeholder 3">
            <a:extLst>
              <a:ext uri="{FF2B5EF4-FFF2-40B4-BE49-F238E27FC236}">
                <a16:creationId xmlns:a16="http://schemas.microsoft.com/office/drawing/2014/main" id="{C70DCD8C-C785-B556-F13C-606C1AB6EAB1}"/>
              </a:ext>
            </a:extLst>
          </p:cNvPr>
          <p:cNvSpPr>
            <a:spLocks noGrp="1"/>
          </p:cNvSpPr>
          <p:nvPr>
            <p:ph type="ftr" sz="quarter" idx="11"/>
          </p:nvPr>
        </p:nvSpPr>
        <p:spPr>
          <a:xfrm>
            <a:off x="723208" y="5883275"/>
            <a:ext cx="6863454" cy="1653598"/>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B31E18EF-AB9D-65DC-F094-AD288B16914C}"/>
              </a:ext>
            </a:extLst>
          </p:cNvPr>
          <p:cNvSpPr>
            <a:spLocks noGrp="1"/>
          </p:cNvSpPr>
          <p:nvPr>
            <p:ph type="sldNum" sz="quarter" idx="12"/>
          </p:nvPr>
        </p:nvSpPr>
        <p:spPr>
          <a:xfrm>
            <a:off x="10514011" y="5883275"/>
            <a:ext cx="1677989" cy="1591252"/>
          </a:xfrm>
        </p:spPr>
        <p:txBody>
          <a:bodyPr/>
          <a:lstStyle/>
          <a:p>
            <a:fld id="{D11D1588-8316-42EA-B695-F2D8B3238057}" type="slidenum">
              <a:rPr lang="en-IN" smtClean="0"/>
              <a:t>8</a:t>
            </a:fld>
            <a:endParaRPr lang="en-IN" dirty="0"/>
          </a:p>
        </p:txBody>
      </p:sp>
      <p:sp>
        <p:nvSpPr>
          <p:cNvPr id="6" name="Date Placeholder 5">
            <a:extLst>
              <a:ext uri="{FF2B5EF4-FFF2-40B4-BE49-F238E27FC236}">
                <a16:creationId xmlns:a16="http://schemas.microsoft.com/office/drawing/2014/main" id="{5B1B91DA-E8B7-8C15-3A02-EC314016A1D5}"/>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2138168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E82DA-4638-C399-C40F-9AC3E685A7DE}"/>
              </a:ext>
            </a:extLst>
          </p:cNvPr>
          <p:cNvSpPr>
            <a:spLocks noGrp="1"/>
          </p:cNvSpPr>
          <p:nvPr>
            <p:ph type="title"/>
          </p:nvPr>
        </p:nvSpPr>
        <p:spPr>
          <a:xfrm>
            <a:off x="913149" y="0"/>
            <a:ext cx="10364451" cy="1596177"/>
          </a:xfrm>
        </p:spPr>
        <p:txBody>
          <a:bodyPr>
            <a:normAutofit/>
          </a:bodyPr>
          <a:lstStyle/>
          <a:p>
            <a:r>
              <a:rPr lang="en-IN" sz="2800" dirty="0">
                <a:latin typeface="Times New Roman" panose="02020603050405020304" pitchFamily="18" charset="0"/>
                <a:cs typeface="Times New Roman" panose="02020603050405020304" pitchFamily="18" charset="0"/>
              </a:rPr>
              <a:t>Feasibility Study</a:t>
            </a:r>
          </a:p>
        </p:txBody>
      </p:sp>
      <p:sp>
        <p:nvSpPr>
          <p:cNvPr id="3" name="Content Placeholder 2">
            <a:extLst>
              <a:ext uri="{FF2B5EF4-FFF2-40B4-BE49-F238E27FC236}">
                <a16:creationId xmlns:a16="http://schemas.microsoft.com/office/drawing/2014/main" id="{03A053C1-B5B4-94E9-46D4-9218C3AD7063}"/>
              </a:ext>
            </a:extLst>
          </p:cNvPr>
          <p:cNvSpPr>
            <a:spLocks noGrp="1"/>
          </p:cNvSpPr>
          <p:nvPr>
            <p:ph sz="quarter" idx="13"/>
          </p:nvPr>
        </p:nvSpPr>
        <p:spPr>
          <a:xfrm>
            <a:off x="698268" y="1393699"/>
            <a:ext cx="10796087" cy="5134920"/>
          </a:xfrm>
        </p:spPr>
        <p:txBody>
          <a:bodyPr>
            <a:normAutofit fontScale="92500" lnSpcReduction="20000"/>
          </a:bodyPr>
          <a:lstStyle/>
          <a:p>
            <a:pPr marL="0" indent="0" algn="just">
              <a:buNone/>
            </a:pPr>
            <a:r>
              <a:rPr lang="en-IN" sz="2200" b="1" cap="none" dirty="0">
                <a:solidFill>
                  <a:srgbClr val="333333"/>
                </a:solidFill>
                <a:latin typeface="Times New Roman" panose="02020603050405020304" pitchFamily="18" charset="0"/>
                <a:cs typeface="Times New Roman" panose="02020603050405020304" pitchFamily="18" charset="0"/>
              </a:rPr>
              <a:t>1. Technical Feasibility:</a:t>
            </a:r>
          </a:p>
          <a:p>
            <a:pPr lvl="1" algn="just"/>
            <a:r>
              <a:rPr lang="en-US" sz="1900" b="1" cap="none" dirty="0">
                <a:solidFill>
                  <a:srgbClr val="333333"/>
                </a:solidFill>
                <a:latin typeface="Times New Roman" panose="02020603050405020304" pitchFamily="18" charset="0"/>
                <a:cs typeface="Times New Roman" panose="02020603050405020304" pitchFamily="18" charset="0"/>
              </a:rPr>
              <a:t>Data</a:t>
            </a:r>
            <a:r>
              <a:rPr lang="en-US" sz="1900" cap="none" dirty="0">
                <a:solidFill>
                  <a:srgbClr val="333333"/>
                </a:solidFill>
                <a:latin typeface="Times New Roman" panose="02020603050405020304" pitchFamily="18" charset="0"/>
                <a:cs typeface="Times New Roman" panose="02020603050405020304" pitchFamily="18" charset="0"/>
              </a:rPr>
              <a:t> </a:t>
            </a:r>
            <a:r>
              <a:rPr lang="en-US" sz="1900" b="1" cap="none" dirty="0">
                <a:solidFill>
                  <a:srgbClr val="333333"/>
                </a:solidFill>
                <a:latin typeface="Times New Roman" panose="02020603050405020304" pitchFamily="18" charset="0"/>
                <a:cs typeface="Times New Roman" panose="02020603050405020304" pitchFamily="18" charset="0"/>
              </a:rPr>
              <a:t>collection</a:t>
            </a:r>
            <a:r>
              <a:rPr lang="en-US" sz="1900" cap="none" dirty="0">
                <a:solidFill>
                  <a:srgbClr val="333333"/>
                </a:solidFill>
                <a:latin typeface="Times New Roman" panose="02020603050405020304" pitchFamily="18" charset="0"/>
                <a:cs typeface="Times New Roman" panose="02020603050405020304" pitchFamily="18" charset="0"/>
              </a:rPr>
              <a:t>: uses chromatic pupillometry for accurate data acquisition.</a:t>
            </a:r>
          </a:p>
          <a:p>
            <a:pPr lvl="1" algn="just"/>
            <a:r>
              <a:rPr lang="en-US" sz="1900" b="1" cap="none" dirty="0">
                <a:solidFill>
                  <a:srgbClr val="333333"/>
                </a:solidFill>
                <a:latin typeface="Times New Roman" panose="02020603050405020304" pitchFamily="18" charset="0"/>
                <a:cs typeface="Times New Roman" panose="02020603050405020304" pitchFamily="18" charset="0"/>
              </a:rPr>
              <a:t>Algorithms</a:t>
            </a:r>
            <a:r>
              <a:rPr lang="en-US" sz="1900" cap="none" dirty="0">
                <a:solidFill>
                  <a:srgbClr val="333333"/>
                </a:solidFill>
                <a:latin typeface="Times New Roman" panose="02020603050405020304" pitchFamily="18" charset="0"/>
                <a:cs typeface="Times New Roman" panose="02020603050405020304" pitchFamily="18" charset="0"/>
              </a:rPr>
              <a:t>: applies machine learning (</a:t>
            </a:r>
            <a:r>
              <a:rPr lang="en-US" sz="1900" cap="none" dirty="0" err="1">
                <a:solidFill>
                  <a:srgbClr val="333333"/>
                </a:solidFill>
                <a:latin typeface="Times New Roman" panose="02020603050405020304" pitchFamily="18" charset="0"/>
                <a:cs typeface="Times New Roman" panose="02020603050405020304" pitchFamily="18" charset="0"/>
              </a:rPr>
              <a:t>svms</a:t>
            </a:r>
            <a:r>
              <a:rPr lang="en-US" sz="1900" cap="none" dirty="0">
                <a:solidFill>
                  <a:srgbClr val="333333"/>
                </a:solidFill>
                <a:latin typeface="Times New Roman" panose="02020603050405020304" pitchFamily="18" charset="0"/>
                <a:cs typeface="Times New Roman" panose="02020603050405020304" pitchFamily="18" charset="0"/>
              </a:rPr>
              <a:t>, </a:t>
            </a:r>
            <a:r>
              <a:rPr lang="en-US" sz="1900" cap="none" dirty="0" err="1">
                <a:solidFill>
                  <a:srgbClr val="333333"/>
                </a:solidFill>
                <a:latin typeface="Times New Roman" panose="02020603050405020304" pitchFamily="18" charset="0"/>
                <a:cs typeface="Times New Roman" panose="02020603050405020304" pitchFamily="18" charset="0"/>
              </a:rPr>
              <a:t>bilstm</a:t>
            </a:r>
            <a:r>
              <a:rPr lang="en-US" sz="1900" cap="none" dirty="0">
                <a:solidFill>
                  <a:srgbClr val="333333"/>
                </a:solidFill>
                <a:latin typeface="Times New Roman" panose="02020603050405020304" pitchFamily="18" charset="0"/>
                <a:cs typeface="Times New Roman" panose="02020603050405020304" pitchFamily="18" charset="0"/>
              </a:rPr>
              <a:t>) for analysis and classification.</a:t>
            </a:r>
          </a:p>
          <a:p>
            <a:pPr lvl="1" algn="just"/>
            <a:r>
              <a:rPr lang="en-US" sz="1900" b="1" cap="none" dirty="0">
                <a:solidFill>
                  <a:srgbClr val="333333"/>
                </a:solidFill>
                <a:latin typeface="Times New Roman" panose="02020603050405020304" pitchFamily="18" charset="0"/>
                <a:cs typeface="Times New Roman" panose="02020603050405020304" pitchFamily="18" charset="0"/>
              </a:rPr>
              <a:t>System integration</a:t>
            </a:r>
            <a:r>
              <a:rPr lang="en-US" sz="1900" cap="none" dirty="0">
                <a:solidFill>
                  <a:srgbClr val="333333"/>
                </a:solidFill>
                <a:latin typeface="Times New Roman" panose="02020603050405020304" pitchFamily="18" charset="0"/>
                <a:cs typeface="Times New Roman" panose="02020603050405020304" pitchFamily="18" charset="0"/>
              </a:rPr>
              <a:t>: combines hardware (pupillometer) with software for disease detection.</a:t>
            </a:r>
            <a:endParaRPr lang="en-IN" sz="1900" cap="none" dirty="0">
              <a:solidFill>
                <a:srgbClr val="333333"/>
              </a:solidFill>
              <a:latin typeface="Times New Roman" panose="02020603050405020304" pitchFamily="18" charset="0"/>
              <a:cs typeface="Times New Roman" panose="02020603050405020304" pitchFamily="18" charset="0"/>
            </a:endParaRPr>
          </a:p>
          <a:p>
            <a:pPr marL="0" indent="0" algn="just">
              <a:buNone/>
            </a:pPr>
            <a:r>
              <a:rPr lang="en-IN" sz="2200" b="1" cap="none" dirty="0">
                <a:solidFill>
                  <a:srgbClr val="333333"/>
                </a:solidFill>
                <a:latin typeface="Times New Roman" panose="02020603050405020304" pitchFamily="18" charset="0"/>
                <a:cs typeface="Times New Roman" panose="02020603050405020304" pitchFamily="18" charset="0"/>
              </a:rPr>
              <a:t>2. Economic Feasibility:</a:t>
            </a:r>
          </a:p>
          <a:p>
            <a:pPr lvl="1" algn="just"/>
            <a:r>
              <a:rPr lang="en-US" sz="1900" b="1" cap="none" dirty="0">
                <a:solidFill>
                  <a:srgbClr val="333333"/>
                </a:solidFill>
                <a:latin typeface="Times New Roman" panose="02020603050405020304" pitchFamily="18" charset="0"/>
                <a:cs typeface="Times New Roman" panose="02020603050405020304" pitchFamily="18" charset="0"/>
              </a:rPr>
              <a:t>Cost Reduction</a:t>
            </a:r>
            <a:r>
              <a:rPr lang="en-US" sz="1900" cap="none" dirty="0">
                <a:solidFill>
                  <a:srgbClr val="333333"/>
                </a:solidFill>
                <a:latin typeface="Times New Roman" panose="02020603050405020304" pitchFamily="18" charset="0"/>
                <a:cs typeface="Times New Roman" panose="02020603050405020304" pitchFamily="18" charset="0"/>
              </a:rPr>
              <a:t>: Minimizes the need for expensive tests and invasive procedures.</a:t>
            </a:r>
          </a:p>
          <a:p>
            <a:pPr lvl="1" algn="just"/>
            <a:r>
              <a:rPr lang="en-US" sz="1900" b="1" cap="none" dirty="0">
                <a:solidFill>
                  <a:srgbClr val="333333"/>
                </a:solidFill>
                <a:latin typeface="Times New Roman" panose="02020603050405020304" pitchFamily="18" charset="0"/>
                <a:cs typeface="Times New Roman" panose="02020603050405020304" pitchFamily="18" charset="0"/>
              </a:rPr>
              <a:t>Efficiency</a:t>
            </a:r>
            <a:r>
              <a:rPr lang="en-US" sz="1900" cap="none" dirty="0">
                <a:solidFill>
                  <a:srgbClr val="333333"/>
                </a:solidFill>
                <a:latin typeface="Times New Roman" panose="02020603050405020304" pitchFamily="18" charset="0"/>
                <a:cs typeface="Times New Roman" panose="02020603050405020304" pitchFamily="18" charset="0"/>
              </a:rPr>
              <a:t>: Early diagnosis enables timely interventions, reducing long-term costs.</a:t>
            </a:r>
          </a:p>
          <a:p>
            <a:pPr lvl="1" algn="just"/>
            <a:r>
              <a:rPr lang="en-US" sz="1900" b="1" cap="none" dirty="0">
                <a:solidFill>
                  <a:srgbClr val="333333"/>
                </a:solidFill>
                <a:latin typeface="Times New Roman" panose="02020603050405020304" pitchFamily="18" charset="0"/>
                <a:cs typeface="Times New Roman" panose="02020603050405020304" pitchFamily="18" charset="0"/>
              </a:rPr>
              <a:t>Improved Diagnosis Speed</a:t>
            </a:r>
            <a:r>
              <a:rPr lang="en-US" sz="1900" cap="none" dirty="0">
                <a:solidFill>
                  <a:srgbClr val="333333"/>
                </a:solidFill>
                <a:latin typeface="Times New Roman" panose="02020603050405020304" pitchFamily="18" charset="0"/>
                <a:cs typeface="Times New Roman" panose="02020603050405020304" pitchFamily="18" charset="0"/>
              </a:rPr>
              <a:t>: The system helps speed up diagnosis, leading to quicker treatment and better patient outcomes.</a:t>
            </a:r>
            <a:endParaRPr lang="en-IN" sz="1900" cap="none" dirty="0">
              <a:solidFill>
                <a:srgbClr val="333333"/>
              </a:solidFill>
              <a:latin typeface="Times New Roman" panose="02020603050405020304" pitchFamily="18" charset="0"/>
              <a:cs typeface="Times New Roman" panose="02020603050405020304" pitchFamily="18" charset="0"/>
            </a:endParaRPr>
          </a:p>
          <a:p>
            <a:pPr marL="0" indent="0" algn="just">
              <a:buNone/>
            </a:pPr>
            <a:r>
              <a:rPr lang="en-IN" sz="2200" b="1" cap="none" dirty="0">
                <a:solidFill>
                  <a:srgbClr val="333333"/>
                </a:solidFill>
                <a:latin typeface="Times New Roman" panose="02020603050405020304" pitchFamily="18" charset="0"/>
                <a:cs typeface="Times New Roman" panose="02020603050405020304" pitchFamily="18" charset="0"/>
              </a:rPr>
              <a:t>3. Operational Feasibility:</a:t>
            </a:r>
          </a:p>
          <a:p>
            <a:pPr lvl="1" algn="just"/>
            <a:r>
              <a:rPr lang="en-US" sz="1900" b="1" cap="none" dirty="0">
                <a:solidFill>
                  <a:srgbClr val="333333"/>
                </a:solidFill>
                <a:latin typeface="Times New Roman" panose="02020603050405020304" pitchFamily="18" charset="0"/>
                <a:cs typeface="Times New Roman" panose="02020603050405020304" pitchFamily="18" charset="0"/>
              </a:rPr>
              <a:t>Non-Invasive</a:t>
            </a:r>
            <a:r>
              <a:rPr lang="en-US" sz="1900" cap="none" dirty="0">
                <a:solidFill>
                  <a:srgbClr val="333333"/>
                </a:solidFill>
                <a:latin typeface="Times New Roman" panose="02020603050405020304" pitchFamily="18" charset="0"/>
                <a:cs typeface="Times New Roman" panose="02020603050405020304" pitchFamily="18" charset="0"/>
              </a:rPr>
              <a:t>: The system is non-invasive, ideal for pediatric patients.</a:t>
            </a:r>
            <a:endParaRPr lang="en-IN" sz="1900" cap="none" dirty="0">
              <a:solidFill>
                <a:srgbClr val="333333"/>
              </a:solidFill>
              <a:latin typeface="Times New Roman" panose="02020603050405020304" pitchFamily="18" charset="0"/>
              <a:cs typeface="Times New Roman" panose="02020603050405020304" pitchFamily="18" charset="0"/>
            </a:endParaRPr>
          </a:p>
          <a:p>
            <a:pPr lvl="1" algn="just"/>
            <a:r>
              <a:rPr lang="en-US" sz="1900" b="1" cap="none" dirty="0">
                <a:solidFill>
                  <a:srgbClr val="333333"/>
                </a:solidFill>
                <a:latin typeface="Times New Roman" panose="02020603050405020304" pitchFamily="18" charset="0"/>
                <a:cs typeface="Times New Roman" panose="02020603050405020304" pitchFamily="18" charset="0"/>
              </a:rPr>
              <a:t>User-Friendly:</a:t>
            </a:r>
            <a:r>
              <a:rPr lang="en-US" sz="1900" cap="none" dirty="0">
                <a:solidFill>
                  <a:srgbClr val="333333"/>
                </a:solidFill>
                <a:latin typeface="Times New Roman" panose="02020603050405020304" pitchFamily="18" charset="0"/>
                <a:cs typeface="Times New Roman" panose="02020603050405020304" pitchFamily="18" charset="0"/>
              </a:rPr>
              <a:t> No need for complex preparations or sedation.</a:t>
            </a:r>
            <a:endParaRPr lang="en-IN" sz="1900" cap="none" dirty="0">
              <a:solidFill>
                <a:srgbClr val="333333"/>
              </a:solidFill>
              <a:latin typeface="Times New Roman" panose="02020603050405020304" pitchFamily="18" charset="0"/>
              <a:cs typeface="Times New Roman" panose="02020603050405020304" pitchFamily="18" charset="0"/>
            </a:endParaRPr>
          </a:p>
          <a:p>
            <a:pPr lvl="1" algn="just"/>
            <a:r>
              <a:rPr lang="en-US" sz="1900" b="1" cap="none" dirty="0">
                <a:solidFill>
                  <a:srgbClr val="333333"/>
                </a:solidFill>
                <a:latin typeface="Times New Roman" panose="02020603050405020304" pitchFamily="18" charset="0"/>
                <a:cs typeface="Times New Roman" panose="02020603050405020304" pitchFamily="18" charset="0"/>
              </a:rPr>
              <a:t>Minimal Training Required</a:t>
            </a:r>
            <a:r>
              <a:rPr lang="en-US" sz="1900" cap="none" dirty="0">
                <a:solidFill>
                  <a:srgbClr val="333333"/>
                </a:solidFill>
                <a:latin typeface="Times New Roman" panose="02020603050405020304" pitchFamily="18" charset="0"/>
                <a:cs typeface="Times New Roman" panose="02020603050405020304" pitchFamily="18" charset="0"/>
              </a:rPr>
              <a:t>: Healthcare providers can easily adopt the system with little additional training.</a:t>
            </a:r>
            <a:endParaRPr lang="en-IN" sz="1900" cap="none" dirty="0">
              <a:solidFill>
                <a:srgbClr val="333333"/>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1F440F57-9506-7401-2B69-BF0530E36335}"/>
              </a:ext>
            </a:extLst>
          </p:cNvPr>
          <p:cNvSpPr>
            <a:spLocks noGrp="1"/>
          </p:cNvSpPr>
          <p:nvPr>
            <p:ph type="ftr" sz="quarter" idx="11"/>
          </p:nvPr>
        </p:nvSpPr>
        <p:spPr>
          <a:xfrm>
            <a:off x="697644" y="5883275"/>
            <a:ext cx="6889017" cy="1596177"/>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C06FD303-39D7-78C0-8819-C8E9212436D5}"/>
              </a:ext>
            </a:extLst>
          </p:cNvPr>
          <p:cNvSpPr>
            <a:spLocks noGrp="1"/>
          </p:cNvSpPr>
          <p:nvPr>
            <p:ph type="sldNum" sz="quarter" idx="12"/>
          </p:nvPr>
        </p:nvSpPr>
        <p:spPr>
          <a:xfrm>
            <a:off x="10514011" y="5883275"/>
            <a:ext cx="1677989" cy="1596177"/>
          </a:xfrm>
        </p:spPr>
        <p:txBody>
          <a:bodyPr/>
          <a:lstStyle/>
          <a:p>
            <a:fld id="{D11D1588-8316-42EA-B695-F2D8B3238057}" type="slidenum">
              <a:rPr lang="en-IN" smtClean="0"/>
              <a:t>9</a:t>
            </a:fld>
            <a:endParaRPr lang="en-IN" dirty="0"/>
          </a:p>
        </p:txBody>
      </p:sp>
      <p:sp>
        <p:nvSpPr>
          <p:cNvPr id="6" name="Date Placeholder 5">
            <a:extLst>
              <a:ext uri="{FF2B5EF4-FFF2-40B4-BE49-F238E27FC236}">
                <a16:creationId xmlns:a16="http://schemas.microsoft.com/office/drawing/2014/main" id="{E6EEC700-FF7C-945E-912D-0AE4296368D5}"/>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2720230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7FCE3-0ED9-86DA-C024-55F6F10696DB}"/>
              </a:ext>
            </a:extLst>
          </p:cNvPr>
          <p:cNvSpPr>
            <a:spLocks noGrp="1"/>
          </p:cNvSpPr>
          <p:nvPr>
            <p:ph type="title"/>
          </p:nvPr>
        </p:nvSpPr>
        <p:spPr>
          <a:xfrm>
            <a:off x="913774" y="65475"/>
            <a:ext cx="10364451" cy="848925"/>
          </a:xfrm>
        </p:spPr>
        <p:txBody>
          <a:bodyPr>
            <a:normAutofit/>
          </a:bodyPr>
          <a:lstStyle/>
          <a:p>
            <a:r>
              <a:rPr lang="en-IN" sz="2800" dirty="0">
                <a:latin typeface="Times New Roman" panose="02020603050405020304" pitchFamily="18" charset="0"/>
                <a:cs typeface="Times New Roman" panose="02020603050405020304" pitchFamily="18" charset="0"/>
              </a:rPr>
              <a:t>FUNCTIONAL REQUIREMENTS</a:t>
            </a:r>
          </a:p>
        </p:txBody>
      </p:sp>
      <p:sp>
        <p:nvSpPr>
          <p:cNvPr id="3" name="Content Placeholder 2">
            <a:extLst>
              <a:ext uri="{FF2B5EF4-FFF2-40B4-BE49-F238E27FC236}">
                <a16:creationId xmlns:a16="http://schemas.microsoft.com/office/drawing/2014/main" id="{160289D6-3BAA-8D17-77CB-958AAC054C62}"/>
              </a:ext>
            </a:extLst>
          </p:cNvPr>
          <p:cNvSpPr>
            <a:spLocks noGrp="1"/>
          </p:cNvSpPr>
          <p:nvPr>
            <p:ph sz="quarter" idx="13"/>
          </p:nvPr>
        </p:nvSpPr>
        <p:spPr>
          <a:xfrm>
            <a:off x="723207" y="1088572"/>
            <a:ext cx="10745585" cy="5703954"/>
          </a:xfrm>
        </p:spPr>
        <p:txBody>
          <a:bodyPr>
            <a:normAutofit fontScale="92500" lnSpcReduction="20000"/>
          </a:bodyPr>
          <a:lstStyle/>
          <a:p>
            <a:pPr algn="just">
              <a:buFont typeface="Wingdings" panose="05000000000000000000" pitchFamily="2" charset="2"/>
              <a:buChar char="Ø"/>
            </a:pPr>
            <a:r>
              <a:rPr lang="en-IN" sz="2200" b="1" cap="none" dirty="0">
                <a:solidFill>
                  <a:srgbClr val="333333"/>
                </a:solidFill>
                <a:latin typeface="Times New Roman" panose="02020603050405020304" pitchFamily="18" charset="0"/>
                <a:cs typeface="Times New Roman" panose="02020603050405020304" pitchFamily="18" charset="0"/>
              </a:rPr>
              <a:t>Data Collection:</a:t>
            </a:r>
          </a:p>
          <a:p>
            <a:pPr lvl="1" algn="just"/>
            <a:r>
              <a:rPr lang="en-US" sz="1900" cap="none" dirty="0">
                <a:solidFill>
                  <a:srgbClr val="333333"/>
                </a:solidFill>
                <a:latin typeface="Times New Roman" panose="02020603050405020304" pitchFamily="18" charset="0"/>
                <a:cs typeface="Times New Roman" panose="02020603050405020304" pitchFamily="18" charset="0"/>
              </a:rPr>
              <a:t>Collect pupillometric data from a pupillometer.</a:t>
            </a:r>
          </a:p>
          <a:p>
            <a:pPr lvl="1" algn="just"/>
            <a:r>
              <a:rPr lang="en-US" sz="1900" cap="none" dirty="0">
                <a:solidFill>
                  <a:srgbClr val="333333"/>
                </a:solidFill>
                <a:latin typeface="Times New Roman" panose="02020603050405020304" pitchFamily="18" charset="0"/>
                <a:cs typeface="Times New Roman" panose="02020603050405020304" pitchFamily="18" charset="0"/>
              </a:rPr>
              <a:t>Allow users to upload pupillometric datasets.</a:t>
            </a:r>
            <a:endParaRPr lang="en-IN" sz="1900" cap="none" dirty="0">
              <a:solidFill>
                <a:srgbClr val="333333"/>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2200" b="1" cap="none" dirty="0">
                <a:solidFill>
                  <a:srgbClr val="333333"/>
                </a:solidFill>
                <a:latin typeface="Times New Roman" panose="02020603050405020304" pitchFamily="18" charset="0"/>
                <a:cs typeface="Times New Roman" panose="02020603050405020304" pitchFamily="18" charset="0"/>
              </a:rPr>
              <a:t>Data Processing:</a:t>
            </a:r>
          </a:p>
          <a:p>
            <a:pPr lvl="1" algn="just"/>
            <a:r>
              <a:rPr lang="en-US" sz="1900" cap="none" dirty="0">
                <a:solidFill>
                  <a:srgbClr val="333333"/>
                </a:solidFill>
                <a:latin typeface="Times New Roman" panose="02020603050405020304" pitchFamily="18" charset="0"/>
                <a:cs typeface="Times New Roman" panose="02020603050405020304" pitchFamily="18" charset="0"/>
              </a:rPr>
              <a:t>Remove artifacts from raw data.</a:t>
            </a:r>
            <a:endParaRPr lang="en-IN" sz="1900" cap="none" dirty="0">
              <a:solidFill>
                <a:srgbClr val="333333"/>
              </a:solidFill>
              <a:latin typeface="Times New Roman" panose="02020603050405020304" pitchFamily="18" charset="0"/>
              <a:cs typeface="Times New Roman" panose="02020603050405020304" pitchFamily="18" charset="0"/>
            </a:endParaRPr>
          </a:p>
          <a:p>
            <a:pPr lvl="1" algn="just"/>
            <a:r>
              <a:rPr lang="en-US" sz="1900" cap="none" dirty="0">
                <a:solidFill>
                  <a:srgbClr val="333333"/>
                </a:solidFill>
                <a:latin typeface="Times New Roman" panose="02020603050405020304" pitchFamily="18" charset="0"/>
                <a:cs typeface="Times New Roman" panose="02020603050405020304" pitchFamily="18" charset="0"/>
              </a:rPr>
              <a:t>Extract key features (e.g., pupil diameter, latency).</a:t>
            </a:r>
            <a:endParaRPr lang="en-IN" sz="1900" cap="none" dirty="0">
              <a:solidFill>
                <a:srgbClr val="333333"/>
              </a:solidFill>
              <a:latin typeface="Times New Roman" panose="02020603050405020304" pitchFamily="18" charset="0"/>
              <a:cs typeface="Times New Roman" panose="02020603050405020304" pitchFamily="18" charset="0"/>
            </a:endParaRPr>
          </a:p>
          <a:p>
            <a:pPr lvl="1" algn="just"/>
            <a:r>
              <a:rPr lang="en-IN" sz="1900" cap="none" dirty="0">
                <a:solidFill>
                  <a:srgbClr val="333333"/>
                </a:solidFill>
                <a:latin typeface="Times New Roman" panose="02020603050405020304" pitchFamily="18" charset="0"/>
                <a:cs typeface="Times New Roman" panose="02020603050405020304" pitchFamily="18" charset="0"/>
              </a:rPr>
              <a:t>Reduce unnecessary features.</a:t>
            </a:r>
          </a:p>
          <a:p>
            <a:pPr algn="just">
              <a:buFont typeface="Wingdings" panose="05000000000000000000" pitchFamily="2" charset="2"/>
              <a:buChar char="Ø"/>
            </a:pPr>
            <a:r>
              <a:rPr lang="en-IN" sz="2200" b="1" cap="none" dirty="0">
                <a:solidFill>
                  <a:srgbClr val="333333"/>
                </a:solidFill>
                <a:latin typeface="Times New Roman" panose="02020603050405020304" pitchFamily="18" charset="0"/>
                <a:cs typeface="Times New Roman" panose="02020603050405020304" pitchFamily="18" charset="0"/>
              </a:rPr>
              <a:t>Classification:</a:t>
            </a:r>
          </a:p>
          <a:p>
            <a:pPr lvl="1" algn="just"/>
            <a:r>
              <a:rPr lang="en-US" sz="1900" cap="none" dirty="0">
                <a:solidFill>
                  <a:srgbClr val="333333"/>
                </a:solidFill>
                <a:latin typeface="Times New Roman" panose="02020603050405020304" pitchFamily="18" charset="0"/>
                <a:cs typeface="Times New Roman" panose="02020603050405020304" pitchFamily="18" charset="0"/>
              </a:rPr>
              <a:t>Use SVM classifiers for analysis.</a:t>
            </a:r>
            <a:endParaRPr lang="en-IN" sz="1900" cap="none" dirty="0">
              <a:solidFill>
                <a:srgbClr val="333333"/>
              </a:solidFill>
              <a:latin typeface="Times New Roman" panose="02020603050405020304" pitchFamily="18" charset="0"/>
              <a:cs typeface="Times New Roman" panose="02020603050405020304" pitchFamily="18" charset="0"/>
            </a:endParaRPr>
          </a:p>
          <a:p>
            <a:pPr lvl="1" algn="just"/>
            <a:r>
              <a:rPr lang="en-US" sz="1900" cap="none" dirty="0">
                <a:solidFill>
                  <a:srgbClr val="333333"/>
                </a:solidFill>
                <a:latin typeface="Times New Roman" panose="02020603050405020304" pitchFamily="18" charset="0"/>
                <a:cs typeface="Times New Roman" panose="02020603050405020304" pitchFamily="18" charset="0"/>
              </a:rPr>
              <a:t>Perform classification on data from both eyes.</a:t>
            </a:r>
            <a:endParaRPr lang="en-IN" sz="1900" cap="none" dirty="0">
              <a:solidFill>
                <a:srgbClr val="333333"/>
              </a:solidFill>
              <a:latin typeface="Times New Roman" panose="02020603050405020304" pitchFamily="18" charset="0"/>
              <a:cs typeface="Times New Roman" panose="02020603050405020304" pitchFamily="18" charset="0"/>
            </a:endParaRPr>
          </a:p>
          <a:p>
            <a:pPr lvl="1" algn="just"/>
            <a:r>
              <a:rPr lang="en-US" sz="1900" cap="none" dirty="0">
                <a:solidFill>
                  <a:srgbClr val="333333"/>
                </a:solidFill>
                <a:latin typeface="Times New Roman" panose="02020603050405020304" pitchFamily="18" charset="0"/>
                <a:cs typeface="Times New Roman" panose="02020603050405020304" pitchFamily="18" charset="0"/>
              </a:rPr>
              <a:t>Combine SVM results using an ensemble algorithm.</a:t>
            </a:r>
            <a:endParaRPr lang="en-IN" sz="1900" cap="none" dirty="0">
              <a:solidFill>
                <a:srgbClr val="333333"/>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IN" sz="2200" b="1" cap="none" dirty="0">
                <a:solidFill>
                  <a:srgbClr val="333333"/>
                </a:solidFill>
                <a:latin typeface="Times New Roman" panose="02020603050405020304" pitchFamily="18" charset="0"/>
                <a:cs typeface="Times New Roman" panose="02020603050405020304" pitchFamily="18" charset="0"/>
              </a:rPr>
              <a:t>Output:</a:t>
            </a:r>
          </a:p>
          <a:p>
            <a:pPr lvl="1" algn="just"/>
            <a:r>
              <a:rPr lang="en-US" sz="1900" cap="none" dirty="0">
                <a:solidFill>
                  <a:srgbClr val="333333"/>
                </a:solidFill>
                <a:latin typeface="Times New Roman" panose="02020603050405020304" pitchFamily="18" charset="0"/>
                <a:cs typeface="Times New Roman" panose="02020603050405020304" pitchFamily="18" charset="0"/>
              </a:rPr>
              <a:t>Show accuracy results for each eye and the ensemble model.</a:t>
            </a:r>
          </a:p>
          <a:p>
            <a:pPr lvl="1" algn="just"/>
            <a:r>
              <a:rPr lang="en-US" sz="1900" cap="none" dirty="0">
                <a:solidFill>
                  <a:srgbClr val="333333"/>
                </a:solidFill>
                <a:latin typeface="Times New Roman" panose="02020603050405020304" pitchFamily="18" charset="0"/>
                <a:cs typeface="Times New Roman" panose="02020603050405020304" pitchFamily="18" charset="0"/>
              </a:rPr>
              <a:t>Generate graphs for pupil diameter and classification accuracy.</a:t>
            </a:r>
          </a:p>
          <a:p>
            <a:pPr lvl="1" algn="just"/>
            <a:r>
              <a:rPr lang="en-US" sz="1900" cap="none" dirty="0">
                <a:solidFill>
                  <a:srgbClr val="333333"/>
                </a:solidFill>
                <a:latin typeface="Times New Roman" panose="02020603050405020304" pitchFamily="18" charset="0"/>
                <a:cs typeface="Times New Roman" panose="02020603050405020304" pitchFamily="18" charset="0"/>
              </a:rPr>
              <a:t>Predict disease presence or absence based on test data.</a:t>
            </a:r>
          </a:p>
          <a:p>
            <a:pPr marL="0" indent="0" algn="just">
              <a:buNone/>
            </a:pPr>
            <a:endParaRPr lang="en-US" sz="1900" cap="none" dirty="0">
              <a:solidFill>
                <a:srgbClr val="333333"/>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sz="1900" cap="none" dirty="0">
              <a:solidFill>
                <a:srgbClr val="333333"/>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45B9A79-E856-38CC-106E-81B95A084095}"/>
              </a:ext>
            </a:extLst>
          </p:cNvPr>
          <p:cNvSpPr>
            <a:spLocks noGrp="1"/>
          </p:cNvSpPr>
          <p:nvPr>
            <p:ph type="ftr" sz="quarter" idx="11"/>
          </p:nvPr>
        </p:nvSpPr>
        <p:spPr>
          <a:xfrm>
            <a:off x="723208" y="5883275"/>
            <a:ext cx="6863454" cy="1674380"/>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C51AF69A-EB12-7CE3-9CFD-9ABCDA7F7BD6}"/>
              </a:ext>
            </a:extLst>
          </p:cNvPr>
          <p:cNvSpPr>
            <a:spLocks noGrp="1"/>
          </p:cNvSpPr>
          <p:nvPr>
            <p:ph type="sldNum" sz="quarter" idx="12"/>
          </p:nvPr>
        </p:nvSpPr>
        <p:spPr>
          <a:xfrm>
            <a:off x="10514011" y="5883275"/>
            <a:ext cx="1677989" cy="1618961"/>
          </a:xfrm>
        </p:spPr>
        <p:txBody>
          <a:bodyPr/>
          <a:lstStyle/>
          <a:p>
            <a:fld id="{D11D1588-8316-42EA-B695-F2D8B3238057}" type="slidenum">
              <a:rPr lang="en-IN" smtClean="0"/>
              <a:t>10</a:t>
            </a:fld>
            <a:endParaRPr lang="en-IN" dirty="0"/>
          </a:p>
        </p:txBody>
      </p:sp>
      <p:sp>
        <p:nvSpPr>
          <p:cNvPr id="6" name="Date Placeholder 5">
            <a:extLst>
              <a:ext uri="{FF2B5EF4-FFF2-40B4-BE49-F238E27FC236}">
                <a16:creationId xmlns:a16="http://schemas.microsoft.com/office/drawing/2014/main" id="{53BBCFF7-ECCB-9A4A-AB5F-6863ECC07D44}"/>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3108825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3AD13-000A-C2E7-3031-7A9606AD8D41}"/>
              </a:ext>
            </a:extLst>
          </p:cNvPr>
          <p:cNvSpPr>
            <a:spLocks noGrp="1"/>
          </p:cNvSpPr>
          <p:nvPr>
            <p:ph type="title"/>
          </p:nvPr>
        </p:nvSpPr>
        <p:spPr>
          <a:xfrm>
            <a:off x="913774" y="203200"/>
            <a:ext cx="10364451" cy="931817"/>
          </a:xfrm>
        </p:spPr>
        <p:txBody>
          <a:bodyPr>
            <a:normAutofit/>
          </a:bodyPr>
          <a:lstStyle/>
          <a:p>
            <a:r>
              <a:rPr lang="en-IN" sz="2800" dirty="0">
                <a:latin typeface="Times New Roman" panose="02020603050405020304" pitchFamily="18" charset="0"/>
                <a:cs typeface="Times New Roman" panose="02020603050405020304" pitchFamily="18" charset="0"/>
              </a:rPr>
              <a:t>NON-FUNCTIONAL REQUIREMENTS</a:t>
            </a:r>
          </a:p>
        </p:txBody>
      </p:sp>
      <p:sp>
        <p:nvSpPr>
          <p:cNvPr id="3" name="Content Placeholder 2">
            <a:extLst>
              <a:ext uri="{FF2B5EF4-FFF2-40B4-BE49-F238E27FC236}">
                <a16:creationId xmlns:a16="http://schemas.microsoft.com/office/drawing/2014/main" id="{3E7AE455-1885-6D1D-9090-5171577DD971}"/>
              </a:ext>
            </a:extLst>
          </p:cNvPr>
          <p:cNvSpPr>
            <a:spLocks noGrp="1"/>
          </p:cNvSpPr>
          <p:nvPr>
            <p:ph sz="quarter" idx="13"/>
          </p:nvPr>
        </p:nvSpPr>
        <p:spPr>
          <a:xfrm>
            <a:off x="739833" y="1281611"/>
            <a:ext cx="10806545" cy="5479377"/>
          </a:xfrm>
        </p:spPr>
        <p:txBody>
          <a:bodyPr>
            <a:normAutofit/>
          </a:bodyPr>
          <a:lstStyle/>
          <a:p>
            <a:pPr algn="just">
              <a:lnSpc>
                <a:spcPct val="110000"/>
              </a:lnSpc>
              <a:buFont typeface="Wingdings" panose="05000000000000000000" pitchFamily="2" charset="2"/>
              <a:buChar char="Ø"/>
            </a:pPr>
            <a:r>
              <a:rPr lang="en-IN" b="1" cap="none" dirty="0">
                <a:solidFill>
                  <a:srgbClr val="333333"/>
                </a:solidFill>
                <a:latin typeface="Times New Roman" panose="02020603050405020304" pitchFamily="18" charset="0"/>
                <a:cs typeface="Times New Roman" panose="02020603050405020304" pitchFamily="18" charset="0"/>
              </a:rPr>
              <a:t>Performance: </a:t>
            </a:r>
            <a:r>
              <a:rPr lang="en-US" sz="1800" cap="none" dirty="0">
                <a:solidFill>
                  <a:srgbClr val="333333"/>
                </a:solidFill>
                <a:latin typeface="Times New Roman" panose="02020603050405020304" pitchFamily="18" charset="0"/>
                <a:cs typeface="Times New Roman" panose="02020603050405020304" pitchFamily="18" charset="0"/>
              </a:rPr>
              <a:t>The system should process and analyze pupillometric data efficiently to provide timely diagnostic support. The classification algorithms (SVMs, ensemble model) should provide results with high accuracy.</a:t>
            </a:r>
            <a:endParaRPr lang="en-IN" sz="1800" cap="none" dirty="0">
              <a:solidFill>
                <a:srgbClr val="333333"/>
              </a:solidFill>
              <a:latin typeface="Times New Roman" panose="02020603050405020304" pitchFamily="18" charset="0"/>
              <a:cs typeface="Times New Roman" panose="02020603050405020304" pitchFamily="18" charset="0"/>
            </a:endParaRPr>
          </a:p>
          <a:p>
            <a:pPr algn="just">
              <a:lnSpc>
                <a:spcPct val="110000"/>
              </a:lnSpc>
              <a:buFont typeface="Wingdings" panose="05000000000000000000" pitchFamily="2" charset="2"/>
              <a:buChar char="Ø"/>
            </a:pPr>
            <a:r>
              <a:rPr lang="en-IN" b="1" cap="none" dirty="0">
                <a:solidFill>
                  <a:srgbClr val="333333"/>
                </a:solidFill>
                <a:latin typeface="Times New Roman" panose="02020603050405020304" pitchFamily="18" charset="0"/>
                <a:cs typeface="Times New Roman" panose="02020603050405020304" pitchFamily="18" charset="0"/>
              </a:rPr>
              <a:t>Usability:</a:t>
            </a:r>
            <a:r>
              <a:rPr lang="en-IN" sz="2200" b="1" cap="none" dirty="0">
                <a:solidFill>
                  <a:srgbClr val="333333"/>
                </a:solidFill>
                <a:latin typeface="Times New Roman" panose="02020603050405020304" pitchFamily="18" charset="0"/>
                <a:cs typeface="Times New Roman" panose="02020603050405020304" pitchFamily="18" charset="0"/>
              </a:rPr>
              <a:t> </a:t>
            </a:r>
            <a:r>
              <a:rPr lang="en-IN" sz="1800" cap="none" dirty="0">
                <a:solidFill>
                  <a:srgbClr val="333333"/>
                </a:solidFill>
                <a:latin typeface="Times New Roman" panose="02020603050405020304" pitchFamily="18" charset="0"/>
                <a:cs typeface="Times New Roman" panose="02020603050405020304" pitchFamily="18" charset="0"/>
              </a:rPr>
              <a:t>T</a:t>
            </a:r>
            <a:r>
              <a:rPr lang="en-US" sz="1800" cap="none" dirty="0">
                <a:solidFill>
                  <a:srgbClr val="333333"/>
                </a:solidFill>
                <a:latin typeface="Times New Roman" panose="02020603050405020304" pitchFamily="18" charset="0"/>
                <a:cs typeface="Times New Roman" panose="02020603050405020304" pitchFamily="18" charset="0"/>
              </a:rPr>
              <a:t>he system includes a user interface for uploading data, running analysis, and viewing results. The system provides visualizations such as pupil diameter graphs and accuracy graphs.</a:t>
            </a:r>
            <a:endParaRPr lang="en-IN" sz="1800" cap="none" dirty="0">
              <a:solidFill>
                <a:srgbClr val="333333"/>
              </a:solidFill>
              <a:latin typeface="Times New Roman" panose="02020603050405020304" pitchFamily="18" charset="0"/>
              <a:cs typeface="Times New Roman" panose="02020603050405020304" pitchFamily="18" charset="0"/>
            </a:endParaRPr>
          </a:p>
          <a:p>
            <a:pPr algn="just">
              <a:lnSpc>
                <a:spcPct val="110000"/>
              </a:lnSpc>
              <a:buFont typeface="Wingdings" panose="05000000000000000000" pitchFamily="2" charset="2"/>
              <a:buChar char="Ø"/>
            </a:pPr>
            <a:r>
              <a:rPr lang="en-IN" b="1" cap="none" dirty="0">
                <a:solidFill>
                  <a:srgbClr val="333333"/>
                </a:solidFill>
                <a:latin typeface="Times New Roman" panose="02020603050405020304" pitchFamily="18" charset="0"/>
                <a:cs typeface="Times New Roman" panose="02020603050405020304" pitchFamily="18" charset="0"/>
              </a:rPr>
              <a:t>Reliability: </a:t>
            </a:r>
            <a:r>
              <a:rPr lang="en-US" sz="1800" cap="none" dirty="0">
                <a:solidFill>
                  <a:srgbClr val="333333"/>
                </a:solidFill>
                <a:latin typeface="Times New Roman" panose="02020603050405020304" pitchFamily="18" charset="0"/>
                <a:cs typeface="Times New Roman" panose="02020603050405020304" pitchFamily="18" charset="0"/>
              </a:rPr>
              <a:t>The system utilizes an ensemble model to improve the reliability of the classification.</a:t>
            </a:r>
            <a:endParaRPr lang="en-IN" sz="1800" cap="none" dirty="0">
              <a:solidFill>
                <a:srgbClr val="333333"/>
              </a:solidFill>
              <a:latin typeface="Times New Roman" panose="02020603050405020304" pitchFamily="18" charset="0"/>
              <a:cs typeface="Times New Roman" panose="02020603050405020304" pitchFamily="18" charset="0"/>
            </a:endParaRPr>
          </a:p>
          <a:p>
            <a:pPr algn="just">
              <a:lnSpc>
                <a:spcPct val="110000"/>
              </a:lnSpc>
              <a:buFont typeface="Wingdings" panose="05000000000000000000" pitchFamily="2" charset="2"/>
              <a:buChar char="Ø"/>
            </a:pPr>
            <a:r>
              <a:rPr lang="en-IN" b="1" cap="none" dirty="0">
                <a:solidFill>
                  <a:srgbClr val="333333"/>
                </a:solidFill>
                <a:latin typeface="Times New Roman" panose="02020603050405020304" pitchFamily="18" charset="0"/>
                <a:cs typeface="Times New Roman" panose="02020603050405020304" pitchFamily="18" charset="0"/>
              </a:rPr>
              <a:t>Non-Invasiveness: </a:t>
            </a:r>
            <a:r>
              <a:rPr lang="en-US" sz="1800" cap="none" dirty="0">
                <a:solidFill>
                  <a:srgbClr val="333333"/>
                </a:solidFill>
                <a:latin typeface="Times New Roman" panose="02020603050405020304" pitchFamily="18" charset="0"/>
                <a:cs typeface="Times New Roman" panose="02020603050405020304" pitchFamily="18" charset="0"/>
              </a:rPr>
              <a:t>The system uses chromatic pupillometry, a non-invasive technique.</a:t>
            </a:r>
            <a:endParaRPr lang="en-IN" sz="1800" cap="none" dirty="0">
              <a:solidFill>
                <a:srgbClr val="333333"/>
              </a:solidFill>
              <a:latin typeface="Times New Roman" panose="02020603050405020304" pitchFamily="18" charset="0"/>
              <a:cs typeface="Times New Roman" panose="02020603050405020304" pitchFamily="18" charset="0"/>
            </a:endParaRPr>
          </a:p>
          <a:p>
            <a:pPr algn="just">
              <a:lnSpc>
                <a:spcPct val="110000"/>
              </a:lnSpc>
              <a:buFont typeface="Wingdings" panose="05000000000000000000" pitchFamily="2" charset="2"/>
              <a:buChar char="Ø"/>
            </a:pPr>
            <a:r>
              <a:rPr lang="en-IN" cap="none" dirty="0">
                <a:solidFill>
                  <a:srgbClr val="333333"/>
                </a:solidFill>
                <a:latin typeface="Times New Roman" panose="02020603050405020304" pitchFamily="18" charset="0"/>
                <a:cs typeface="Times New Roman" panose="02020603050405020304" pitchFamily="18" charset="0"/>
              </a:rPr>
              <a:t> </a:t>
            </a:r>
            <a:r>
              <a:rPr lang="en-IN" b="1" cap="none" dirty="0">
                <a:solidFill>
                  <a:srgbClr val="333333"/>
                </a:solidFill>
                <a:latin typeface="Times New Roman" panose="02020603050405020304" pitchFamily="18" charset="0"/>
                <a:cs typeface="Times New Roman" panose="02020603050405020304" pitchFamily="18" charset="0"/>
              </a:rPr>
              <a:t>Maintainability: </a:t>
            </a:r>
            <a:r>
              <a:rPr lang="en-IN" sz="1800" cap="none" dirty="0">
                <a:solidFill>
                  <a:srgbClr val="333333"/>
                </a:solidFill>
                <a:latin typeface="Times New Roman" panose="02020603050405020304" pitchFamily="18" charset="0"/>
                <a:cs typeface="Times New Roman" panose="02020603050405020304" pitchFamily="18" charset="0"/>
              </a:rPr>
              <a:t>T</a:t>
            </a:r>
            <a:r>
              <a:rPr lang="en-US" sz="1800" cap="none" dirty="0">
                <a:solidFill>
                  <a:srgbClr val="333333"/>
                </a:solidFill>
                <a:latin typeface="Times New Roman" panose="02020603050405020304" pitchFamily="18" charset="0"/>
                <a:cs typeface="Times New Roman" panose="02020603050405020304" pitchFamily="18" charset="0"/>
              </a:rPr>
              <a:t>he system is designed with a modular architecture to allow for updates and modifications to individual components (e.g., the classification algorithms, feature extraction methods) without affecting the entire system.</a:t>
            </a:r>
            <a:endParaRPr lang="en-IN" sz="1800" cap="none" dirty="0">
              <a:solidFill>
                <a:srgbClr val="333333"/>
              </a:solidFill>
              <a:latin typeface="Times New Roman" panose="02020603050405020304" pitchFamily="18" charset="0"/>
              <a:cs typeface="Times New Roman" panose="02020603050405020304" pitchFamily="18" charset="0"/>
            </a:endParaRPr>
          </a:p>
          <a:p>
            <a:pPr algn="just">
              <a:lnSpc>
                <a:spcPct val="110000"/>
              </a:lnSpc>
              <a:buFont typeface="Wingdings" panose="05000000000000000000" pitchFamily="2" charset="2"/>
              <a:buChar char="Ø"/>
            </a:pPr>
            <a:r>
              <a:rPr lang="en-IN" b="1" cap="none" dirty="0">
                <a:solidFill>
                  <a:srgbClr val="333333"/>
                </a:solidFill>
                <a:latin typeface="Times New Roman" panose="02020603050405020304" pitchFamily="18" charset="0"/>
                <a:cs typeface="Times New Roman" panose="02020603050405020304" pitchFamily="18" charset="0"/>
              </a:rPr>
              <a:t>Scalability: </a:t>
            </a:r>
            <a:r>
              <a:rPr lang="en-US" sz="1800" cap="none" dirty="0">
                <a:solidFill>
                  <a:srgbClr val="333333"/>
                </a:solidFill>
                <a:latin typeface="Times New Roman" panose="02020603050405020304" pitchFamily="18" charset="0"/>
                <a:cs typeface="Times New Roman" panose="02020603050405020304" pitchFamily="18" charset="0"/>
              </a:rPr>
              <a:t>The system's design allows for the incorporation of additional patient data and processing resources. For example, the data processing components can be optimized or distributed to handle larger datasets.</a:t>
            </a:r>
            <a:endParaRPr lang="en-IN" sz="1800" cap="none" dirty="0">
              <a:solidFill>
                <a:srgbClr val="333333"/>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871F188-7626-969D-0E08-69EF342951C7}"/>
              </a:ext>
            </a:extLst>
          </p:cNvPr>
          <p:cNvSpPr>
            <a:spLocks noGrp="1"/>
          </p:cNvSpPr>
          <p:nvPr>
            <p:ph type="ftr" sz="quarter" idx="11"/>
          </p:nvPr>
        </p:nvSpPr>
        <p:spPr>
          <a:xfrm>
            <a:off x="739834" y="5883275"/>
            <a:ext cx="6846828" cy="1653598"/>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BB3BF0CC-C633-8818-360E-C64E3FDC396B}"/>
              </a:ext>
            </a:extLst>
          </p:cNvPr>
          <p:cNvSpPr>
            <a:spLocks noGrp="1"/>
          </p:cNvSpPr>
          <p:nvPr>
            <p:ph type="sldNum" sz="quarter" idx="12"/>
          </p:nvPr>
        </p:nvSpPr>
        <p:spPr>
          <a:xfrm>
            <a:off x="10514011" y="5883275"/>
            <a:ext cx="1677989" cy="1653598"/>
          </a:xfrm>
        </p:spPr>
        <p:txBody>
          <a:bodyPr/>
          <a:lstStyle/>
          <a:p>
            <a:fld id="{D11D1588-8316-42EA-B695-F2D8B3238057}" type="slidenum">
              <a:rPr lang="en-IN" smtClean="0"/>
              <a:t>11</a:t>
            </a:fld>
            <a:endParaRPr lang="en-IN" dirty="0"/>
          </a:p>
        </p:txBody>
      </p:sp>
      <p:sp>
        <p:nvSpPr>
          <p:cNvPr id="6" name="Date Placeholder 5">
            <a:extLst>
              <a:ext uri="{FF2B5EF4-FFF2-40B4-BE49-F238E27FC236}">
                <a16:creationId xmlns:a16="http://schemas.microsoft.com/office/drawing/2014/main" id="{AAF2BF35-B7EA-3063-0EB0-E05BAF73AC5C}"/>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3711778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D860BD-B378-0CE7-178F-4DD9AB29434F}"/>
              </a:ext>
            </a:extLst>
          </p:cNvPr>
          <p:cNvSpPr>
            <a:spLocks noGrp="1"/>
          </p:cNvSpPr>
          <p:nvPr>
            <p:ph type="title"/>
          </p:nvPr>
        </p:nvSpPr>
        <p:spPr>
          <a:xfrm>
            <a:off x="708660" y="0"/>
            <a:ext cx="10364451" cy="923109"/>
          </a:xfrm>
        </p:spPr>
        <p:txBody>
          <a:bodyPr>
            <a:normAutofit/>
          </a:bodyPr>
          <a:lstStyle/>
          <a:p>
            <a:r>
              <a:rPr lang="en-IN" sz="2800"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602F85BC-047B-FA02-C1E5-649F9E88E822}"/>
              </a:ext>
            </a:extLst>
          </p:cNvPr>
          <p:cNvSpPr>
            <a:spLocks noGrp="1"/>
          </p:cNvSpPr>
          <p:nvPr>
            <p:ph sz="quarter" idx="13"/>
          </p:nvPr>
        </p:nvSpPr>
        <p:spPr>
          <a:xfrm>
            <a:off x="708660" y="634316"/>
            <a:ext cx="10837718" cy="6129555"/>
          </a:xfrm>
        </p:spPr>
        <p:txBody>
          <a:bodyPr>
            <a:noAutofit/>
          </a:bodyPr>
          <a:lstStyle/>
          <a:p>
            <a:pPr marL="0" indent="0" algn="just">
              <a:buNone/>
            </a:pPr>
            <a:r>
              <a:rPr lang="en-US" b="1" cap="none" dirty="0">
                <a:latin typeface="Times New Roman" panose="02020603050405020304" pitchFamily="18" charset="0"/>
                <a:cs typeface="Times New Roman" panose="02020603050405020304" pitchFamily="18" charset="0"/>
              </a:rPr>
              <a:t>Module 1: Data preprocessing</a:t>
            </a:r>
            <a:endParaRPr lang="en-US" cap="none" dirty="0">
              <a:latin typeface="Times New Roman" panose="02020603050405020304" pitchFamily="18" charset="0"/>
              <a:cs typeface="Times New Roman" panose="02020603050405020304" pitchFamily="18" charset="0"/>
            </a:endParaRPr>
          </a:p>
          <a:p>
            <a:pPr marL="0" indent="0" algn="just">
              <a:buNone/>
            </a:pPr>
            <a:r>
              <a:rPr lang="en-US" sz="1800" cap="none" dirty="0">
                <a:latin typeface="Times New Roman" panose="02020603050405020304" pitchFamily="18" charset="0"/>
                <a:cs typeface="Times New Roman" panose="02020603050405020304" pitchFamily="18" charset="0"/>
              </a:rPr>
              <a:t>                      The initial stage involves data preparation. First, the user uploads the </a:t>
            </a:r>
            <a:r>
              <a:rPr lang="en-US" sz="1800" cap="none" dirty="0" err="1">
                <a:latin typeface="Times New Roman" panose="02020603050405020304" pitchFamily="18" charset="0"/>
                <a:cs typeface="Times New Roman" panose="02020603050405020304" pitchFamily="18" charset="0"/>
              </a:rPr>
              <a:t>pupillometry</a:t>
            </a:r>
            <a:r>
              <a:rPr lang="en-US" sz="1800" cap="none" dirty="0">
                <a:latin typeface="Times New Roman" panose="02020603050405020304" pitchFamily="18" charset="0"/>
                <a:cs typeface="Times New Roman" panose="02020603050405020304" pitchFamily="18" charset="0"/>
              </a:rPr>
              <a:t> dataset, initiating the process. Next, the system cleans and filters the raw data, extracting relevant pupil dilation information while removing noise. Finally, key </a:t>
            </a:r>
            <a:r>
              <a:rPr lang="en-US" sz="1800" cap="none" dirty="0" err="1">
                <a:latin typeface="Times New Roman" panose="02020603050405020304" pitchFamily="18" charset="0"/>
                <a:cs typeface="Times New Roman" panose="02020603050405020304" pitchFamily="18" charset="0"/>
              </a:rPr>
              <a:t>pupillometric</a:t>
            </a:r>
            <a:r>
              <a:rPr lang="en-US" sz="1800" cap="none" dirty="0">
                <a:latin typeface="Times New Roman" panose="02020603050405020304" pitchFamily="18" charset="0"/>
                <a:cs typeface="Times New Roman" panose="02020603050405020304" pitchFamily="18" charset="0"/>
              </a:rPr>
              <a:t> features, such as maximum and minimum pupil size, are extracted and normalized, readying the data for machine learning models.</a:t>
            </a:r>
          </a:p>
          <a:p>
            <a:pPr marL="0" indent="0" algn="just">
              <a:buNone/>
            </a:pPr>
            <a:r>
              <a:rPr lang="en-US" b="1" cap="none" dirty="0">
                <a:latin typeface="Times New Roman" panose="02020603050405020304" pitchFamily="18" charset="0"/>
                <a:cs typeface="Times New Roman" panose="02020603050405020304" pitchFamily="18" charset="0"/>
              </a:rPr>
              <a:t>Module 2: Model training &amp; evaluation</a:t>
            </a:r>
            <a:endParaRPr lang="en-US" cap="none" dirty="0">
              <a:latin typeface="Times New Roman" panose="02020603050405020304" pitchFamily="18" charset="0"/>
              <a:cs typeface="Times New Roman" panose="02020603050405020304" pitchFamily="18" charset="0"/>
            </a:endParaRPr>
          </a:p>
          <a:p>
            <a:pPr marL="0" indent="0" algn="just">
              <a:buNone/>
            </a:pPr>
            <a:r>
              <a:rPr lang="en-US" sz="1800" cap="none" dirty="0">
                <a:latin typeface="Times New Roman" panose="02020603050405020304" pitchFamily="18" charset="0"/>
                <a:cs typeface="Times New Roman" panose="02020603050405020304" pitchFamily="18" charset="0"/>
              </a:rPr>
              <a:t>                      In this module, various machine learning and deep learning models are trained and evaluated. Initially, support vector machines (</a:t>
            </a:r>
            <a:r>
              <a:rPr lang="en-US" sz="1800" cap="none" dirty="0" err="1">
                <a:latin typeface="Times New Roman" panose="02020603050405020304" pitchFamily="18" charset="0"/>
                <a:cs typeface="Times New Roman" panose="02020603050405020304" pitchFamily="18" charset="0"/>
              </a:rPr>
              <a:t>svms</a:t>
            </a:r>
            <a:r>
              <a:rPr lang="en-US" sz="1800" cap="none" dirty="0">
                <a:latin typeface="Times New Roman" panose="02020603050405020304" pitchFamily="18" charset="0"/>
                <a:cs typeface="Times New Roman" panose="02020603050405020304" pitchFamily="18" charset="0"/>
              </a:rPr>
              <a:t>) are trained on right and left eye data to establish baseline accuracy. Subsequently, an ensemble learning approach combines these SVM predictions to enhance overall performance. Lastly, deep learning models, including LSTM and </a:t>
            </a:r>
            <a:r>
              <a:rPr lang="en-US" sz="1800" cap="none" dirty="0" err="1">
                <a:latin typeface="Times New Roman" panose="02020603050405020304" pitchFamily="18" charset="0"/>
                <a:cs typeface="Times New Roman" panose="02020603050405020304" pitchFamily="18" charset="0"/>
              </a:rPr>
              <a:t>bilstm</a:t>
            </a:r>
            <a:r>
              <a:rPr lang="en-US" sz="1800" cap="none" dirty="0">
                <a:latin typeface="Times New Roman" panose="02020603050405020304" pitchFamily="18" charset="0"/>
                <a:cs typeface="Times New Roman" panose="02020603050405020304" pitchFamily="18" charset="0"/>
              </a:rPr>
              <a:t>, are employed for sequence-based analysis, and all model accuracies are visually compared using a bar graph.</a:t>
            </a:r>
          </a:p>
          <a:p>
            <a:pPr marL="0" indent="0" algn="just">
              <a:buNone/>
            </a:pPr>
            <a:r>
              <a:rPr lang="en-US" b="1" cap="none" dirty="0">
                <a:latin typeface="Times New Roman" panose="02020603050405020304" pitchFamily="18" charset="0"/>
                <a:cs typeface="Times New Roman" panose="02020603050405020304" pitchFamily="18" charset="0"/>
              </a:rPr>
              <a:t>Module 3: Disease prediction</a:t>
            </a:r>
            <a:endParaRPr lang="en-US" cap="none" dirty="0">
              <a:latin typeface="Times New Roman" panose="02020603050405020304" pitchFamily="18" charset="0"/>
              <a:cs typeface="Times New Roman" panose="02020603050405020304" pitchFamily="18" charset="0"/>
            </a:endParaRPr>
          </a:p>
          <a:p>
            <a:pPr marL="0" indent="0" algn="just">
              <a:buNone/>
            </a:pPr>
            <a:r>
              <a:rPr lang="en-US" sz="1800" cap="none" dirty="0">
                <a:latin typeface="Times New Roman" panose="02020603050405020304" pitchFamily="18" charset="0"/>
                <a:cs typeface="Times New Roman" panose="02020603050405020304" pitchFamily="18" charset="0"/>
              </a:rPr>
              <a:t>                     The final phase focuses on disease prediction using the trained models. New patient data is input into the system, and the models classify whether a genetic disease is present. The prediction result, either "disease detected" or "no disease detected," is then displayed in the GUI console, providing a clear diagnostic outcome.</a:t>
            </a:r>
            <a:endParaRPr lang="en-US" sz="18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4704767-0751-2312-5E7A-65C00DB5EE20}"/>
              </a:ext>
            </a:extLst>
          </p:cNvPr>
          <p:cNvSpPr>
            <a:spLocks noGrp="1"/>
          </p:cNvSpPr>
          <p:nvPr>
            <p:ph type="ftr" sz="quarter" idx="11"/>
          </p:nvPr>
        </p:nvSpPr>
        <p:spPr>
          <a:xfrm>
            <a:off x="708660" y="5883275"/>
            <a:ext cx="6878001" cy="1612034"/>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3C3347C-06E5-516F-07C1-EA746EC1E208}"/>
              </a:ext>
            </a:extLst>
          </p:cNvPr>
          <p:cNvSpPr>
            <a:spLocks noGrp="1"/>
          </p:cNvSpPr>
          <p:nvPr>
            <p:ph type="sldNum" sz="quarter" idx="12"/>
          </p:nvPr>
        </p:nvSpPr>
        <p:spPr>
          <a:xfrm>
            <a:off x="10514011" y="5883275"/>
            <a:ext cx="1740334" cy="1612034"/>
          </a:xfrm>
        </p:spPr>
        <p:txBody>
          <a:bodyPr/>
          <a:lstStyle/>
          <a:p>
            <a:fld id="{D11D1588-8316-42EA-B695-F2D8B3238057}" type="slidenum">
              <a:rPr lang="en-IN" smtClean="0"/>
              <a:t>12</a:t>
            </a:fld>
            <a:endParaRPr lang="en-IN" dirty="0"/>
          </a:p>
        </p:txBody>
      </p:sp>
      <p:sp>
        <p:nvSpPr>
          <p:cNvPr id="6" name="Date Placeholder 5">
            <a:extLst>
              <a:ext uri="{FF2B5EF4-FFF2-40B4-BE49-F238E27FC236}">
                <a16:creationId xmlns:a16="http://schemas.microsoft.com/office/drawing/2014/main" id="{2B9C5377-7926-D1F2-7392-AEAADEB1E705}"/>
              </a:ext>
            </a:extLst>
          </p:cNvPr>
          <p:cNvSpPr>
            <a:spLocks noGrp="1"/>
          </p:cNvSpPr>
          <p:nvPr>
            <p:ph type="dt" sz="half" idx="10"/>
          </p:nvPr>
        </p:nvSpPr>
        <p:spPr>
          <a:xfrm>
            <a:off x="7678737" y="5883275"/>
            <a:ext cx="2743200" cy="1514912"/>
          </a:xfrm>
        </p:spPr>
        <p:txBody>
          <a:bodyPr/>
          <a:lstStyle/>
          <a:p>
            <a:r>
              <a:rPr lang="en-IN" dirty="0"/>
              <a:t>11-04-2025</a:t>
            </a:r>
          </a:p>
        </p:txBody>
      </p:sp>
    </p:spTree>
    <p:extLst>
      <p:ext uri="{BB962C8B-B14F-4D97-AF65-F5344CB8AC3E}">
        <p14:creationId xmlns:p14="http://schemas.microsoft.com/office/powerpoint/2010/main" val="1195109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4DC3C-DB87-4E6D-25CD-E8AAA947BF99}"/>
              </a:ext>
            </a:extLst>
          </p:cNvPr>
          <p:cNvSpPr>
            <a:spLocks noGrp="1"/>
          </p:cNvSpPr>
          <p:nvPr>
            <p:ph type="title"/>
          </p:nvPr>
        </p:nvSpPr>
        <p:spPr>
          <a:xfrm>
            <a:off x="939899" y="-232041"/>
            <a:ext cx="10364451" cy="963561"/>
          </a:xfrm>
        </p:spPr>
        <p:txBody>
          <a:bodyPr>
            <a:normAutofit/>
          </a:bodyPr>
          <a:lstStyle/>
          <a:p>
            <a:r>
              <a:rPr lang="en-IN" sz="2800" dirty="0">
                <a:latin typeface="Times New Roman" panose="02020603050405020304" pitchFamily="18" charset="0"/>
                <a:cs typeface="Times New Roman" panose="02020603050405020304" pitchFamily="18" charset="0"/>
              </a:rPr>
              <a:t>Data flow diagram</a:t>
            </a:r>
          </a:p>
        </p:txBody>
      </p:sp>
      <p:sp>
        <p:nvSpPr>
          <p:cNvPr id="7" name="Title 1">
            <a:extLst>
              <a:ext uri="{FF2B5EF4-FFF2-40B4-BE49-F238E27FC236}">
                <a16:creationId xmlns:a16="http://schemas.microsoft.com/office/drawing/2014/main" id="{C66A6E2B-812C-82B9-C4B0-516415F919C9}"/>
              </a:ext>
            </a:extLst>
          </p:cNvPr>
          <p:cNvSpPr txBox="1">
            <a:spLocks/>
          </p:cNvSpPr>
          <p:nvPr/>
        </p:nvSpPr>
        <p:spPr>
          <a:xfrm>
            <a:off x="171993" y="5839896"/>
            <a:ext cx="11900262" cy="1143071"/>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n-US" sz="2400" cap="none" dirty="0">
                <a:latin typeface="Times New Roman" panose="02020603050405020304" pitchFamily="18" charset="0"/>
                <a:cs typeface="Times New Roman" panose="02020603050405020304" pitchFamily="18" charset="0"/>
              </a:rPr>
              <a:t>fig: Dataflow diagram for Automatic detection of genetic diseases in pediatric age using </a:t>
            </a:r>
          </a:p>
          <a:p>
            <a:r>
              <a:rPr lang="en-US" sz="2400" cap="none" dirty="0" err="1">
                <a:latin typeface="Times New Roman" panose="02020603050405020304" pitchFamily="18" charset="0"/>
                <a:cs typeface="Times New Roman" panose="02020603050405020304" pitchFamily="18" charset="0"/>
              </a:rPr>
              <a:t>pupillometry</a:t>
            </a:r>
            <a:endParaRPr lang="en-IN" sz="2400" cap="none"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36A144F7-567F-9528-2D4F-CEC1862977EC}"/>
              </a:ext>
            </a:extLst>
          </p:cNvPr>
          <p:cNvPicPr>
            <a:picLocks noGrp="1" noChangeAspect="1"/>
          </p:cNvPicPr>
          <p:nvPr>
            <p:ph sz="quarter" idx="13"/>
          </p:nvPr>
        </p:nvPicPr>
        <p:blipFill>
          <a:blip r:embed="rId2"/>
          <a:stretch>
            <a:fillRect/>
          </a:stretch>
        </p:blipFill>
        <p:spPr>
          <a:xfrm>
            <a:off x="2618509" y="731520"/>
            <a:ext cx="7572896" cy="4879571"/>
          </a:xfrm>
          <a:prstGeom prst="rect">
            <a:avLst/>
          </a:prstGeom>
        </p:spPr>
      </p:pic>
      <p:sp>
        <p:nvSpPr>
          <p:cNvPr id="3" name="Footer Placeholder 2">
            <a:extLst>
              <a:ext uri="{FF2B5EF4-FFF2-40B4-BE49-F238E27FC236}">
                <a16:creationId xmlns:a16="http://schemas.microsoft.com/office/drawing/2014/main" id="{C5A7231E-747F-D127-052B-FB884E74C96C}"/>
              </a:ext>
            </a:extLst>
          </p:cNvPr>
          <p:cNvSpPr>
            <a:spLocks noGrp="1"/>
          </p:cNvSpPr>
          <p:nvPr>
            <p:ph type="ftr" sz="quarter" idx="11"/>
          </p:nvPr>
        </p:nvSpPr>
        <p:spPr>
          <a:xfrm>
            <a:off x="714896" y="5883275"/>
            <a:ext cx="6871766" cy="1632816"/>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33FF0B34-DBF8-DC65-79BD-5B792AF454B0}"/>
              </a:ext>
            </a:extLst>
          </p:cNvPr>
          <p:cNvSpPr>
            <a:spLocks noGrp="1"/>
          </p:cNvSpPr>
          <p:nvPr>
            <p:ph type="sldNum" sz="quarter" idx="12"/>
          </p:nvPr>
        </p:nvSpPr>
        <p:spPr>
          <a:xfrm>
            <a:off x="10514011" y="5883275"/>
            <a:ext cx="1677989" cy="1702089"/>
          </a:xfrm>
        </p:spPr>
        <p:txBody>
          <a:bodyPr/>
          <a:lstStyle/>
          <a:p>
            <a:fld id="{D11D1588-8316-42EA-B695-F2D8B3238057}" type="slidenum">
              <a:rPr lang="en-IN" smtClean="0"/>
              <a:t>13</a:t>
            </a:fld>
            <a:endParaRPr lang="en-IN" dirty="0"/>
          </a:p>
        </p:txBody>
      </p:sp>
      <p:sp>
        <p:nvSpPr>
          <p:cNvPr id="6" name="Date Placeholder 5">
            <a:extLst>
              <a:ext uri="{FF2B5EF4-FFF2-40B4-BE49-F238E27FC236}">
                <a16:creationId xmlns:a16="http://schemas.microsoft.com/office/drawing/2014/main" id="{893B4176-81BD-090A-97A3-E2E6E05F29F3}"/>
              </a:ext>
            </a:extLst>
          </p:cNvPr>
          <p:cNvSpPr>
            <a:spLocks noGrp="1"/>
          </p:cNvSpPr>
          <p:nvPr>
            <p:ph type="dt" sz="half" idx="10"/>
          </p:nvPr>
        </p:nvSpPr>
        <p:spPr>
          <a:xfrm>
            <a:off x="7678737" y="5883275"/>
            <a:ext cx="2743200" cy="1632816"/>
          </a:xfrm>
        </p:spPr>
        <p:txBody>
          <a:bodyPr/>
          <a:lstStyle/>
          <a:p>
            <a:r>
              <a:rPr lang="en-IN" dirty="0"/>
              <a:t>11-04-2025</a:t>
            </a:r>
          </a:p>
        </p:txBody>
      </p:sp>
    </p:spTree>
    <p:extLst>
      <p:ext uri="{BB962C8B-B14F-4D97-AF65-F5344CB8AC3E}">
        <p14:creationId xmlns:p14="http://schemas.microsoft.com/office/powerpoint/2010/main" val="3812029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CB1FD-459B-7A71-9A16-B0F53F8A5286}"/>
              </a:ext>
            </a:extLst>
          </p:cNvPr>
          <p:cNvSpPr>
            <a:spLocks noGrp="1"/>
          </p:cNvSpPr>
          <p:nvPr>
            <p:ph type="title"/>
          </p:nvPr>
        </p:nvSpPr>
        <p:spPr>
          <a:xfrm>
            <a:off x="628026" y="-529376"/>
            <a:ext cx="10364451" cy="1596177"/>
          </a:xfrm>
        </p:spPr>
        <p:txBody>
          <a:bodyPr/>
          <a:lstStyle/>
          <a:p>
            <a:r>
              <a:rPr lang="en-US" dirty="0" err="1"/>
              <a:t>Uml</a:t>
            </a:r>
            <a:r>
              <a:rPr lang="en-US" dirty="0"/>
              <a:t> diagrams</a:t>
            </a:r>
            <a:endParaRPr lang="en-IN" dirty="0"/>
          </a:p>
        </p:txBody>
      </p:sp>
      <p:sp>
        <p:nvSpPr>
          <p:cNvPr id="3" name="Content Placeholder 2">
            <a:extLst>
              <a:ext uri="{FF2B5EF4-FFF2-40B4-BE49-F238E27FC236}">
                <a16:creationId xmlns:a16="http://schemas.microsoft.com/office/drawing/2014/main" id="{DEC0891D-62B6-6307-8FCF-294D62B9C812}"/>
              </a:ext>
            </a:extLst>
          </p:cNvPr>
          <p:cNvSpPr>
            <a:spLocks noGrp="1"/>
          </p:cNvSpPr>
          <p:nvPr>
            <p:ph sz="quarter" idx="13"/>
          </p:nvPr>
        </p:nvSpPr>
        <p:spPr>
          <a:xfrm>
            <a:off x="628026" y="5952931"/>
            <a:ext cx="10857958" cy="905068"/>
          </a:xfrm>
        </p:spPr>
        <p:txBody>
          <a:bodyPr>
            <a:normAutofit fontScale="55000" lnSpcReduction="20000"/>
          </a:bodyPr>
          <a:lstStyle/>
          <a:p>
            <a:pPr marL="0" indent="0" algn="ctr">
              <a:buNone/>
            </a:pPr>
            <a:r>
              <a:rPr lang="en-US" sz="4400" cap="none" dirty="0">
                <a:latin typeface="Times New Roman" panose="02020603050405020304" pitchFamily="18" charset="0"/>
                <a:cs typeface="Times New Roman" panose="02020603050405020304" pitchFamily="18" charset="0"/>
              </a:rPr>
              <a:t>fig1: </a:t>
            </a:r>
            <a:r>
              <a:rPr lang="en-US" sz="4400" cap="none" dirty="0" err="1">
                <a:latin typeface="Times New Roman" panose="02020603050405020304" pitchFamily="18" charset="0"/>
                <a:cs typeface="Times New Roman" panose="02020603050405020304" pitchFamily="18" charset="0"/>
              </a:rPr>
              <a:t>Usecase</a:t>
            </a:r>
            <a:r>
              <a:rPr lang="en-US" sz="4400" cap="none" dirty="0">
                <a:latin typeface="Times New Roman" panose="02020603050405020304" pitchFamily="18" charset="0"/>
                <a:cs typeface="Times New Roman" panose="02020603050405020304" pitchFamily="18" charset="0"/>
              </a:rPr>
              <a:t> diagram for Automatic detection of genetic diseases in pediatric age using pupillometry</a:t>
            </a:r>
            <a:endParaRPr lang="en-IN" sz="4400" cap="none"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7FB10AEA-A63B-C60D-54C5-07790478AFB7}"/>
              </a:ext>
            </a:extLst>
          </p:cNvPr>
          <p:cNvPicPr>
            <a:picLocks noChangeAspect="1"/>
          </p:cNvPicPr>
          <p:nvPr/>
        </p:nvPicPr>
        <p:blipFill>
          <a:blip r:embed="rId2"/>
          <a:stretch>
            <a:fillRect/>
          </a:stretch>
        </p:blipFill>
        <p:spPr>
          <a:xfrm>
            <a:off x="1438859" y="457198"/>
            <a:ext cx="8742783" cy="5589037"/>
          </a:xfrm>
          <a:prstGeom prst="rect">
            <a:avLst/>
          </a:prstGeom>
        </p:spPr>
      </p:pic>
      <p:sp>
        <p:nvSpPr>
          <p:cNvPr id="5" name="Footer Placeholder 4">
            <a:extLst>
              <a:ext uri="{FF2B5EF4-FFF2-40B4-BE49-F238E27FC236}">
                <a16:creationId xmlns:a16="http://schemas.microsoft.com/office/drawing/2014/main" id="{5C19CFDF-786B-B8A8-CE39-94E5B952DE07}"/>
              </a:ext>
            </a:extLst>
          </p:cNvPr>
          <p:cNvSpPr>
            <a:spLocks noGrp="1"/>
          </p:cNvSpPr>
          <p:nvPr>
            <p:ph type="ftr" sz="quarter" idx="11"/>
          </p:nvPr>
        </p:nvSpPr>
        <p:spPr>
          <a:xfrm>
            <a:off x="706016" y="5883275"/>
            <a:ext cx="6880645" cy="1702089"/>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61E36D54-F306-5FAF-BB00-53CECCE5C456}"/>
              </a:ext>
            </a:extLst>
          </p:cNvPr>
          <p:cNvSpPr>
            <a:spLocks noGrp="1"/>
          </p:cNvSpPr>
          <p:nvPr>
            <p:ph type="sldNum" sz="quarter" idx="12"/>
          </p:nvPr>
        </p:nvSpPr>
        <p:spPr>
          <a:xfrm>
            <a:off x="10514011" y="5883275"/>
            <a:ext cx="1733407" cy="1653598"/>
          </a:xfrm>
        </p:spPr>
        <p:txBody>
          <a:bodyPr/>
          <a:lstStyle/>
          <a:p>
            <a:fld id="{D11D1588-8316-42EA-B695-F2D8B3238057}" type="slidenum">
              <a:rPr lang="en-IN" smtClean="0"/>
              <a:t>14</a:t>
            </a:fld>
            <a:endParaRPr lang="en-IN" dirty="0"/>
          </a:p>
        </p:txBody>
      </p:sp>
      <p:sp>
        <p:nvSpPr>
          <p:cNvPr id="7" name="Date Placeholder 6">
            <a:extLst>
              <a:ext uri="{FF2B5EF4-FFF2-40B4-BE49-F238E27FC236}">
                <a16:creationId xmlns:a16="http://schemas.microsoft.com/office/drawing/2014/main" id="{B4DF661E-E45A-2F11-4E86-1CEA7A6A2D9C}"/>
              </a:ext>
            </a:extLst>
          </p:cNvPr>
          <p:cNvSpPr>
            <a:spLocks noGrp="1"/>
          </p:cNvSpPr>
          <p:nvPr>
            <p:ph type="dt" sz="half" idx="10"/>
          </p:nvPr>
        </p:nvSpPr>
        <p:spPr>
          <a:xfrm>
            <a:off x="7678737" y="5883275"/>
            <a:ext cx="2743200" cy="1465176"/>
          </a:xfrm>
        </p:spPr>
        <p:txBody>
          <a:bodyPr/>
          <a:lstStyle/>
          <a:p>
            <a:r>
              <a:rPr lang="en-IN" dirty="0"/>
              <a:t>11-04-2025</a:t>
            </a:r>
          </a:p>
        </p:txBody>
      </p:sp>
    </p:spTree>
    <p:extLst>
      <p:ext uri="{BB962C8B-B14F-4D97-AF65-F5344CB8AC3E}">
        <p14:creationId xmlns:p14="http://schemas.microsoft.com/office/powerpoint/2010/main" val="3370510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28934F3-9D6F-DB8F-6E6A-BC336EA2A9C7}"/>
              </a:ext>
            </a:extLst>
          </p:cNvPr>
          <p:cNvSpPr>
            <a:spLocks noGrp="1"/>
          </p:cNvSpPr>
          <p:nvPr>
            <p:ph type="subTitle" idx="1"/>
          </p:nvPr>
        </p:nvSpPr>
        <p:spPr>
          <a:xfrm>
            <a:off x="130628" y="5486401"/>
            <a:ext cx="12061371" cy="1371599"/>
          </a:xfrm>
        </p:spPr>
        <p:txBody>
          <a:bodyPr>
            <a:normAutofit/>
          </a:bodyPr>
          <a:lstStyle/>
          <a:p>
            <a:r>
              <a:rPr lang="en-US" sz="2400" cap="none" dirty="0">
                <a:solidFill>
                  <a:schemeClr val="tx1"/>
                </a:solidFill>
                <a:latin typeface="Times New Roman" panose="02020603050405020304" pitchFamily="18" charset="0"/>
                <a:cs typeface="Times New Roman" panose="02020603050405020304" pitchFamily="18" charset="0"/>
              </a:rPr>
              <a:t>fig2: Class diagram for </a:t>
            </a:r>
            <a:r>
              <a:rPr lang="en-US" sz="2400" cap="none" dirty="0">
                <a:solidFill>
                  <a:schemeClr val="tx1">
                    <a:lumMod val="95000"/>
                    <a:lumOff val="5000"/>
                  </a:schemeClr>
                </a:solidFill>
                <a:latin typeface="Times New Roman" panose="02020603050405020304" pitchFamily="18" charset="0"/>
                <a:cs typeface="Times New Roman" panose="02020603050405020304" pitchFamily="18" charset="0"/>
              </a:rPr>
              <a:t>Automatic detection of genetic diseases in pediatric age using pupillometry</a:t>
            </a:r>
            <a:endParaRPr lang="en-IN" sz="2400" cap="none"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5" name="Image 71"/>
          <p:cNvPicPr/>
          <p:nvPr/>
        </p:nvPicPr>
        <p:blipFill>
          <a:blip r:embed="rId2" cstate="print"/>
          <a:stretch>
            <a:fillRect/>
          </a:stretch>
        </p:blipFill>
        <p:spPr>
          <a:xfrm>
            <a:off x="2508068" y="1136470"/>
            <a:ext cx="6884126" cy="3892730"/>
          </a:xfrm>
          <a:prstGeom prst="rect">
            <a:avLst/>
          </a:prstGeom>
        </p:spPr>
      </p:pic>
      <p:sp>
        <p:nvSpPr>
          <p:cNvPr id="2" name="Footer Placeholder 1">
            <a:extLst>
              <a:ext uri="{FF2B5EF4-FFF2-40B4-BE49-F238E27FC236}">
                <a16:creationId xmlns:a16="http://schemas.microsoft.com/office/drawing/2014/main" id="{3F14438C-5EF6-A775-90F9-7CFE04D3C5C1}"/>
              </a:ext>
            </a:extLst>
          </p:cNvPr>
          <p:cNvSpPr>
            <a:spLocks noGrp="1"/>
          </p:cNvSpPr>
          <p:nvPr>
            <p:ph type="ftr" sz="quarter" idx="11"/>
          </p:nvPr>
        </p:nvSpPr>
        <p:spPr>
          <a:xfrm>
            <a:off x="706582" y="5883275"/>
            <a:ext cx="6880079" cy="1612034"/>
          </a:xfrm>
        </p:spPr>
        <p:txBody>
          <a:bodyPr/>
          <a:lstStyle/>
          <a:p>
            <a:r>
              <a:rPr lang="en-US" dirty="0"/>
              <a:t>Department of CSE,BVCITS(H4),Amalapuram</a:t>
            </a:r>
            <a:endParaRPr lang="en-IN" dirty="0"/>
          </a:p>
        </p:txBody>
      </p:sp>
      <p:sp>
        <p:nvSpPr>
          <p:cNvPr id="4" name="Slide Number Placeholder 3">
            <a:extLst>
              <a:ext uri="{FF2B5EF4-FFF2-40B4-BE49-F238E27FC236}">
                <a16:creationId xmlns:a16="http://schemas.microsoft.com/office/drawing/2014/main" id="{C47C5673-8ED4-32C5-EF9F-FC43E0DFD4C8}"/>
              </a:ext>
            </a:extLst>
          </p:cNvPr>
          <p:cNvSpPr>
            <a:spLocks noGrp="1"/>
          </p:cNvSpPr>
          <p:nvPr>
            <p:ph type="sldNum" sz="quarter" idx="12"/>
          </p:nvPr>
        </p:nvSpPr>
        <p:spPr>
          <a:xfrm>
            <a:off x="10514011" y="5883275"/>
            <a:ext cx="1677988" cy="1612034"/>
          </a:xfrm>
        </p:spPr>
        <p:txBody>
          <a:bodyPr/>
          <a:lstStyle/>
          <a:p>
            <a:fld id="{D11D1588-8316-42EA-B695-F2D8B3238057}" type="slidenum">
              <a:rPr lang="en-IN" smtClean="0"/>
              <a:t>15</a:t>
            </a:fld>
            <a:endParaRPr lang="en-IN" dirty="0"/>
          </a:p>
        </p:txBody>
      </p:sp>
      <p:sp>
        <p:nvSpPr>
          <p:cNvPr id="6" name="Date Placeholder 5">
            <a:extLst>
              <a:ext uri="{FF2B5EF4-FFF2-40B4-BE49-F238E27FC236}">
                <a16:creationId xmlns:a16="http://schemas.microsoft.com/office/drawing/2014/main" id="{BF369C8C-A251-39BC-1A67-1B6F1232F9E8}"/>
              </a:ext>
            </a:extLst>
          </p:cNvPr>
          <p:cNvSpPr>
            <a:spLocks noGrp="1"/>
          </p:cNvSpPr>
          <p:nvPr>
            <p:ph type="dt" sz="half" idx="10"/>
          </p:nvPr>
        </p:nvSpPr>
        <p:spPr>
          <a:xfrm>
            <a:off x="7678737" y="5883275"/>
            <a:ext cx="2743200" cy="1190856"/>
          </a:xfrm>
        </p:spPr>
        <p:txBody>
          <a:bodyPr/>
          <a:lstStyle/>
          <a:p>
            <a:r>
              <a:rPr lang="en-IN" dirty="0"/>
              <a:t>11-04-2025</a:t>
            </a:r>
          </a:p>
        </p:txBody>
      </p:sp>
    </p:spTree>
    <p:extLst>
      <p:ext uri="{BB962C8B-B14F-4D97-AF65-F5344CB8AC3E}">
        <p14:creationId xmlns:p14="http://schemas.microsoft.com/office/powerpoint/2010/main" val="3815226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3D40C-B198-D97C-68FC-0EA695350A4F}"/>
              </a:ext>
            </a:extLst>
          </p:cNvPr>
          <p:cNvSpPr>
            <a:spLocks noGrp="1"/>
          </p:cNvSpPr>
          <p:nvPr>
            <p:ph type="title"/>
          </p:nvPr>
        </p:nvSpPr>
        <p:spPr>
          <a:xfrm>
            <a:off x="-143691" y="5910168"/>
            <a:ext cx="12453257" cy="1130711"/>
          </a:xfrm>
        </p:spPr>
        <p:txBody>
          <a:bodyPr>
            <a:normAutofit/>
          </a:bodyPr>
          <a:lstStyle/>
          <a:p>
            <a:r>
              <a:rPr lang="en-US" sz="2400" cap="none" dirty="0">
                <a:latin typeface="Times New Roman" panose="02020603050405020304" pitchFamily="18" charset="0"/>
                <a:cs typeface="Times New Roman" panose="02020603050405020304" pitchFamily="18" charset="0"/>
              </a:rPr>
              <a:t>fig3: Sequence diagram for Automatic detection of genetic diseases in pediatric age using pupillometry</a:t>
            </a:r>
            <a:endParaRPr lang="en-IN" sz="2400" cap="none"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9C024C01-8AFB-8CC7-9C00-8FE52D553013}"/>
              </a:ext>
            </a:extLst>
          </p:cNvPr>
          <p:cNvSpPr txBox="1">
            <a:spLocks/>
          </p:cNvSpPr>
          <p:nvPr/>
        </p:nvSpPr>
        <p:spPr>
          <a:xfrm>
            <a:off x="6756351" y="0"/>
            <a:ext cx="5182225" cy="11307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endParaRPr lang="en-IN" sz="2800" dirty="0">
              <a:latin typeface="Times New Roman" panose="02020603050405020304" pitchFamily="18" charset="0"/>
              <a:cs typeface="Times New Roman" panose="02020603050405020304" pitchFamily="18" charset="0"/>
            </a:endParaRPr>
          </a:p>
        </p:txBody>
      </p:sp>
      <p:pic>
        <p:nvPicPr>
          <p:cNvPr id="6" name="Image 75"/>
          <p:cNvPicPr/>
          <p:nvPr/>
        </p:nvPicPr>
        <p:blipFill>
          <a:blip r:embed="rId2" cstate="print"/>
          <a:stretch>
            <a:fillRect/>
          </a:stretch>
        </p:blipFill>
        <p:spPr>
          <a:xfrm>
            <a:off x="2364377" y="209006"/>
            <a:ext cx="8072846" cy="5891349"/>
          </a:xfrm>
          <a:prstGeom prst="rect">
            <a:avLst/>
          </a:prstGeom>
        </p:spPr>
      </p:pic>
      <p:sp>
        <p:nvSpPr>
          <p:cNvPr id="3" name="Footer Placeholder 2">
            <a:extLst>
              <a:ext uri="{FF2B5EF4-FFF2-40B4-BE49-F238E27FC236}">
                <a16:creationId xmlns:a16="http://schemas.microsoft.com/office/drawing/2014/main" id="{220F60EA-0A50-9CCD-A0BD-BEE813A8635E}"/>
              </a:ext>
            </a:extLst>
          </p:cNvPr>
          <p:cNvSpPr>
            <a:spLocks noGrp="1"/>
          </p:cNvSpPr>
          <p:nvPr>
            <p:ph type="ftr" sz="quarter" idx="11"/>
          </p:nvPr>
        </p:nvSpPr>
        <p:spPr>
          <a:xfrm>
            <a:off x="723208" y="5883275"/>
            <a:ext cx="6863454" cy="1605107"/>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84038C87-5FC1-E4CD-B072-6B27455FF1A5}"/>
              </a:ext>
            </a:extLst>
          </p:cNvPr>
          <p:cNvSpPr>
            <a:spLocks noGrp="1"/>
          </p:cNvSpPr>
          <p:nvPr>
            <p:ph type="sldNum" sz="quarter" idx="12"/>
          </p:nvPr>
        </p:nvSpPr>
        <p:spPr>
          <a:xfrm>
            <a:off x="10514011" y="5883275"/>
            <a:ext cx="1677989" cy="1605107"/>
          </a:xfrm>
        </p:spPr>
        <p:txBody>
          <a:bodyPr/>
          <a:lstStyle/>
          <a:p>
            <a:fld id="{D11D1588-8316-42EA-B695-F2D8B3238057}" type="slidenum">
              <a:rPr lang="en-IN" smtClean="0"/>
              <a:t>16</a:t>
            </a:fld>
            <a:endParaRPr lang="en-IN" dirty="0"/>
          </a:p>
        </p:txBody>
      </p:sp>
      <p:sp>
        <p:nvSpPr>
          <p:cNvPr id="7" name="Date Placeholder 6">
            <a:extLst>
              <a:ext uri="{FF2B5EF4-FFF2-40B4-BE49-F238E27FC236}">
                <a16:creationId xmlns:a16="http://schemas.microsoft.com/office/drawing/2014/main" id="{6267FFE0-2168-CC2A-BA9F-D8F0123C8B7D}"/>
              </a:ext>
            </a:extLst>
          </p:cNvPr>
          <p:cNvSpPr>
            <a:spLocks noGrp="1"/>
          </p:cNvSpPr>
          <p:nvPr>
            <p:ph type="dt" sz="half" idx="10"/>
          </p:nvPr>
        </p:nvSpPr>
        <p:spPr>
          <a:xfrm>
            <a:off x="7678737" y="5883275"/>
            <a:ext cx="2743200" cy="1605107"/>
          </a:xfrm>
        </p:spPr>
        <p:txBody>
          <a:bodyPr/>
          <a:lstStyle/>
          <a:p>
            <a:r>
              <a:rPr lang="en-IN" dirty="0"/>
              <a:t>11-04-2025</a:t>
            </a:r>
          </a:p>
        </p:txBody>
      </p:sp>
    </p:spTree>
    <p:extLst>
      <p:ext uri="{BB962C8B-B14F-4D97-AF65-F5344CB8AC3E}">
        <p14:creationId xmlns:p14="http://schemas.microsoft.com/office/powerpoint/2010/main" val="1239943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44E6A-07F0-5006-C818-B1EF663338C7}"/>
              </a:ext>
            </a:extLst>
          </p:cNvPr>
          <p:cNvSpPr>
            <a:spLocks noGrp="1"/>
          </p:cNvSpPr>
          <p:nvPr>
            <p:ph type="title"/>
          </p:nvPr>
        </p:nvSpPr>
        <p:spPr>
          <a:xfrm>
            <a:off x="0" y="5715292"/>
            <a:ext cx="12296502" cy="1439642"/>
          </a:xfrm>
        </p:spPr>
        <p:txBody>
          <a:bodyPr>
            <a:normAutofit/>
          </a:bodyPr>
          <a:lstStyle/>
          <a:p>
            <a:r>
              <a:rPr lang="en-US" sz="2400" cap="none" dirty="0">
                <a:latin typeface="Times New Roman" panose="02020603050405020304" pitchFamily="18" charset="0"/>
                <a:cs typeface="Times New Roman" panose="02020603050405020304" pitchFamily="18" charset="0"/>
              </a:rPr>
              <a:t>fig4: Activity diagram for Automatic detection of genetic diseases in pediatric age using pupillometry</a:t>
            </a:r>
            <a:endParaRPr lang="en-IN" sz="2400" cap="none" dirty="0">
              <a:latin typeface="Times New Roman" panose="02020603050405020304" pitchFamily="18" charset="0"/>
              <a:cs typeface="Times New Roman" panose="02020603050405020304" pitchFamily="18" charset="0"/>
            </a:endParaRPr>
          </a:p>
        </p:txBody>
      </p:sp>
      <p:sp>
        <p:nvSpPr>
          <p:cNvPr id="6" name="Title 1">
            <a:extLst>
              <a:ext uri="{FF2B5EF4-FFF2-40B4-BE49-F238E27FC236}">
                <a16:creationId xmlns:a16="http://schemas.microsoft.com/office/drawing/2014/main" id="{CE332A9E-375B-C5C5-6D98-57B11B0B2F64}"/>
              </a:ext>
            </a:extLst>
          </p:cNvPr>
          <p:cNvSpPr txBox="1">
            <a:spLocks/>
          </p:cNvSpPr>
          <p:nvPr/>
        </p:nvSpPr>
        <p:spPr>
          <a:xfrm>
            <a:off x="6327585" y="68826"/>
            <a:ext cx="5590792" cy="997974"/>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endParaRPr lang="en-IN" dirty="0"/>
          </a:p>
        </p:txBody>
      </p:sp>
      <p:pic>
        <p:nvPicPr>
          <p:cNvPr id="3" name="Picture 2">
            <a:extLst>
              <a:ext uri="{FF2B5EF4-FFF2-40B4-BE49-F238E27FC236}">
                <a16:creationId xmlns:a16="http://schemas.microsoft.com/office/drawing/2014/main" id="{83288264-BE00-9A9A-2244-7194213AA26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75215" y="-91440"/>
            <a:ext cx="7356762" cy="7348451"/>
          </a:xfrm>
          <a:prstGeom prst="rect">
            <a:avLst/>
          </a:prstGeom>
          <a:noFill/>
          <a:ln>
            <a:noFill/>
          </a:ln>
        </p:spPr>
      </p:pic>
      <p:sp>
        <p:nvSpPr>
          <p:cNvPr id="4" name="Footer Placeholder 3">
            <a:extLst>
              <a:ext uri="{FF2B5EF4-FFF2-40B4-BE49-F238E27FC236}">
                <a16:creationId xmlns:a16="http://schemas.microsoft.com/office/drawing/2014/main" id="{9B00595B-158F-374F-6A6C-EA20E4ECEB22}"/>
              </a:ext>
            </a:extLst>
          </p:cNvPr>
          <p:cNvSpPr>
            <a:spLocks noGrp="1"/>
          </p:cNvSpPr>
          <p:nvPr>
            <p:ph type="ftr" sz="quarter" idx="11"/>
          </p:nvPr>
        </p:nvSpPr>
        <p:spPr>
          <a:xfrm>
            <a:off x="706582" y="5883275"/>
            <a:ext cx="6880079" cy="1534002"/>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AAA94007-0D6B-EA7C-23C1-140CCFC7264D}"/>
              </a:ext>
            </a:extLst>
          </p:cNvPr>
          <p:cNvSpPr>
            <a:spLocks noGrp="1"/>
          </p:cNvSpPr>
          <p:nvPr>
            <p:ph type="sldNum" sz="quarter" idx="12"/>
          </p:nvPr>
        </p:nvSpPr>
        <p:spPr>
          <a:xfrm>
            <a:off x="10514011" y="5883275"/>
            <a:ext cx="1677989" cy="1639743"/>
          </a:xfrm>
        </p:spPr>
        <p:txBody>
          <a:bodyPr/>
          <a:lstStyle/>
          <a:p>
            <a:fld id="{D11D1588-8316-42EA-B695-F2D8B3238057}" type="slidenum">
              <a:rPr lang="en-IN" smtClean="0"/>
              <a:t>17</a:t>
            </a:fld>
            <a:endParaRPr lang="en-IN" dirty="0"/>
          </a:p>
        </p:txBody>
      </p:sp>
      <p:sp>
        <p:nvSpPr>
          <p:cNvPr id="7" name="Date Placeholder 6">
            <a:extLst>
              <a:ext uri="{FF2B5EF4-FFF2-40B4-BE49-F238E27FC236}">
                <a16:creationId xmlns:a16="http://schemas.microsoft.com/office/drawing/2014/main" id="{15714D9A-80F5-8ED3-724A-C447640E972E}"/>
              </a:ext>
            </a:extLst>
          </p:cNvPr>
          <p:cNvSpPr>
            <a:spLocks noGrp="1"/>
          </p:cNvSpPr>
          <p:nvPr>
            <p:ph type="dt" sz="half" idx="10"/>
          </p:nvPr>
        </p:nvSpPr>
        <p:spPr>
          <a:xfrm>
            <a:off x="7678737" y="5883275"/>
            <a:ext cx="2743200" cy="1534002"/>
          </a:xfrm>
        </p:spPr>
        <p:txBody>
          <a:bodyPr/>
          <a:lstStyle/>
          <a:p>
            <a:r>
              <a:rPr lang="en-IN" dirty="0"/>
              <a:t>11-04-2025</a:t>
            </a:r>
          </a:p>
        </p:txBody>
      </p:sp>
    </p:spTree>
    <p:extLst>
      <p:ext uri="{BB962C8B-B14F-4D97-AF65-F5344CB8AC3E}">
        <p14:creationId xmlns:p14="http://schemas.microsoft.com/office/powerpoint/2010/main" val="759136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693BC39-FC12-7D1F-8C91-AF0824EA0210}"/>
              </a:ext>
            </a:extLst>
          </p:cNvPr>
          <p:cNvSpPr>
            <a:spLocks noGrp="1"/>
          </p:cNvSpPr>
          <p:nvPr>
            <p:ph type="subTitle" idx="1"/>
          </p:nvPr>
        </p:nvSpPr>
        <p:spPr>
          <a:xfrm>
            <a:off x="-130629" y="5638800"/>
            <a:ext cx="12322629" cy="1219200"/>
          </a:xfrm>
        </p:spPr>
        <p:txBody>
          <a:bodyPr/>
          <a:lstStyle/>
          <a:p>
            <a:r>
              <a:rPr lang="en-US" sz="2400" cap="none" dirty="0">
                <a:solidFill>
                  <a:schemeClr val="tx1"/>
                </a:solidFill>
                <a:latin typeface="Times New Roman" panose="02020603050405020304" pitchFamily="18" charset="0"/>
                <a:cs typeface="Times New Roman" panose="02020603050405020304" pitchFamily="18" charset="0"/>
              </a:rPr>
              <a:t>fig5: Component diagram </a:t>
            </a:r>
            <a:r>
              <a:rPr lang="en-US" sz="2400" cap="none" dirty="0">
                <a:solidFill>
                  <a:schemeClr val="tx1">
                    <a:lumMod val="95000"/>
                    <a:lumOff val="5000"/>
                  </a:schemeClr>
                </a:solidFill>
                <a:latin typeface="Times New Roman" panose="02020603050405020304" pitchFamily="18" charset="0"/>
                <a:cs typeface="Times New Roman" panose="02020603050405020304" pitchFamily="18" charset="0"/>
              </a:rPr>
              <a:t>Automatic detection of genetic diseases in pediatric age using pupillometry</a:t>
            </a:r>
            <a:endParaRPr lang="en-IN" sz="2400" cap="none"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dirty="0"/>
          </a:p>
        </p:txBody>
      </p:sp>
      <p:pic>
        <p:nvPicPr>
          <p:cNvPr id="5" name="Image 83"/>
          <p:cNvPicPr/>
          <p:nvPr/>
        </p:nvPicPr>
        <p:blipFill>
          <a:blip r:embed="rId2" cstate="print"/>
          <a:stretch>
            <a:fillRect/>
          </a:stretch>
        </p:blipFill>
        <p:spPr>
          <a:xfrm>
            <a:off x="1894114" y="1214846"/>
            <a:ext cx="8546874" cy="3788228"/>
          </a:xfrm>
          <a:prstGeom prst="rect">
            <a:avLst/>
          </a:prstGeom>
        </p:spPr>
      </p:pic>
      <p:sp>
        <p:nvSpPr>
          <p:cNvPr id="2" name="Footer Placeholder 1">
            <a:extLst>
              <a:ext uri="{FF2B5EF4-FFF2-40B4-BE49-F238E27FC236}">
                <a16:creationId xmlns:a16="http://schemas.microsoft.com/office/drawing/2014/main" id="{45018A28-929F-4FF8-6E34-299738B8DE97}"/>
              </a:ext>
            </a:extLst>
          </p:cNvPr>
          <p:cNvSpPr>
            <a:spLocks noGrp="1"/>
          </p:cNvSpPr>
          <p:nvPr>
            <p:ph type="ftr" sz="quarter" idx="11"/>
          </p:nvPr>
        </p:nvSpPr>
        <p:spPr>
          <a:xfrm>
            <a:off x="706582" y="5883275"/>
            <a:ext cx="6880079" cy="1542761"/>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2A99AC6-3652-2BF9-3435-3353EBCDAEB1}"/>
              </a:ext>
            </a:extLst>
          </p:cNvPr>
          <p:cNvSpPr>
            <a:spLocks noGrp="1"/>
          </p:cNvSpPr>
          <p:nvPr>
            <p:ph type="sldNum" sz="quarter" idx="12"/>
          </p:nvPr>
        </p:nvSpPr>
        <p:spPr>
          <a:xfrm>
            <a:off x="10514011" y="5883275"/>
            <a:ext cx="1677989" cy="1610451"/>
          </a:xfrm>
        </p:spPr>
        <p:txBody>
          <a:bodyPr/>
          <a:lstStyle/>
          <a:p>
            <a:fld id="{D11D1588-8316-42EA-B695-F2D8B3238057}" type="slidenum">
              <a:rPr lang="en-IN" smtClean="0"/>
              <a:t>18</a:t>
            </a:fld>
            <a:endParaRPr lang="en-IN" dirty="0"/>
          </a:p>
        </p:txBody>
      </p:sp>
      <p:sp>
        <p:nvSpPr>
          <p:cNvPr id="6" name="Date Placeholder 5">
            <a:extLst>
              <a:ext uri="{FF2B5EF4-FFF2-40B4-BE49-F238E27FC236}">
                <a16:creationId xmlns:a16="http://schemas.microsoft.com/office/drawing/2014/main" id="{0B9DDBAF-FF0B-B5FB-0B99-419EE40A1134}"/>
              </a:ext>
            </a:extLst>
          </p:cNvPr>
          <p:cNvSpPr>
            <a:spLocks noGrp="1"/>
          </p:cNvSpPr>
          <p:nvPr>
            <p:ph type="dt" sz="half" idx="10"/>
          </p:nvPr>
        </p:nvSpPr>
        <p:spPr>
          <a:xfrm>
            <a:off x="7678737" y="5883275"/>
            <a:ext cx="2743200" cy="1423612"/>
          </a:xfrm>
        </p:spPr>
        <p:txBody>
          <a:bodyPr/>
          <a:lstStyle/>
          <a:p>
            <a:r>
              <a:rPr lang="en-IN" dirty="0"/>
              <a:t>11-04-2025</a:t>
            </a:r>
          </a:p>
        </p:txBody>
      </p:sp>
    </p:spTree>
    <p:extLst>
      <p:ext uri="{BB962C8B-B14F-4D97-AF65-F5344CB8AC3E}">
        <p14:creationId xmlns:p14="http://schemas.microsoft.com/office/powerpoint/2010/main" val="3256906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6D8B1-F5F2-B055-0443-F7BC1C6BE09B}"/>
              </a:ext>
            </a:extLst>
          </p:cNvPr>
          <p:cNvSpPr>
            <a:spLocks noGrp="1"/>
          </p:cNvSpPr>
          <p:nvPr>
            <p:ph type="ctrTitle"/>
          </p:nvPr>
        </p:nvSpPr>
        <p:spPr>
          <a:xfrm>
            <a:off x="1751012" y="173183"/>
            <a:ext cx="8689976" cy="706582"/>
          </a:xfrm>
        </p:spPr>
        <p:txBody>
          <a:bodyPr>
            <a:normAutofit/>
          </a:bodyPr>
          <a:lstStyle/>
          <a:p>
            <a:r>
              <a:rPr lang="en-IN" sz="2800" dirty="0"/>
              <a:t>implementation</a:t>
            </a:r>
          </a:p>
        </p:txBody>
      </p:sp>
      <p:sp>
        <p:nvSpPr>
          <p:cNvPr id="3" name="Subtitle 2">
            <a:extLst>
              <a:ext uri="{FF2B5EF4-FFF2-40B4-BE49-F238E27FC236}">
                <a16:creationId xmlns:a16="http://schemas.microsoft.com/office/drawing/2014/main" id="{D04BA9CB-71BD-2918-8324-2529F60DB7BC}"/>
              </a:ext>
            </a:extLst>
          </p:cNvPr>
          <p:cNvSpPr>
            <a:spLocks noGrp="1"/>
          </p:cNvSpPr>
          <p:nvPr>
            <p:ph type="subTitle" idx="1"/>
          </p:nvPr>
        </p:nvSpPr>
        <p:spPr>
          <a:xfrm>
            <a:off x="706582" y="962891"/>
            <a:ext cx="10778836" cy="6086301"/>
          </a:xfrm>
        </p:spPr>
        <p:txBody>
          <a:bodyPr>
            <a:normAutofit fontScale="25000" lnSpcReduction="20000"/>
          </a:bodyPr>
          <a:lstStyle/>
          <a:p>
            <a:pPr algn="just">
              <a:lnSpc>
                <a:spcPct val="170000"/>
              </a:lnSpc>
            </a:pPr>
            <a:r>
              <a:rPr lang="en-IN" sz="9600" b="1" dirty="0" err="1">
                <a:solidFill>
                  <a:schemeClr val="tx1"/>
                </a:solidFill>
                <a:latin typeface="Times New Roman" panose="02020603050405020304" pitchFamily="18" charset="0"/>
                <a:cs typeface="Times New Roman" panose="02020603050405020304" pitchFamily="18" charset="0"/>
              </a:rPr>
              <a:t>Svm</a:t>
            </a:r>
            <a:r>
              <a:rPr lang="en-IN" sz="9600" b="1" dirty="0">
                <a:solidFill>
                  <a:schemeClr val="tx1"/>
                </a:solidFill>
                <a:latin typeface="Times New Roman" panose="02020603050405020304" pitchFamily="18" charset="0"/>
                <a:cs typeface="Times New Roman" panose="02020603050405020304" pitchFamily="18" charset="0"/>
              </a:rPr>
              <a:t> algorithm:</a:t>
            </a:r>
          </a:p>
          <a:p>
            <a:pPr algn="just">
              <a:lnSpc>
                <a:spcPct val="170000"/>
              </a:lnSpc>
            </a:pPr>
            <a:r>
              <a:rPr lang="en-US" sz="1200" cap="none" dirty="0">
                <a:latin typeface="Times New Roman" panose="02020603050405020304" pitchFamily="18" charset="0"/>
                <a:cs typeface="Times New Roman" panose="02020603050405020304" pitchFamily="18" charset="0"/>
              </a:rPr>
              <a:t>	</a:t>
            </a:r>
            <a:r>
              <a:rPr lang="en-US" sz="7200" cap="none" dirty="0">
                <a:solidFill>
                  <a:schemeClr val="tx1"/>
                </a:solidFill>
                <a:latin typeface="Times New Roman" panose="02020603050405020304" pitchFamily="18" charset="0"/>
                <a:cs typeface="Times New Roman" panose="02020603050405020304" pitchFamily="18" charset="0"/>
              </a:rPr>
              <a:t>SVM is a powerful classification algorithm that works by finding the optimal boundary (called a hyperplane) that best separates data points into different classes. It is particularly effective for high-dimensional data and is used here to classify left and right pupil features independently.</a:t>
            </a:r>
            <a:endParaRPr lang="en-IN" sz="7200" b="1" dirty="0">
              <a:solidFill>
                <a:schemeClr val="tx1"/>
              </a:solidFill>
              <a:latin typeface="Times New Roman" panose="02020603050405020304" pitchFamily="18" charset="0"/>
              <a:cs typeface="Times New Roman" panose="02020603050405020304" pitchFamily="18" charset="0"/>
            </a:endParaRPr>
          </a:p>
          <a:p>
            <a:pPr algn="just">
              <a:lnSpc>
                <a:spcPct val="170000"/>
              </a:lnSpc>
            </a:pPr>
            <a:r>
              <a:rPr lang="en-IN" sz="7200" b="1" dirty="0">
                <a:solidFill>
                  <a:schemeClr val="tx1"/>
                </a:solidFill>
                <a:latin typeface="Times New Roman" panose="02020603050405020304" pitchFamily="18" charset="0"/>
                <a:cs typeface="Times New Roman" panose="02020603050405020304" pitchFamily="18" charset="0"/>
              </a:rPr>
              <a:t>Pseudocode:</a:t>
            </a:r>
          </a:p>
          <a:p>
            <a:pPr algn="just">
              <a:lnSpc>
                <a:spcPct val="170000"/>
              </a:lnSpc>
            </a:pPr>
            <a:r>
              <a:rPr lang="en-IN" sz="7200" cap="none" dirty="0">
                <a:solidFill>
                  <a:schemeClr val="tx1"/>
                </a:solidFill>
                <a:latin typeface="Times New Roman" panose="02020603050405020304" pitchFamily="18" charset="0"/>
                <a:cs typeface="Times New Roman" panose="02020603050405020304" pitchFamily="18" charset="0"/>
              </a:rPr>
              <a:t>Input: Training data X_train, labels </a:t>
            </a:r>
            <a:r>
              <a:rPr lang="en-IN" sz="7200" cap="none" dirty="0" err="1">
                <a:solidFill>
                  <a:schemeClr val="tx1"/>
                </a:solidFill>
                <a:latin typeface="Times New Roman" panose="02020603050405020304" pitchFamily="18" charset="0"/>
                <a:cs typeface="Times New Roman" panose="02020603050405020304" pitchFamily="18" charset="0"/>
              </a:rPr>
              <a:t>y_train</a:t>
            </a:r>
            <a:endParaRPr lang="en-IN" sz="7200" cap="none" dirty="0">
              <a:solidFill>
                <a:schemeClr val="tx1"/>
              </a:solidFill>
              <a:latin typeface="Times New Roman" panose="02020603050405020304" pitchFamily="18" charset="0"/>
              <a:cs typeface="Times New Roman" panose="02020603050405020304" pitchFamily="18" charset="0"/>
            </a:endParaRPr>
          </a:p>
          <a:p>
            <a:pPr algn="just">
              <a:lnSpc>
                <a:spcPct val="170000"/>
              </a:lnSpc>
            </a:pPr>
            <a:r>
              <a:rPr lang="en-IN" sz="7200" cap="none" dirty="0">
                <a:solidFill>
                  <a:schemeClr val="tx1"/>
                </a:solidFill>
                <a:latin typeface="Times New Roman" panose="02020603050405020304" pitchFamily="18" charset="0"/>
                <a:cs typeface="Times New Roman" panose="02020603050405020304" pitchFamily="18" charset="0"/>
              </a:rPr>
              <a:t>1. Create SVM classifier</a:t>
            </a:r>
          </a:p>
          <a:p>
            <a:pPr algn="just">
              <a:lnSpc>
                <a:spcPct val="170000"/>
              </a:lnSpc>
            </a:pPr>
            <a:r>
              <a:rPr lang="en-IN" sz="7200" cap="none" dirty="0">
                <a:solidFill>
                  <a:schemeClr val="tx1"/>
                </a:solidFill>
                <a:latin typeface="Times New Roman" panose="02020603050405020304" pitchFamily="18" charset="0"/>
                <a:cs typeface="Times New Roman" panose="02020603050405020304" pitchFamily="18" charset="0"/>
              </a:rPr>
              <a:t>2. Fit SVM model on training data (X_train, </a:t>
            </a:r>
            <a:r>
              <a:rPr lang="en-IN" sz="7200" cap="none" dirty="0" err="1">
                <a:solidFill>
                  <a:schemeClr val="tx1"/>
                </a:solidFill>
                <a:latin typeface="Times New Roman" panose="02020603050405020304" pitchFamily="18" charset="0"/>
                <a:cs typeface="Times New Roman" panose="02020603050405020304" pitchFamily="18" charset="0"/>
              </a:rPr>
              <a:t>y_train</a:t>
            </a:r>
            <a:r>
              <a:rPr lang="en-IN" sz="7200" cap="none" dirty="0">
                <a:solidFill>
                  <a:schemeClr val="tx1"/>
                </a:solidFill>
                <a:latin typeface="Times New Roman" panose="02020603050405020304" pitchFamily="18" charset="0"/>
                <a:cs typeface="Times New Roman" panose="02020603050405020304" pitchFamily="18" charset="0"/>
              </a:rPr>
              <a:t>)</a:t>
            </a:r>
          </a:p>
          <a:p>
            <a:pPr algn="just">
              <a:lnSpc>
                <a:spcPct val="170000"/>
              </a:lnSpc>
            </a:pPr>
            <a:r>
              <a:rPr lang="en-IN" sz="7200" cap="none" dirty="0">
                <a:solidFill>
                  <a:schemeClr val="tx1"/>
                </a:solidFill>
                <a:latin typeface="Times New Roman" panose="02020603050405020304" pitchFamily="18" charset="0"/>
                <a:cs typeface="Times New Roman" panose="02020603050405020304" pitchFamily="18" charset="0"/>
              </a:rPr>
              <a:t>3. Predict labels for </a:t>
            </a:r>
            <a:r>
              <a:rPr lang="en-IN" sz="7200" cap="none" dirty="0" err="1">
                <a:solidFill>
                  <a:schemeClr val="tx1"/>
                </a:solidFill>
                <a:latin typeface="Times New Roman" panose="02020603050405020304" pitchFamily="18" charset="0"/>
                <a:cs typeface="Times New Roman" panose="02020603050405020304" pitchFamily="18" charset="0"/>
              </a:rPr>
              <a:t>X_test</a:t>
            </a:r>
            <a:endParaRPr lang="en-IN" sz="7200" cap="none" dirty="0">
              <a:solidFill>
                <a:schemeClr val="tx1"/>
              </a:solidFill>
              <a:latin typeface="Times New Roman" panose="02020603050405020304" pitchFamily="18" charset="0"/>
              <a:cs typeface="Times New Roman" panose="02020603050405020304" pitchFamily="18" charset="0"/>
            </a:endParaRPr>
          </a:p>
          <a:p>
            <a:pPr algn="just">
              <a:lnSpc>
                <a:spcPct val="170000"/>
              </a:lnSpc>
            </a:pPr>
            <a:r>
              <a:rPr lang="en-IN" sz="7200" cap="none" dirty="0">
                <a:solidFill>
                  <a:schemeClr val="tx1"/>
                </a:solidFill>
                <a:latin typeface="Times New Roman" panose="02020603050405020304" pitchFamily="18" charset="0"/>
                <a:cs typeface="Times New Roman" panose="02020603050405020304" pitchFamily="18" charset="0"/>
              </a:rPr>
              <a:t>4. Compute accuracy, sensitivity, specificity</a:t>
            </a:r>
          </a:p>
          <a:p>
            <a:pPr algn="just">
              <a:lnSpc>
                <a:spcPct val="150000"/>
              </a:lnSpc>
            </a:pPr>
            <a:endParaRPr lang="en-IN" sz="1800" b="1" cap="none"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DCB4ABD2-73EA-9745-9635-2435C49D764A}"/>
              </a:ext>
            </a:extLst>
          </p:cNvPr>
          <p:cNvSpPr>
            <a:spLocks noGrp="1"/>
          </p:cNvSpPr>
          <p:nvPr>
            <p:ph type="ftr" sz="quarter" idx="11"/>
          </p:nvPr>
        </p:nvSpPr>
        <p:spPr>
          <a:xfrm>
            <a:off x="706582" y="5883275"/>
            <a:ext cx="6880079" cy="1598180"/>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73978034-C549-BC61-E941-A3ED6A6BF30D}"/>
              </a:ext>
            </a:extLst>
          </p:cNvPr>
          <p:cNvSpPr>
            <a:spLocks noGrp="1"/>
          </p:cNvSpPr>
          <p:nvPr>
            <p:ph type="sldNum" sz="quarter" idx="12"/>
          </p:nvPr>
        </p:nvSpPr>
        <p:spPr>
          <a:xfrm>
            <a:off x="10514011" y="5883275"/>
            <a:ext cx="1677989" cy="1598180"/>
          </a:xfrm>
        </p:spPr>
        <p:txBody>
          <a:bodyPr/>
          <a:lstStyle/>
          <a:p>
            <a:fld id="{D11D1588-8316-42EA-B695-F2D8B3238057}" type="slidenum">
              <a:rPr lang="en-IN" smtClean="0"/>
              <a:t>19</a:t>
            </a:fld>
            <a:endParaRPr lang="en-IN" dirty="0"/>
          </a:p>
        </p:txBody>
      </p:sp>
      <p:sp>
        <p:nvSpPr>
          <p:cNvPr id="6" name="Date Placeholder 5">
            <a:extLst>
              <a:ext uri="{FF2B5EF4-FFF2-40B4-BE49-F238E27FC236}">
                <a16:creationId xmlns:a16="http://schemas.microsoft.com/office/drawing/2014/main" id="{C2705190-2098-E05D-E15B-B77A9A4F30E2}"/>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8325370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2AC5E15-2332-6320-9DA7-484E77894347}"/>
              </a:ext>
            </a:extLst>
          </p:cNvPr>
          <p:cNvSpPr>
            <a:spLocks noGrp="1"/>
          </p:cNvSpPr>
          <p:nvPr>
            <p:ph type="subTitle" idx="1"/>
          </p:nvPr>
        </p:nvSpPr>
        <p:spPr>
          <a:xfrm>
            <a:off x="714895" y="548640"/>
            <a:ext cx="10823170" cy="5993476"/>
          </a:xfrm>
        </p:spPr>
        <p:txBody>
          <a:bodyPr>
            <a:normAutofit lnSpcReduction="10000"/>
          </a:bodyPr>
          <a:lstStyle/>
          <a:p>
            <a:pPr algn="l"/>
            <a:r>
              <a:rPr lang="en-IN" sz="2600" b="1" dirty="0">
                <a:solidFill>
                  <a:schemeClr val="tx1"/>
                </a:solidFill>
                <a:latin typeface="Times New Roman" panose="02020603050405020304" pitchFamily="18" charset="0"/>
                <a:cs typeface="Times New Roman" panose="02020603050405020304" pitchFamily="18" charset="0"/>
              </a:rPr>
              <a:t>Ensemble Learning algorithm:</a:t>
            </a:r>
          </a:p>
          <a:p>
            <a:pPr algn="just">
              <a:lnSpc>
                <a:spcPct val="150000"/>
              </a:lnSpc>
            </a:pPr>
            <a:r>
              <a:rPr lang="en-US" sz="1800" cap="none" dirty="0">
                <a:latin typeface="Times New Roman" panose="02020603050405020304" pitchFamily="18" charset="0"/>
                <a:cs typeface="Times New Roman" panose="02020603050405020304" pitchFamily="18" charset="0"/>
              </a:rPr>
              <a:t>	</a:t>
            </a:r>
            <a:r>
              <a:rPr lang="en-US" sz="1800" cap="none" dirty="0">
                <a:solidFill>
                  <a:schemeClr val="tx1"/>
                </a:solidFill>
                <a:latin typeface="Times New Roman" panose="02020603050405020304" pitchFamily="18" charset="0"/>
                <a:cs typeface="Times New Roman" panose="02020603050405020304" pitchFamily="18" charset="0"/>
              </a:rPr>
              <a:t>Ensemble learning combines multiple models to improve accuracy and robustness. In this project, predictions from two SVM models (left and right eye) are combined using a voting classifier to make a final decision. This approach helps reduce errors that may arise from using a single model.</a:t>
            </a:r>
          </a:p>
          <a:p>
            <a:pPr algn="l">
              <a:lnSpc>
                <a:spcPct val="150000"/>
              </a:lnSpc>
            </a:pPr>
            <a:r>
              <a:rPr lang="en-IN" sz="1800" b="1" cap="none" dirty="0">
                <a:solidFill>
                  <a:schemeClr val="tx1"/>
                </a:solidFill>
                <a:latin typeface="Times New Roman" panose="02020603050405020304" pitchFamily="18" charset="0"/>
                <a:cs typeface="Times New Roman" panose="02020603050405020304" pitchFamily="18" charset="0"/>
              </a:rPr>
              <a:t>PSEUDOCODE:</a:t>
            </a:r>
          </a:p>
          <a:p>
            <a:pPr algn="l">
              <a:lnSpc>
                <a:spcPct val="150000"/>
              </a:lnSpc>
            </a:pPr>
            <a:r>
              <a:rPr lang="en-IN" sz="1800" cap="none" dirty="0">
                <a:solidFill>
                  <a:schemeClr val="tx1"/>
                </a:solidFill>
                <a:latin typeface="Times New Roman" panose="02020603050405020304" pitchFamily="18" charset="0"/>
                <a:cs typeface="Times New Roman" panose="02020603050405020304" pitchFamily="18" charset="0"/>
              </a:rPr>
              <a:t>Input: features from left and right eyes</a:t>
            </a:r>
          </a:p>
          <a:p>
            <a:pPr algn="l">
              <a:lnSpc>
                <a:spcPct val="150000"/>
              </a:lnSpc>
            </a:pPr>
            <a:r>
              <a:rPr lang="en-IN" sz="1800" cap="none" dirty="0">
                <a:solidFill>
                  <a:schemeClr val="tx1"/>
                </a:solidFill>
                <a:latin typeface="Times New Roman" panose="02020603050405020304" pitchFamily="18" charset="0"/>
                <a:cs typeface="Times New Roman" panose="02020603050405020304" pitchFamily="18" charset="0"/>
              </a:rPr>
              <a:t>1. Train left SVM classifier</a:t>
            </a:r>
          </a:p>
          <a:p>
            <a:pPr algn="l">
              <a:lnSpc>
                <a:spcPct val="150000"/>
              </a:lnSpc>
            </a:pPr>
            <a:r>
              <a:rPr lang="en-IN" sz="1800" cap="none" dirty="0">
                <a:solidFill>
                  <a:schemeClr val="tx1"/>
                </a:solidFill>
                <a:latin typeface="Times New Roman" panose="02020603050405020304" pitchFamily="18" charset="0"/>
                <a:cs typeface="Times New Roman" panose="02020603050405020304" pitchFamily="18" charset="0"/>
              </a:rPr>
              <a:t>2. Train right SVM classifier</a:t>
            </a:r>
          </a:p>
          <a:p>
            <a:pPr algn="l">
              <a:lnSpc>
                <a:spcPct val="150000"/>
              </a:lnSpc>
            </a:pPr>
            <a:r>
              <a:rPr lang="en-IN" sz="1800" cap="none" dirty="0">
                <a:solidFill>
                  <a:schemeClr val="tx1"/>
                </a:solidFill>
                <a:latin typeface="Times New Roman" panose="02020603050405020304" pitchFamily="18" charset="0"/>
                <a:cs typeface="Times New Roman" panose="02020603050405020304" pitchFamily="18" charset="0"/>
              </a:rPr>
              <a:t>3. Combine both in a voting classifier</a:t>
            </a:r>
          </a:p>
          <a:p>
            <a:pPr algn="l">
              <a:lnSpc>
                <a:spcPct val="150000"/>
              </a:lnSpc>
            </a:pPr>
            <a:r>
              <a:rPr lang="en-IN" sz="1800" cap="none" dirty="0">
                <a:solidFill>
                  <a:schemeClr val="tx1"/>
                </a:solidFill>
                <a:latin typeface="Times New Roman" panose="02020603050405020304" pitchFamily="18" charset="0"/>
                <a:cs typeface="Times New Roman" panose="02020603050405020304" pitchFamily="18" charset="0"/>
              </a:rPr>
              <a:t>4. Fit ensemble on training data</a:t>
            </a:r>
          </a:p>
          <a:p>
            <a:pPr algn="l">
              <a:lnSpc>
                <a:spcPct val="150000"/>
              </a:lnSpc>
            </a:pPr>
            <a:r>
              <a:rPr lang="en-IN" sz="1800" cap="none" dirty="0">
                <a:solidFill>
                  <a:schemeClr val="tx1"/>
                </a:solidFill>
                <a:latin typeface="Times New Roman" panose="02020603050405020304" pitchFamily="18" charset="0"/>
                <a:cs typeface="Times New Roman" panose="02020603050405020304" pitchFamily="18" charset="0"/>
              </a:rPr>
              <a:t>5. Predict using ensemble on test data</a:t>
            </a:r>
          </a:p>
          <a:p>
            <a:pPr algn="l">
              <a:lnSpc>
                <a:spcPct val="150000"/>
              </a:lnSpc>
            </a:pPr>
            <a:r>
              <a:rPr lang="en-IN" sz="1800" cap="none" dirty="0">
                <a:solidFill>
                  <a:schemeClr val="tx1"/>
                </a:solidFill>
                <a:latin typeface="Times New Roman" panose="02020603050405020304" pitchFamily="18" charset="0"/>
                <a:cs typeface="Times New Roman" panose="02020603050405020304" pitchFamily="18" charset="0"/>
              </a:rPr>
              <a:t>6. Compute performance metrics</a:t>
            </a:r>
          </a:p>
          <a:p>
            <a:pPr algn="l"/>
            <a:endParaRPr lang="en-IN" sz="2000" b="1"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63293CF-5A64-A385-8CF9-089F35E8FED6}"/>
              </a:ext>
            </a:extLst>
          </p:cNvPr>
          <p:cNvSpPr>
            <a:spLocks noGrp="1"/>
          </p:cNvSpPr>
          <p:nvPr>
            <p:ph type="ftr" sz="quarter" idx="11"/>
          </p:nvPr>
        </p:nvSpPr>
        <p:spPr>
          <a:xfrm>
            <a:off x="714896" y="5883275"/>
            <a:ext cx="6871766" cy="1714558"/>
          </a:xfrm>
        </p:spPr>
        <p:txBody>
          <a:bodyPr/>
          <a:lstStyle/>
          <a:p>
            <a:r>
              <a:rPr lang="en-US" dirty="0"/>
              <a:t>Department of CSE,BVCITS(H4),</a:t>
            </a:r>
            <a:r>
              <a:rPr lang="en-US" dirty="0" err="1"/>
              <a:t>Amalapuram</a:t>
            </a:r>
            <a:endParaRPr lang="en-IN" dirty="0"/>
          </a:p>
        </p:txBody>
      </p:sp>
      <p:sp>
        <p:nvSpPr>
          <p:cNvPr id="5" name="Slide Number Placeholder 4">
            <a:extLst>
              <a:ext uri="{FF2B5EF4-FFF2-40B4-BE49-F238E27FC236}">
                <a16:creationId xmlns:a16="http://schemas.microsoft.com/office/drawing/2014/main" id="{BBDFAEEB-53F5-D6AA-658F-AD6F89E94247}"/>
              </a:ext>
            </a:extLst>
          </p:cNvPr>
          <p:cNvSpPr>
            <a:spLocks noGrp="1"/>
          </p:cNvSpPr>
          <p:nvPr>
            <p:ph type="sldNum" sz="quarter" idx="12"/>
          </p:nvPr>
        </p:nvSpPr>
        <p:spPr>
          <a:xfrm>
            <a:off x="10514011" y="5883275"/>
            <a:ext cx="1677989" cy="1656369"/>
          </a:xfrm>
        </p:spPr>
        <p:txBody>
          <a:bodyPr/>
          <a:lstStyle/>
          <a:p>
            <a:fld id="{D11D1588-8316-42EA-B695-F2D8B3238057}" type="slidenum">
              <a:rPr lang="en-IN" smtClean="0"/>
              <a:t>20</a:t>
            </a:fld>
            <a:endParaRPr lang="en-IN" dirty="0"/>
          </a:p>
        </p:txBody>
      </p:sp>
      <p:sp>
        <p:nvSpPr>
          <p:cNvPr id="2" name="Date Placeholder 1">
            <a:extLst>
              <a:ext uri="{FF2B5EF4-FFF2-40B4-BE49-F238E27FC236}">
                <a16:creationId xmlns:a16="http://schemas.microsoft.com/office/drawing/2014/main" id="{C52E3C2A-6B64-84A4-D69E-C8C0DDDB2EA9}"/>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1123263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BB80BC8-06D4-998F-49FC-370ECFAADDF5}"/>
              </a:ext>
            </a:extLst>
          </p:cNvPr>
          <p:cNvSpPr>
            <a:spLocks noGrp="1"/>
          </p:cNvSpPr>
          <p:nvPr>
            <p:ph type="subTitle" idx="1"/>
          </p:nvPr>
        </p:nvSpPr>
        <p:spPr>
          <a:xfrm>
            <a:off x="723207" y="532015"/>
            <a:ext cx="10814858" cy="5561214"/>
          </a:xfrm>
        </p:spPr>
        <p:txBody>
          <a:bodyPr>
            <a:normAutofit lnSpcReduction="10000"/>
          </a:bodyPr>
          <a:lstStyle/>
          <a:p>
            <a:pPr algn="l"/>
            <a:r>
              <a:rPr lang="en-IN" sz="2400" b="1" dirty="0">
                <a:solidFill>
                  <a:schemeClr val="tx1"/>
                </a:solidFill>
                <a:latin typeface="Times New Roman" panose="02020603050405020304" pitchFamily="18" charset="0"/>
                <a:cs typeface="Times New Roman" panose="02020603050405020304" pitchFamily="18" charset="0"/>
              </a:rPr>
              <a:t>Extreme Learning Machine algorithm:</a:t>
            </a:r>
          </a:p>
          <a:p>
            <a:pPr algn="just">
              <a:lnSpc>
                <a:spcPct val="160000"/>
              </a:lnSpc>
            </a:pPr>
            <a:r>
              <a:rPr lang="en-US" sz="1800" cap="none" dirty="0">
                <a:solidFill>
                  <a:schemeClr val="tx1"/>
                </a:solidFill>
                <a:latin typeface="Times New Roman" panose="02020603050405020304" pitchFamily="18" charset="0"/>
                <a:cs typeface="Times New Roman" panose="02020603050405020304" pitchFamily="18" charset="0"/>
              </a:rPr>
              <a:t>	</a:t>
            </a:r>
            <a:r>
              <a:rPr lang="en-US" sz="1900" cap="none" dirty="0">
                <a:solidFill>
                  <a:schemeClr val="tx1"/>
                </a:solidFill>
                <a:latin typeface="Times New Roman" panose="02020603050405020304" pitchFamily="18" charset="0"/>
                <a:cs typeface="Times New Roman" panose="02020603050405020304" pitchFamily="18" charset="0"/>
              </a:rPr>
              <a:t>ELM is a type of single-layer neural network where the input weights are randomly assigned and not updated during training. It provides faster training compared to traditional networks and is used here to classify combined features from both eyes efficiently.</a:t>
            </a:r>
            <a:endParaRPr lang="en-IN" sz="1900" b="1" cap="none" dirty="0">
              <a:solidFill>
                <a:schemeClr val="tx1"/>
              </a:solidFill>
              <a:latin typeface="Times New Roman" panose="02020603050405020304" pitchFamily="18" charset="0"/>
              <a:cs typeface="Times New Roman" panose="02020603050405020304" pitchFamily="18" charset="0"/>
            </a:endParaRPr>
          </a:p>
          <a:p>
            <a:pPr algn="just">
              <a:lnSpc>
                <a:spcPct val="160000"/>
              </a:lnSpc>
            </a:pPr>
            <a:r>
              <a:rPr lang="en-IN" sz="1900" b="1" cap="none" dirty="0">
                <a:solidFill>
                  <a:schemeClr val="tx1"/>
                </a:solidFill>
                <a:latin typeface="Times New Roman" panose="02020603050405020304" pitchFamily="18" charset="0"/>
                <a:cs typeface="Times New Roman" panose="02020603050405020304" pitchFamily="18" charset="0"/>
              </a:rPr>
              <a:t>PSEUDOCODE:</a:t>
            </a:r>
          </a:p>
          <a:p>
            <a:pPr algn="just">
              <a:lnSpc>
                <a:spcPct val="160000"/>
              </a:lnSpc>
            </a:pPr>
            <a:r>
              <a:rPr lang="en-US" sz="1900" cap="none" dirty="0">
                <a:solidFill>
                  <a:schemeClr val="tx1"/>
                </a:solidFill>
                <a:latin typeface="Times New Roman" panose="02020603050405020304" pitchFamily="18" charset="0"/>
                <a:cs typeface="Times New Roman" panose="02020603050405020304" pitchFamily="18" charset="0"/>
              </a:rPr>
              <a:t>Input: Combined left and right pupil features</a:t>
            </a:r>
          </a:p>
          <a:p>
            <a:pPr algn="just">
              <a:lnSpc>
                <a:spcPct val="160000"/>
              </a:lnSpc>
            </a:pPr>
            <a:r>
              <a:rPr lang="en-US" sz="1900" cap="none" dirty="0">
                <a:solidFill>
                  <a:schemeClr val="tx1"/>
                </a:solidFill>
                <a:latin typeface="Times New Roman" panose="02020603050405020304" pitchFamily="18" charset="0"/>
                <a:cs typeface="Times New Roman" panose="02020603050405020304" pitchFamily="18" charset="0"/>
              </a:rPr>
              <a:t>1. Create GenELMClassifier with random hidden layer</a:t>
            </a:r>
          </a:p>
          <a:p>
            <a:pPr algn="just">
              <a:lnSpc>
                <a:spcPct val="160000"/>
              </a:lnSpc>
            </a:pPr>
            <a:r>
              <a:rPr lang="en-US" sz="1900" cap="none" dirty="0">
                <a:solidFill>
                  <a:schemeClr val="tx1"/>
                </a:solidFill>
                <a:latin typeface="Times New Roman" panose="02020603050405020304" pitchFamily="18" charset="0"/>
                <a:cs typeface="Times New Roman" panose="02020603050405020304" pitchFamily="18" charset="0"/>
              </a:rPr>
              <a:t>2. Fit model on training data</a:t>
            </a:r>
          </a:p>
          <a:p>
            <a:pPr algn="just">
              <a:lnSpc>
                <a:spcPct val="160000"/>
              </a:lnSpc>
            </a:pPr>
            <a:r>
              <a:rPr lang="en-US" sz="1900" cap="none" dirty="0">
                <a:solidFill>
                  <a:schemeClr val="tx1"/>
                </a:solidFill>
                <a:latin typeface="Times New Roman" panose="02020603050405020304" pitchFamily="18" charset="0"/>
                <a:cs typeface="Times New Roman" panose="02020603050405020304" pitchFamily="18" charset="0"/>
              </a:rPr>
              <a:t>3. Predict on test data</a:t>
            </a:r>
          </a:p>
          <a:p>
            <a:pPr algn="just">
              <a:lnSpc>
                <a:spcPct val="160000"/>
              </a:lnSpc>
            </a:pPr>
            <a:r>
              <a:rPr lang="en-US" sz="1900" cap="none" dirty="0">
                <a:solidFill>
                  <a:schemeClr val="tx1"/>
                </a:solidFill>
                <a:latin typeface="Times New Roman" panose="02020603050405020304" pitchFamily="18" charset="0"/>
                <a:cs typeface="Times New Roman" panose="02020603050405020304" pitchFamily="18" charset="0"/>
              </a:rPr>
              <a:t>4. Compute accuracy, sensitivity, specificity</a:t>
            </a:r>
          </a:p>
          <a:p>
            <a:pPr algn="just">
              <a:lnSpc>
                <a:spcPct val="150000"/>
              </a:lnSpc>
            </a:pPr>
            <a:endParaRPr lang="en-IN" sz="1900" b="1" cap="none" dirty="0">
              <a:solidFill>
                <a:schemeClr val="tx1"/>
              </a:solidFill>
              <a:latin typeface="Times New Roman" panose="02020603050405020304" pitchFamily="18" charset="0"/>
              <a:cs typeface="Times New Roman" panose="02020603050405020304" pitchFamily="18" charset="0"/>
            </a:endParaRPr>
          </a:p>
          <a:p>
            <a:pPr algn="just"/>
            <a:endParaRPr lang="en-IN" sz="1800" b="1" cap="none"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8848A2B2-99E5-9517-02A5-3871E9B6D141}"/>
              </a:ext>
            </a:extLst>
          </p:cNvPr>
          <p:cNvSpPr>
            <a:spLocks noGrp="1"/>
          </p:cNvSpPr>
          <p:nvPr>
            <p:ph type="ftr" sz="quarter" idx="11"/>
          </p:nvPr>
        </p:nvSpPr>
        <p:spPr>
          <a:xfrm>
            <a:off x="723208" y="5883275"/>
            <a:ext cx="6863454" cy="1689620"/>
          </a:xfrm>
        </p:spPr>
        <p:txBody>
          <a:bodyPr/>
          <a:lstStyle/>
          <a:p>
            <a:r>
              <a:rPr lang="en-US" dirty="0"/>
              <a:t>Department of CSE,BVCITS(H4),</a:t>
            </a:r>
            <a:r>
              <a:rPr lang="en-US" dirty="0" err="1"/>
              <a:t>Amalapuram</a:t>
            </a:r>
            <a:endParaRPr lang="en-IN" dirty="0"/>
          </a:p>
        </p:txBody>
      </p:sp>
      <p:sp>
        <p:nvSpPr>
          <p:cNvPr id="5" name="Slide Number Placeholder 4">
            <a:extLst>
              <a:ext uri="{FF2B5EF4-FFF2-40B4-BE49-F238E27FC236}">
                <a16:creationId xmlns:a16="http://schemas.microsoft.com/office/drawing/2014/main" id="{74BA3BCA-7358-60A9-4540-029389C81E8D}"/>
              </a:ext>
            </a:extLst>
          </p:cNvPr>
          <p:cNvSpPr>
            <a:spLocks noGrp="1"/>
          </p:cNvSpPr>
          <p:nvPr>
            <p:ph type="sldNum" sz="quarter" idx="12"/>
          </p:nvPr>
        </p:nvSpPr>
        <p:spPr>
          <a:xfrm>
            <a:off x="10514011" y="5883275"/>
            <a:ext cx="1677989" cy="1689620"/>
          </a:xfrm>
        </p:spPr>
        <p:txBody>
          <a:bodyPr/>
          <a:lstStyle/>
          <a:p>
            <a:fld id="{D11D1588-8316-42EA-B695-F2D8B3238057}" type="slidenum">
              <a:rPr lang="en-IN" smtClean="0"/>
              <a:t>21</a:t>
            </a:fld>
            <a:endParaRPr lang="en-IN" dirty="0"/>
          </a:p>
        </p:txBody>
      </p:sp>
      <p:sp>
        <p:nvSpPr>
          <p:cNvPr id="2" name="Date Placeholder 1">
            <a:extLst>
              <a:ext uri="{FF2B5EF4-FFF2-40B4-BE49-F238E27FC236}">
                <a16:creationId xmlns:a16="http://schemas.microsoft.com/office/drawing/2014/main" id="{316CD4B9-3BDF-D780-565E-454CD3CB0AAF}"/>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3304101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9805FA3-DBD2-9633-8401-67D384452FD8}"/>
              </a:ext>
            </a:extLst>
          </p:cNvPr>
          <p:cNvSpPr>
            <a:spLocks noGrp="1"/>
          </p:cNvSpPr>
          <p:nvPr>
            <p:ph type="subTitle" idx="1"/>
          </p:nvPr>
        </p:nvSpPr>
        <p:spPr>
          <a:xfrm>
            <a:off x="723207" y="382386"/>
            <a:ext cx="10828091" cy="6251170"/>
          </a:xfrm>
        </p:spPr>
        <p:txBody>
          <a:bodyPr>
            <a:normAutofit/>
          </a:bodyPr>
          <a:lstStyle/>
          <a:p>
            <a:pPr algn="l"/>
            <a:r>
              <a:rPr lang="en-US" sz="2400" b="1" dirty="0">
                <a:solidFill>
                  <a:schemeClr val="tx1"/>
                </a:solidFill>
                <a:latin typeface="Times New Roman" panose="02020603050405020304" pitchFamily="18" charset="0"/>
                <a:cs typeface="Times New Roman" panose="02020603050405020304" pitchFamily="18" charset="0"/>
              </a:rPr>
              <a:t>LSTM ALGORITHM:</a:t>
            </a:r>
          </a:p>
          <a:p>
            <a:pPr algn="just">
              <a:lnSpc>
                <a:spcPct val="150000"/>
              </a:lnSpc>
            </a:pPr>
            <a:r>
              <a:rPr lang="en-US" sz="1800" cap="none" dirty="0">
                <a:solidFill>
                  <a:schemeClr val="tx1"/>
                </a:solidFill>
                <a:latin typeface="Times New Roman" panose="02020603050405020304" pitchFamily="18" charset="0"/>
                <a:cs typeface="Times New Roman" panose="02020603050405020304" pitchFamily="18" charset="0"/>
              </a:rPr>
              <a:t>	LSTM is a deep learning model specialized for handling sequential or time-series data. It uses memory cells to retain long-term dependencies, making it ideal for analyzing patterns in pupil size variations over time. It processes left eye data to detect abnormalities.</a:t>
            </a:r>
          </a:p>
          <a:p>
            <a:pPr algn="just">
              <a:lnSpc>
                <a:spcPct val="150000"/>
              </a:lnSpc>
            </a:pPr>
            <a:r>
              <a:rPr lang="en-IN" sz="1800" b="1" cap="none" dirty="0">
                <a:solidFill>
                  <a:schemeClr val="tx1"/>
                </a:solidFill>
                <a:latin typeface="Times New Roman" panose="02020603050405020304" pitchFamily="18" charset="0"/>
                <a:cs typeface="Times New Roman" panose="02020603050405020304" pitchFamily="18" charset="0"/>
              </a:rPr>
              <a:t>PSEUDOCODE:</a:t>
            </a:r>
          </a:p>
          <a:p>
            <a:pPr algn="just">
              <a:lnSpc>
                <a:spcPct val="150000"/>
              </a:lnSpc>
            </a:pPr>
            <a:r>
              <a:rPr lang="en-IN" sz="1800" cap="none" dirty="0">
                <a:solidFill>
                  <a:schemeClr val="tx1"/>
                </a:solidFill>
                <a:latin typeface="Times New Roman" panose="02020603050405020304" pitchFamily="18" charset="0"/>
                <a:cs typeface="Times New Roman" panose="02020603050405020304" pitchFamily="18" charset="0"/>
              </a:rPr>
              <a:t>Input: Left pupil features (X, Y)</a:t>
            </a:r>
          </a:p>
          <a:p>
            <a:pPr algn="just">
              <a:lnSpc>
                <a:spcPct val="150000"/>
              </a:lnSpc>
            </a:pPr>
            <a:r>
              <a:rPr lang="en-IN" sz="1800" cap="none" dirty="0">
                <a:solidFill>
                  <a:schemeClr val="tx1"/>
                </a:solidFill>
                <a:latin typeface="Times New Roman" panose="02020603050405020304" pitchFamily="18" charset="0"/>
                <a:cs typeface="Times New Roman" panose="02020603050405020304" pitchFamily="18" charset="0"/>
              </a:rPr>
              <a:t>1. One-hot encode labels Y</a:t>
            </a:r>
          </a:p>
          <a:p>
            <a:pPr algn="just">
              <a:lnSpc>
                <a:spcPct val="150000"/>
              </a:lnSpc>
            </a:pPr>
            <a:r>
              <a:rPr lang="en-IN" sz="1800" cap="none" dirty="0">
                <a:solidFill>
                  <a:schemeClr val="tx1"/>
                </a:solidFill>
                <a:latin typeface="Times New Roman" panose="02020603050405020304" pitchFamily="18" charset="0"/>
                <a:cs typeface="Times New Roman" panose="02020603050405020304" pitchFamily="18" charset="0"/>
              </a:rPr>
              <a:t>2. Reshape X to (samples, timesteps, features)</a:t>
            </a:r>
          </a:p>
          <a:p>
            <a:pPr algn="just">
              <a:lnSpc>
                <a:spcPct val="150000"/>
              </a:lnSpc>
            </a:pPr>
            <a:r>
              <a:rPr lang="en-IN" sz="1800" cap="none" dirty="0">
                <a:solidFill>
                  <a:schemeClr val="tx1"/>
                </a:solidFill>
                <a:latin typeface="Times New Roman" panose="02020603050405020304" pitchFamily="18" charset="0"/>
                <a:cs typeface="Times New Roman" panose="02020603050405020304" pitchFamily="18" charset="0"/>
              </a:rPr>
              <a:t>3. Create Sequential model</a:t>
            </a:r>
          </a:p>
          <a:p>
            <a:pPr algn="just">
              <a:lnSpc>
                <a:spcPct val="150000"/>
              </a:lnSpc>
            </a:pPr>
            <a:r>
              <a:rPr lang="en-IN" sz="1800" cap="none" dirty="0">
                <a:solidFill>
                  <a:schemeClr val="tx1"/>
                </a:solidFill>
                <a:latin typeface="Times New Roman" panose="02020603050405020304" pitchFamily="18" charset="0"/>
                <a:cs typeface="Times New Roman" panose="02020603050405020304" pitchFamily="18" charset="0"/>
              </a:rPr>
              <a:t>4. Compile and train model</a:t>
            </a:r>
          </a:p>
          <a:p>
            <a:pPr algn="just">
              <a:lnSpc>
                <a:spcPct val="150000"/>
              </a:lnSpc>
            </a:pPr>
            <a:r>
              <a:rPr lang="en-IN" sz="1800" cap="none" dirty="0">
                <a:solidFill>
                  <a:schemeClr val="tx1"/>
                </a:solidFill>
                <a:latin typeface="Times New Roman" panose="02020603050405020304" pitchFamily="18" charset="0"/>
                <a:cs typeface="Times New Roman" panose="02020603050405020304" pitchFamily="18" charset="0"/>
              </a:rPr>
              <a:t>5. Predict and evaluate</a:t>
            </a:r>
          </a:p>
          <a:p>
            <a:pPr algn="l"/>
            <a:endParaRPr lang="en-IN" sz="1800" cap="none" dirty="0">
              <a:solidFill>
                <a:schemeClr val="tx1"/>
              </a:solidFill>
              <a:latin typeface="Times New Roman" panose="02020603050405020304" pitchFamily="18" charset="0"/>
              <a:cs typeface="Times New Roman" panose="02020603050405020304" pitchFamily="18" charset="0"/>
            </a:endParaRPr>
          </a:p>
          <a:p>
            <a:pPr algn="l"/>
            <a:endParaRPr lang="en-IN" sz="1800" cap="none"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221CA68-5116-C1B1-9088-F4C33FD79141}"/>
              </a:ext>
            </a:extLst>
          </p:cNvPr>
          <p:cNvSpPr>
            <a:spLocks noGrp="1"/>
          </p:cNvSpPr>
          <p:nvPr>
            <p:ph type="ftr" sz="quarter" idx="11"/>
          </p:nvPr>
        </p:nvSpPr>
        <p:spPr>
          <a:xfrm>
            <a:off x="913774" y="5883275"/>
            <a:ext cx="6672887" cy="1739496"/>
          </a:xfrm>
        </p:spPr>
        <p:txBody>
          <a:bodyPr/>
          <a:lstStyle/>
          <a:p>
            <a:r>
              <a:rPr lang="en-US"/>
              <a:t>Department of CSE,BVCITS(H4),Amalapuram</a:t>
            </a:r>
            <a:endParaRPr lang="en-IN" dirty="0"/>
          </a:p>
        </p:txBody>
      </p:sp>
      <p:sp>
        <p:nvSpPr>
          <p:cNvPr id="5" name="Slide Number Placeholder 4">
            <a:extLst>
              <a:ext uri="{FF2B5EF4-FFF2-40B4-BE49-F238E27FC236}">
                <a16:creationId xmlns:a16="http://schemas.microsoft.com/office/drawing/2014/main" id="{45744F94-48E4-303F-146D-B87DF50C3359}"/>
              </a:ext>
            </a:extLst>
          </p:cNvPr>
          <p:cNvSpPr>
            <a:spLocks noGrp="1"/>
          </p:cNvSpPr>
          <p:nvPr>
            <p:ph type="sldNum" sz="quarter" idx="12"/>
          </p:nvPr>
        </p:nvSpPr>
        <p:spPr>
          <a:xfrm>
            <a:off x="10514011" y="5883275"/>
            <a:ext cx="1677989" cy="1739496"/>
          </a:xfrm>
        </p:spPr>
        <p:txBody>
          <a:bodyPr/>
          <a:lstStyle/>
          <a:p>
            <a:fld id="{D11D1588-8316-42EA-B695-F2D8B3238057}" type="slidenum">
              <a:rPr lang="en-IN" smtClean="0"/>
              <a:t>22</a:t>
            </a:fld>
            <a:endParaRPr lang="en-IN" dirty="0"/>
          </a:p>
        </p:txBody>
      </p:sp>
      <p:sp>
        <p:nvSpPr>
          <p:cNvPr id="2" name="Date Placeholder 1">
            <a:extLst>
              <a:ext uri="{FF2B5EF4-FFF2-40B4-BE49-F238E27FC236}">
                <a16:creationId xmlns:a16="http://schemas.microsoft.com/office/drawing/2014/main" id="{CE15A530-2CC6-8896-677B-CF21E41D6A20}"/>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2203499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C191466-66DD-C7FD-995B-16C7DC6590E6}"/>
              </a:ext>
            </a:extLst>
          </p:cNvPr>
          <p:cNvSpPr>
            <a:spLocks noGrp="1"/>
          </p:cNvSpPr>
          <p:nvPr>
            <p:ph type="subTitle" idx="1"/>
          </p:nvPr>
        </p:nvSpPr>
        <p:spPr>
          <a:xfrm>
            <a:off x="714895" y="290946"/>
            <a:ext cx="10814858" cy="5677592"/>
          </a:xfrm>
        </p:spPr>
        <p:txBody>
          <a:bodyPr>
            <a:normAutofit/>
          </a:bodyPr>
          <a:lstStyle/>
          <a:p>
            <a:pPr algn="l"/>
            <a:r>
              <a:rPr lang="en-US" sz="2400" b="1" dirty="0">
                <a:solidFill>
                  <a:schemeClr val="tx1"/>
                </a:solidFill>
                <a:latin typeface="Times New Roman" panose="02020603050405020304" pitchFamily="18" charset="0"/>
                <a:cs typeface="Times New Roman" panose="02020603050405020304" pitchFamily="18" charset="0"/>
              </a:rPr>
              <a:t>BILSTM algorithm:</a:t>
            </a:r>
          </a:p>
          <a:p>
            <a:pPr algn="just">
              <a:lnSpc>
                <a:spcPct val="150000"/>
              </a:lnSpc>
            </a:pPr>
            <a:r>
              <a:rPr lang="en-US" sz="2000" cap="none" dirty="0">
                <a:solidFill>
                  <a:schemeClr val="tx1"/>
                </a:solidFill>
                <a:latin typeface="Times New Roman" panose="02020603050405020304" pitchFamily="18" charset="0"/>
                <a:cs typeface="Times New Roman" panose="02020603050405020304" pitchFamily="18" charset="0"/>
              </a:rPr>
              <a:t>	</a:t>
            </a:r>
            <a:r>
              <a:rPr lang="en-US" sz="1800" cap="none" dirty="0">
                <a:solidFill>
                  <a:schemeClr val="tx1"/>
                </a:solidFill>
                <a:latin typeface="Times New Roman" panose="02020603050405020304" pitchFamily="18" charset="0"/>
                <a:cs typeface="Times New Roman" panose="02020603050405020304" pitchFamily="18" charset="0"/>
              </a:rPr>
              <a:t>BILSTM extends LSTM by processing data in both forward and backward directions, capturing past and future context. This improves the model’s understanding of sequential data and helps detect complex patterns in the pupil metrics more effectively.</a:t>
            </a:r>
          </a:p>
          <a:p>
            <a:pPr algn="just">
              <a:lnSpc>
                <a:spcPct val="150000"/>
              </a:lnSpc>
            </a:pPr>
            <a:r>
              <a:rPr lang="en-US" sz="1800" b="1" cap="none" dirty="0">
                <a:solidFill>
                  <a:schemeClr val="tx1"/>
                </a:solidFill>
                <a:latin typeface="Times New Roman" panose="02020603050405020304" pitchFamily="18" charset="0"/>
                <a:cs typeface="Times New Roman" panose="02020603050405020304" pitchFamily="18" charset="0"/>
              </a:rPr>
              <a:t>PSEUDOCODE:</a:t>
            </a:r>
          </a:p>
          <a:p>
            <a:pPr algn="l"/>
            <a:r>
              <a:rPr lang="en-IN" sz="1800" cap="none" dirty="0">
                <a:solidFill>
                  <a:schemeClr val="tx1"/>
                </a:solidFill>
                <a:latin typeface="Times New Roman" panose="02020603050405020304" pitchFamily="18" charset="0"/>
                <a:cs typeface="Times New Roman" panose="02020603050405020304" pitchFamily="18" charset="0"/>
              </a:rPr>
              <a:t>input: left pupil features (x, y)</a:t>
            </a:r>
          </a:p>
          <a:p>
            <a:pPr algn="l"/>
            <a:r>
              <a:rPr lang="en-IN" sz="1800" cap="none" dirty="0">
                <a:solidFill>
                  <a:schemeClr val="tx1"/>
                </a:solidFill>
                <a:latin typeface="Times New Roman" panose="02020603050405020304" pitchFamily="18" charset="0"/>
                <a:cs typeface="Times New Roman" panose="02020603050405020304" pitchFamily="18" charset="0"/>
              </a:rPr>
              <a:t>1. one-hot encode labels y</a:t>
            </a:r>
          </a:p>
          <a:p>
            <a:pPr algn="l"/>
            <a:r>
              <a:rPr lang="en-IN" sz="1800" cap="none" dirty="0">
                <a:solidFill>
                  <a:schemeClr val="tx1"/>
                </a:solidFill>
                <a:latin typeface="Times New Roman" panose="02020603050405020304" pitchFamily="18" charset="0"/>
                <a:cs typeface="Times New Roman" panose="02020603050405020304" pitchFamily="18" charset="0"/>
              </a:rPr>
              <a:t>2. reshape x to (samples, timesteps, features)</a:t>
            </a:r>
          </a:p>
          <a:p>
            <a:pPr algn="l"/>
            <a:r>
              <a:rPr lang="en-IN" sz="1800" cap="none" dirty="0">
                <a:solidFill>
                  <a:schemeClr val="tx1"/>
                </a:solidFill>
                <a:latin typeface="Times New Roman" panose="02020603050405020304" pitchFamily="18" charset="0"/>
                <a:cs typeface="Times New Roman" panose="02020603050405020304" pitchFamily="18" charset="0"/>
              </a:rPr>
              <a:t>3. create sequential model</a:t>
            </a:r>
          </a:p>
          <a:p>
            <a:pPr algn="l"/>
            <a:r>
              <a:rPr lang="en-IN" sz="1800" cap="none" dirty="0">
                <a:solidFill>
                  <a:schemeClr val="tx1"/>
                </a:solidFill>
                <a:latin typeface="Times New Roman" panose="02020603050405020304" pitchFamily="18" charset="0"/>
                <a:cs typeface="Times New Roman" panose="02020603050405020304" pitchFamily="18" charset="0"/>
              </a:rPr>
              <a:t>4. compile and train model</a:t>
            </a:r>
          </a:p>
          <a:p>
            <a:pPr algn="l"/>
            <a:r>
              <a:rPr lang="en-IN" sz="1800" cap="none" dirty="0">
                <a:solidFill>
                  <a:schemeClr val="tx1"/>
                </a:solidFill>
                <a:latin typeface="Times New Roman" panose="02020603050405020304" pitchFamily="18" charset="0"/>
                <a:cs typeface="Times New Roman" panose="02020603050405020304" pitchFamily="18" charset="0"/>
              </a:rPr>
              <a:t>5. predict and evaluate</a:t>
            </a:r>
          </a:p>
          <a:p>
            <a:pPr algn="l"/>
            <a:endParaRPr lang="en-IN" sz="2400" b="1" dirty="0">
              <a:solidFill>
                <a:schemeClr val="tx1"/>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61ECC8F-1C47-4015-3AB8-6E5E904ADBBE}"/>
              </a:ext>
            </a:extLst>
          </p:cNvPr>
          <p:cNvSpPr>
            <a:spLocks noGrp="1"/>
          </p:cNvSpPr>
          <p:nvPr>
            <p:ph type="ftr" sz="quarter" idx="11"/>
          </p:nvPr>
        </p:nvSpPr>
        <p:spPr>
          <a:xfrm>
            <a:off x="714896" y="5883275"/>
            <a:ext cx="6871766" cy="1781060"/>
          </a:xfrm>
        </p:spPr>
        <p:txBody>
          <a:bodyPr/>
          <a:lstStyle/>
          <a:p>
            <a:r>
              <a:rPr lang="en-US" dirty="0"/>
              <a:t>Department of CSE,BVCITS(H4),</a:t>
            </a:r>
            <a:r>
              <a:rPr lang="en-US" dirty="0" err="1"/>
              <a:t>Amalapuram</a:t>
            </a:r>
            <a:endParaRPr lang="en-IN" dirty="0"/>
          </a:p>
        </p:txBody>
      </p:sp>
      <p:sp>
        <p:nvSpPr>
          <p:cNvPr id="5" name="Slide Number Placeholder 4">
            <a:extLst>
              <a:ext uri="{FF2B5EF4-FFF2-40B4-BE49-F238E27FC236}">
                <a16:creationId xmlns:a16="http://schemas.microsoft.com/office/drawing/2014/main" id="{1407EC26-0008-8C80-F0D5-8AE97CB80580}"/>
              </a:ext>
            </a:extLst>
          </p:cNvPr>
          <p:cNvSpPr>
            <a:spLocks noGrp="1"/>
          </p:cNvSpPr>
          <p:nvPr>
            <p:ph type="sldNum" sz="quarter" idx="12"/>
          </p:nvPr>
        </p:nvSpPr>
        <p:spPr>
          <a:xfrm>
            <a:off x="10514011" y="5883275"/>
            <a:ext cx="1677989" cy="1631430"/>
          </a:xfrm>
        </p:spPr>
        <p:txBody>
          <a:bodyPr/>
          <a:lstStyle/>
          <a:p>
            <a:fld id="{D11D1588-8316-42EA-B695-F2D8B3238057}" type="slidenum">
              <a:rPr lang="en-IN" smtClean="0"/>
              <a:t>23</a:t>
            </a:fld>
            <a:endParaRPr lang="en-IN" dirty="0"/>
          </a:p>
        </p:txBody>
      </p:sp>
      <p:sp>
        <p:nvSpPr>
          <p:cNvPr id="2" name="Date Placeholder 1">
            <a:extLst>
              <a:ext uri="{FF2B5EF4-FFF2-40B4-BE49-F238E27FC236}">
                <a16:creationId xmlns:a16="http://schemas.microsoft.com/office/drawing/2014/main" id="{5FCE7AF6-1624-31AD-522B-197F5D37588E}"/>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4634324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F3AE5-3F11-E747-1A60-8A25F6442E38}"/>
              </a:ext>
            </a:extLst>
          </p:cNvPr>
          <p:cNvSpPr>
            <a:spLocks noGrp="1"/>
          </p:cNvSpPr>
          <p:nvPr>
            <p:ph type="title"/>
          </p:nvPr>
        </p:nvSpPr>
        <p:spPr>
          <a:xfrm>
            <a:off x="913774" y="44664"/>
            <a:ext cx="10364451" cy="1066382"/>
          </a:xfrm>
        </p:spPr>
        <p:txBody>
          <a:bodyPr>
            <a:normAutofit/>
          </a:bodyPr>
          <a:lstStyle/>
          <a:p>
            <a:r>
              <a:rPr lang="en-US" sz="2800" dirty="0">
                <a:latin typeface="Times New Roman" panose="02020603050405020304" pitchFamily="18" charset="0"/>
                <a:cs typeface="Times New Roman" panose="02020603050405020304" pitchFamily="18" charset="0"/>
              </a:rPr>
              <a:t>Test Cases</a:t>
            </a:r>
            <a:endParaRPr lang="en-IN" sz="2800" dirty="0">
              <a:latin typeface="Times New Roman" panose="02020603050405020304" pitchFamily="18" charset="0"/>
              <a:cs typeface="Times New Roman" panose="02020603050405020304" pitchFamily="18" charset="0"/>
            </a:endParaRPr>
          </a:p>
        </p:txBody>
      </p:sp>
      <p:graphicFrame>
        <p:nvGraphicFramePr>
          <p:cNvPr id="4" name="Content Placeholder 3">
            <a:extLst>
              <a:ext uri="{FF2B5EF4-FFF2-40B4-BE49-F238E27FC236}">
                <a16:creationId xmlns:a16="http://schemas.microsoft.com/office/drawing/2014/main" id="{B9FEE251-5EDB-E0A4-68CC-811A607E2974}"/>
              </a:ext>
            </a:extLst>
          </p:cNvPr>
          <p:cNvGraphicFramePr>
            <a:graphicFrameLocks noGrp="1"/>
          </p:cNvGraphicFramePr>
          <p:nvPr>
            <p:ph sz="quarter" idx="13"/>
            <p:extLst>
              <p:ext uri="{D42A27DB-BD31-4B8C-83A1-F6EECF244321}">
                <p14:modId xmlns:p14="http://schemas.microsoft.com/office/powerpoint/2010/main" val="3799575262"/>
              </p:ext>
            </p:extLst>
          </p:nvPr>
        </p:nvGraphicFramePr>
        <p:xfrm>
          <a:off x="843280" y="1257382"/>
          <a:ext cx="10592886" cy="5268111"/>
        </p:xfrm>
        <a:graphic>
          <a:graphicData uri="http://schemas.openxmlformats.org/drawingml/2006/table">
            <a:tbl>
              <a:tblPr firstRow="1" bandRow="1">
                <a:tableStyleId>{5940675A-B579-460E-94D1-54222C63F5DA}</a:tableStyleId>
              </a:tblPr>
              <a:tblGrid>
                <a:gridCol w="880060">
                  <a:extLst>
                    <a:ext uri="{9D8B030D-6E8A-4147-A177-3AD203B41FA5}">
                      <a16:colId xmlns:a16="http://schemas.microsoft.com/office/drawing/2014/main" val="2250846634"/>
                    </a:ext>
                  </a:extLst>
                </a:gridCol>
                <a:gridCol w="3538439">
                  <a:extLst>
                    <a:ext uri="{9D8B030D-6E8A-4147-A177-3AD203B41FA5}">
                      <a16:colId xmlns:a16="http://schemas.microsoft.com/office/drawing/2014/main" val="3414930249"/>
                    </a:ext>
                  </a:extLst>
                </a:gridCol>
                <a:gridCol w="2471860">
                  <a:extLst>
                    <a:ext uri="{9D8B030D-6E8A-4147-A177-3AD203B41FA5}">
                      <a16:colId xmlns:a16="http://schemas.microsoft.com/office/drawing/2014/main" val="2895981759"/>
                    </a:ext>
                  </a:extLst>
                </a:gridCol>
                <a:gridCol w="2303565">
                  <a:extLst>
                    <a:ext uri="{9D8B030D-6E8A-4147-A177-3AD203B41FA5}">
                      <a16:colId xmlns:a16="http://schemas.microsoft.com/office/drawing/2014/main" val="1696820074"/>
                    </a:ext>
                  </a:extLst>
                </a:gridCol>
                <a:gridCol w="1398962">
                  <a:extLst>
                    <a:ext uri="{9D8B030D-6E8A-4147-A177-3AD203B41FA5}">
                      <a16:colId xmlns:a16="http://schemas.microsoft.com/office/drawing/2014/main" val="346707909"/>
                    </a:ext>
                  </a:extLst>
                </a:gridCol>
              </a:tblGrid>
              <a:tr h="387895">
                <a:tc>
                  <a:txBody>
                    <a:bodyPr/>
                    <a:lstStyle/>
                    <a:p>
                      <a:pPr algn="ctr"/>
                      <a:r>
                        <a:rPr lang="en-IN" sz="1800" b="1" kern="1200" cap="none" baseline="0" dirty="0" err="1">
                          <a:solidFill>
                            <a:schemeClr val="tx1"/>
                          </a:solidFill>
                          <a:effectLst/>
                          <a:latin typeface="Times New Roman" panose="02020603050405020304" pitchFamily="18" charset="0"/>
                          <a:ea typeface="+mn-ea"/>
                          <a:cs typeface="Times New Roman" panose="02020603050405020304" pitchFamily="18" charset="0"/>
                        </a:rPr>
                        <a:t>S.No</a:t>
                      </a:r>
                      <a:r>
                        <a:rPr lang="en-IN" sz="1800" b="1" kern="1200" cap="none" baseline="0" dirty="0">
                          <a:solidFill>
                            <a:schemeClr val="tx1"/>
                          </a:solidFill>
                          <a:effectLst/>
                          <a:latin typeface="Times New Roman" panose="02020603050405020304" pitchFamily="18" charset="0"/>
                          <a:ea typeface="+mn-ea"/>
                          <a:cs typeface="Times New Roman" panose="02020603050405020304" pitchFamily="18" charset="0"/>
                        </a:rPr>
                        <a:t>.</a:t>
                      </a:r>
                    </a:p>
                  </a:txBody>
                  <a:tcPr>
                    <a:solidFill>
                      <a:schemeClr val="bg1">
                        <a:lumMod val="75000"/>
                      </a:schemeClr>
                    </a:solidFill>
                  </a:tcPr>
                </a:tc>
                <a:tc>
                  <a:txBody>
                    <a:bodyPr/>
                    <a:lstStyle/>
                    <a:p>
                      <a:pPr algn="ctr"/>
                      <a:r>
                        <a:rPr lang="en-IN" sz="1800" b="1" kern="1200" cap="none" baseline="0" dirty="0">
                          <a:solidFill>
                            <a:schemeClr val="tx1"/>
                          </a:solidFill>
                          <a:effectLst/>
                          <a:latin typeface="Times New Roman" panose="02020603050405020304" pitchFamily="18" charset="0"/>
                          <a:ea typeface="+mn-ea"/>
                          <a:cs typeface="Times New Roman" panose="02020603050405020304" pitchFamily="18" charset="0"/>
                        </a:rPr>
                        <a:t>Test Case Description</a:t>
                      </a:r>
                    </a:p>
                  </a:txBody>
                  <a:tcPr>
                    <a:solidFill>
                      <a:schemeClr val="bg1">
                        <a:lumMod val="75000"/>
                      </a:schemeClr>
                    </a:solidFill>
                  </a:tcPr>
                </a:tc>
                <a:tc>
                  <a:txBody>
                    <a:bodyPr/>
                    <a:lstStyle/>
                    <a:p>
                      <a:pPr algn="ctr"/>
                      <a:r>
                        <a:rPr lang="en-IN" sz="1800" b="1" kern="1200" cap="none" baseline="0" dirty="0">
                          <a:solidFill>
                            <a:schemeClr val="tx1"/>
                          </a:solidFill>
                          <a:effectLst/>
                          <a:latin typeface="Times New Roman" panose="02020603050405020304" pitchFamily="18" charset="0"/>
                          <a:ea typeface="+mn-ea"/>
                          <a:cs typeface="Times New Roman" panose="02020603050405020304" pitchFamily="18" charset="0"/>
                        </a:rPr>
                        <a:t>Expected Output</a:t>
                      </a:r>
                    </a:p>
                  </a:txBody>
                  <a:tcPr>
                    <a:solidFill>
                      <a:schemeClr val="bg1">
                        <a:lumMod val="75000"/>
                      </a:schemeClr>
                    </a:solidFill>
                  </a:tcPr>
                </a:tc>
                <a:tc>
                  <a:txBody>
                    <a:bodyPr/>
                    <a:lstStyle/>
                    <a:p>
                      <a:pPr algn="ctr"/>
                      <a:r>
                        <a:rPr lang="en-IN" sz="1800" b="1" kern="1200" cap="none" baseline="0" dirty="0">
                          <a:solidFill>
                            <a:schemeClr val="tx1"/>
                          </a:solidFill>
                          <a:effectLst/>
                          <a:latin typeface="Times New Roman" panose="02020603050405020304" pitchFamily="18" charset="0"/>
                          <a:ea typeface="+mn-ea"/>
                          <a:cs typeface="Times New Roman" panose="02020603050405020304" pitchFamily="18" charset="0"/>
                        </a:rPr>
                        <a:t>Actual Output</a:t>
                      </a:r>
                    </a:p>
                  </a:txBody>
                  <a:tcPr>
                    <a:solidFill>
                      <a:schemeClr val="bg1">
                        <a:lumMod val="75000"/>
                      </a:schemeClr>
                    </a:solidFill>
                  </a:tcPr>
                </a:tc>
                <a:tc>
                  <a:txBody>
                    <a:bodyPr/>
                    <a:lstStyle/>
                    <a:p>
                      <a:pPr algn="ctr"/>
                      <a:r>
                        <a:rPr lang="en-IN" sz="1800" b="1" kern="1200" cap="none" baseline="0" dirty="0">
                          <a:solidFill>
                            <a:schemeClr val="tx1"/>
                          </a:solidFill>
                          <a:effectLst/>
                          <a:latin typeface="Times New Roman" panose="02020603050405020304" pitchFamily="18" charset="0"/>
                          <a:ea typeface="+mn-ea"/>
                          <a:cs typeface="Times New Roman" panose="02020603050405020304" pitchFamily="18" charset="0"/>
                        </a:rPr>
                        <a:t>Result</a:t>
                      </a:r>
                    </a:p>
                  </a:txBody>
                  <a:tcPr>
                    <a:solidFill>
                      <a:schemeClr val="bg1">
                        <a:lumMod val="75000"/>
                      </a:schemeClr>
                    </a:solidFill>
                  </a:tcPr>
                </a:tc>
                <a:extLst>
                  <a:ext uri="{0D108BD9-81ED-4DB2-BD59-A6C34878D82A}">
                    <a16:rowId xmlns:a16="http://schemas.microsoft.com/office/drawing/2014/main" val="3375560173"/>
                  </a:ext>
                </a:extLst>
              </a:tr>
              <a:tr h="790614">
                <a:tc>
                  <a:txBody>
                    <a:bodyPr/>
                    <a:lstStyle/>
                    <a:p>
                      <a:pPr algn="ctr"/>
                      <a:r>
                        <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rPr>
                        <a:t>1.</a:t>
                      </a:r>
                    </a:p>
                  </a:txBody>
                  <a:tcPr anchor="ctr"/>
                </a:tc>
                <a:tc>
                  <a:txBody>
                    <a:bodyPr/>
                    <a:lstStyle/>
                    <a:p>
                      <a:pPr algn="ctr"/>
                      <a:r>
                        <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rPr>
                        <a:t>Upload pupillometric dataset.</a:t>
                      </a:r>
                    </a:p>
                  </a:txBody>
                  <a:tcPr anchor="ctr"/>
                </a:tc>
                <a:tc>
                  <a:txBody>
                    <a:bodyPr/>
                    <a:lstStyle/>
                    <a:p>
                      <a:pPr algn="ctr"/>
                      <a:r>
                        <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rPr>
                        <a:t>Dataset uploaded and displayed.</a:t>
                      </a:r>
                    </a:p>
                  </a:txBody>
                  <a:tcPr anchor="ctr"/>
                </a:tc>
                <a:tc>
                  <a:txBody>
                    <a:bodyPr/>
                    <a:lstStyle/>
                    <a:p>
                      <a:pPr algn="ctr"/>
                      <a:r>
                        <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rPr>
                        <a:t>Dataset uploaded successfully.</a:t>
                      </a:r>
                    </a:p>
                  </a:txBody>
                  <a:tcPr anchor="ctr"/>
                </a:tc>
                <a:tc>
                  <a:txBody>
                    <a:bodyPr/>
                    <a:lstStyle/>
                    <a:p>
                      <a:pPr algn="ctr"/>
                      <a:r>
                        <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rPr>
                        <a:t>Pass</a:t>
                      </a:r>
                    </a:p>
                  </a:txBody>
                  <a:tcPr anchor="ctr"/>
                </a:tc>
                <a:extLst>
                  <a:ext uri="{0D108BD9-81ED-4DB2-BD59-A6C34878D82A}">
                    <a16:rowId xmlns:a16="http://schemas.microsoft.com/office/drawing/2014/main" val="1789402940"/>
                  </a:ext>
                </a:extLst>
              </a:tr>
              <a:tr h="1027798">
                <a:tc>
                  <a:txBody>
                    <a:bodyPr/>
                    <a:lstStyle/>
                    <a:p>
                      <a:pPr algn="ctr"/>
                      <a:r>
                        <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rPr>
                        <a:t>2.</a:t>
                      </a:r>
                    </a:p>
                  </a:txBody>
                  <a:tcPr anchor="ctr"/>
                </a:tc>
                <a:tc>
                  <a:txBody>
                    <a:bodyPr/>
                    <a:lstStyle/>
                    <a:p>
                      <a:pPr algn="ctr"/>
                      <a:r>
                        <a:rPr lang="en-US" sz="1800" kern="1200" cap="none" baseline="0" dirty="0">
                          <a:solidFill>
                            <a:schemeClr val="tx1"/>
                          </a:solidFill>
                          <a:effectLst/>
                          <a:latin typeface="Times New Roman" panose="02020603050405020304" pitchFamily="18" charset="0"/>
                          <a:ea typeface="+mn-ea"/>
                          <a:cs typeface="Times New Roman" panose="02020603050405020304" pitchFamily="18" charset="0"/>
                        </a:rPr>
                        <a:t>Predict genetic disease based on test data.</a:t>
                      </a:r>
                      <a:endPar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sz="1800" kern="1200" cap="none" baseline="0" dirty="0">
                          <a:solidFill>
                            <a:schemeClr val="tx1"/>
                          </a:solidFill>
                          <a:effectLst/>
                          <a:latin typeface="Times New Roman" panose="02020603050405020304" pitchFamily="18" charset="0"/>
                          <a:ea typeface="+mn-ea"/>
                          <a:cs typeface="Times New Roman" panose="02020603050405020304" pitchFamily="18" charset="0"/>
                        </a:rPr>
                        <a:t>"Disease Detected" or "No Disease Detected."</a:t>
                      </a:r>
                      <a:endPar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rPr>
                        <a:t>Correct classification displayed.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rPr>
                        <a:t>Pass</a:t>
                      </a:r>
                    </a:p>
                    <a:p>
                      <a:pPr algn="ctr"/>
                      <a:endPar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2592639789"/>
                  </a:ext>
                </a:extLst>
              </a:tr>
              <a:tr h="790614">
                <a:tc>
                  <a:txBody>
                    <a:bodyPr/>
                    <a:lstStyle/>
                    <a:p>
                      <a:pPr algn="ctr"/>
                      <a:r>
                        <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rPr>
                        <a:t>3.</a:t>
                      </a:r>
                    </a:p>
                  </a:txBody>
                  <a:tcPr anchor="ctr"/>
                </a:tc>
                <a:tc>
                  <a:txBody>
                    <a:bodyPr/>
                    <a:lstStyle/>
                    <a:p>
                      <a:pPr algn="ctr"/>
                      <a:r>
                        <a:rPr lang="en-US" sz="1800" kern="1200" cap="none" baseline="0" dirty="0">
                          <a:solidFill>
                            <a:schemeClr val="tx1"/>
                          </a:solidFill>
                          <a:effectLst/>
                          <a:latin typeface="Times New Roman" panose="02020603050405020304" pitchFamily="18" charset="0"/>
                          <a:ea typeface="+mn-ea"/>
                          <a:cs typeface="Times New Roman" panose="02020603050405020304" pitchFamily="18" charset="0"/>
                        </a:rPr>
                        <a:t>Upload invalid dataset</a:t>
                      </a:r>
                      <a:endPar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sz="1800" kern="1200" cap="none" baseline="0" dirty="0">
                          <a:solidFill>
                            <a:schemeClr val="tx1"/>
                          </a:solidFill>
                          <a:effectLst/>
                          <a:latin typeface="Times New Roman" panose="02020603050405020304" pitchFamily="18" charset="0"/>
                          <a:ea typeface="+mn-ea"/>
                          <a:cs typeface="Times New Roman" panose="02020603050405020304" pitchFamily="18" charset="0"/>
                        </a:rPr>
                        <a:t>It shows error message</a:t>
                      </a:r>
                      <a:endPar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sz="1800" kern="1200" cap="none" baseline="0" dirty="0">
                          <a:solidFill>
                            <a:schemeClr val="tx1"/>
                          </a:solidFill>
                          <a:effectLst/>
                          <a:latin typeface="Times New Roman" panose="02020603050405020304" pitchFamily="18" charset="0"/>
                          <a:ea typeface="+mn-ea"/>
                          <a:cs typeface="Times New Roman" panose="02020603050405020304" pitchFamily="18" charset="0"/>
                        </a:rPr>
                        <a:t>Error message not displayed</a:t>
                      </a:r>
                      <a:endPar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sz="1800" kern="1200" cap="none" baseline="0" dirty="0">
                          <a:solidFill>
                            <a:schemeClr val="tx1"/>
                          </a:solidFill>
                          <a:effectLst/>
                          <a:latin typeface="Times New Roman" panose="02020603050405020304" pitchFamily="18" charset="0"/>
                          <a:ea typeface="+mn-ea"/>
                          <a:cs typeface="Times New Roman" panose="02020603050405020304" pitchFamily="18" charset="0"/>
                        </a:rPr>
                        <a:t>F</a:t>
                      </a:r>
                      <a:r>
                        <a:rPr lang="en-IN" sz="1800" kern="1200" cap="none" baseline="0">
                          <a:solidFill>
                            <a:schemeClr val="tx1"/>
                          </a:solidFill>
                          <a:effectLst/>
                          <a:latin typeface="Times New Roman" panose="02020603050405020304" pitchFamily="18" charset="0"/>
                          <a:ea typeface="+mn-ea"/>
                          <a:cs typeface="Times New Roman" panose="02020603050405020304" pitchFamily="18" charset="0"/>
                        </a:rPr>
                        <a:t>ail</a:t>
                      </a:r>
                      <a:endPar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2462162415"/>
                  </a:ext>
                </a:extLst>
              </a:tr>
              <a:tr h="1139161">
                <a:tc>
                  <a:txBody>
                    <a:bodyPr/>
                    <a:lstStyle/>
                    <a:p>
                      <a:pPr algn="ctr"/>
                      <a:r>
                        <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rPr>
                        <a:t>4.</a:t>
                      </a:r>
                    </a:p>
                  </a:txBody>
                  <a:tcPr anchor="ctr"/>
                </a:tc>
                <a:tc>
                  <a:txBody>
                    <a:bodyPr/>
                    <a:lstStyle/>
                    <a:p>
                      <a:pPr algn="ctr"/>
                      <a:r>
                        <a:rPr lang="en-US" sz="1800" kern="1200" cap="none" baseline="0" dirty="0">
                          <a:solidFill>
                            <a:schemeClr val="tx1"/>
                          </a:solidFill>
                          <a:effectLst/>
                          <a:latin typeface="Times New Roman" panose="02020603050405020304" pitchFamily="18" charset="0"/>
                          <a:ea typeface="+mn-ea"/>
                          <a:cs typeface="Times New Roman" panose="02020603050405020304" pitchFamily="18" charset="0"/>
                        </a:rPr>
                        <a:t>S</a:t>
                      </a:r>
                      <a:r>
                        <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rPr>
                        <a:t>how accuracy graph</a:t>
                      </a:r>
                    </a:p>
                  </a:txBody>
                  <a:tcPr anchor="ctr"/>
                </a:tc>
                <a:tc>
                  <a:txBody>
                    <a:bodyPr/>
                    <a:lstStyle/>
                    <a:p>
                      <a:pPr algn="ctr"/>
                      <a:r>
                        <a:rPr lang="en-US" dirty="0">
                          <a:latin typeface="Times New Roman" panose="02020603050405020304" pitchFamily="18" charset="0"/>
                          <a:cs typeface="Times New Roman" panose="02020603050405020304" pitchFamily="18" charset="0"/>
                        </a:rPr>
                        <a:t>A bar graph of accuracy values displayed</a:t>
                      </a:r>
                      <a:endPar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IN" dirty="0">
                          <a:latin typeface="Times New Roman" panose="02020603050405020304" pitchFamily="18" charset="0"/>
                          <a:cs typeface="Times New Roman" panose="02020603050405020304" pitchFamily="18" charset="0"/>
                        </a:rPr>
                        <a:t>Graph displayed using matplotlib</a:t>
                      </a:r>
                      <a:endPar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algn="ctr"/>
                      <a:r>
                        <a:rPr lang="en-US" sz="1800" kern="1200" cap="none" baseline="0" dirty="0">
                          <a:solidFill>
                            <a:schemeClr val="tx1"/>
                          </a:solidFill>
                          <a:effectLst/>
                          <a:latin typeface="Times New Roman" panose="02020603050405020304" pitchFamily="18" charset="0"/>
                          <a:ea typeface="+mn-ea"/>
                          <a:cs typeface="Times New Roman" panose="02020603050405020304" pitchFamily="18" charset="0"/>
                        </a:rPr>
                        <a:t>P</a:t>
                      </a:r>
                      <a:r>
                        <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rPr>
                        <a:t>ass</a:t>
                      </a:r>
                    </a:p>
                  </a:txBody>
                  <a:tcPr anchor="ctr"/>
                </a:tc>
                <a:extLst>
                  <a:ext uri="{0D108BD9-81ED-4DB2-BD59-A6C34878D82A}">
                    <a16:rowId xmlns:a16="http://schemas.microsoft.com/office/drawing/2014/main" val="3215716203"/>
                  </a:ext>
                </a:extLst>
              </a:tr>
              <a:tr h="1132029">
                <a:tc>
                  <a:txBody>
                    <a:bodyPr/>
                    <a:lstStyle/>
                    <a:p>
                      <a:pPr algn="ctr"/>
                      <a:r>
                        <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rPr>
                        <a:t>5.</a:t>
                      </a:r>
                    </a:p>
                  </a:txBody>
                  <a:tcPr anchor="ctr"/>
                </a:tc>
                <a:tc>
                  <a:txBody>
                    <a:bodyPr/>
                    <a:lstStyle/>
                    <a:p>
                      <a:pPr algn="ctr"/>
                      <a:r>
                        <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rPr>
                        <a:t>Selecting an empty directory</a:t>
                      </a:r>
                    </a:p>
                  </a:txBody>
                  <a:tcPr anchor="ctr"/>
                </a:tc>
                <a:tc>
                  <a:txBody>
                    <a:bodyPr/>
                    <a:lstStyle/>
                    <a:p>
                      <a:pPr algn="ctr"/>
                      <a:r>
                        <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rPr>
                        <a:t>Error message.</a:t>
                      </a:r>
                    </a:p>
                  </a:txBody>
                  <a:tcPr anchor="ctr"/>
                </a:tc>
                <a:tc>
                  <a:txBody>
                    <a:bodyPr/>
                    <a:lstStyle/>
                    <a:p>
                      <a:pPr algn="ctr"/>
                      <a:r>
                        <a:rPr lang="en-US" sz="1800" kern="1200" cap="none" baseline="0" dirty="0">
                          <a:solidFill>
                            <a:schemeClr val="tx1"/>
                          </a:solidFill>
                          <a:effectLst/>
                          <a:latin typeface="Times New Roman" panose="02020603050405020304" pitchFamily="18" charset="0"/>
                          <a:ea typeface="+mn-ea"/>
                          <a:cs typeface="Times New Roman" panose="02020603050405020304" pitchFamily="18" charset="0"/>
                        </a:rPr>
                        <a:t>It is showing dataset is loaded.</a:t>
                      </a:r>
                      <a:endPar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rPr>
                        <a:t>Fail</a:t>
                      </a:r>
                    </a:p>
                    <a:p>
                      <a:pPr algn="ctr"/>
                      <a:endParaRPr lang="en-IN" sz="1800" kern="1200" cap="none" baseline="0" dirty="0">
                        <a:solidFill>
                          <a:schemeClr val="tx1"/>
                        </a:solidFill>
                        <a:effectLst/>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2281608626"/>
                  </a:ext>
                </a:extLst>
              </a:tr>
            </a:tbl>
          </a:graphicData>
        </a:graphic>
      </p:graphicFrame>
      <p:sp>
        <p:nvSpPr>
          <p:cNvPr id="3" name="Footer Placeholder 2">
            <a:extLst>
              <a:ext uri="{FF2B5EF4-FFF2-40B4-BE49-F238E27FC236}">
                <a16:creationId xmlns:a16="http://schemas.microsoft.com/office/drawing/2014/main" id="{7093621D-572F-6E79-AE06-163E78A0E4A3}"/>
              </a:ext>
            </a:extLst>
          </p:cNvPr>
          <p:cNvSpPr>
            <a:spLocks noGrp="1"/>
          </p:cNvSpPr>
          <p:nvPr>
            <p:ph type="ftr" sz="quarter" idx="11"/>
          </p:nvPr>
        </p:nvSpPr>
        <p:spPr>
          <a:xfrm>
            <a:off x="755834" y="5883275"/>
            <a:ext cx="6830827" cy="1702089"/>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81896D5-FCC4-F151-FFCA-177D521FBB83}"/>
              </a:ext>
            </a:extLst>
          </p:cNvPr>
          <p:cNvSpPr>
            <a:spLocks noGrp="1"/>
          </p:cNvSpPr>
          <p:nvPr>
            <p:ph type="sldNum" sz="quarter" idx="12"/>
          </p:nvPr>
        </p:nvSpPr>
        <p:spPr>
          <a:xfrm>
            <a:off x="10514011" y="5883275"/>
            <a:ext cx="1677989" cy="1702089"/>
          </a:xfrm>
        </p:spPr>
        <p:txBody>
          <a:bodyPr/>
          <a:lstStyle/>
          <a:p>
            <a:fld id="{D11D1588-8316-42EA-B695-F2D8B3238057}" type="slidenum">
              <a:rPr lang="en-IN" smtClean="0"/>
              <a:t>24</a:t>
            </a:fld>
            <a:endParaRPr lang="en-IN" dirty="0"/>
          </a:p>
        </p:txBody>
      </p:sp>
      <p:sp>
        <p:nvSpPr>
          <p:cNvPr id="6" name="Date Placeholder 5">
            <a:extLst>
              <a:ext uri="{FF2B5EF4-FFF2-40B4-BE49-F238E27FC236}">
                <a16:creationId xmlns:a16="http://schemas.microsoft.com/office/drawing/2014/main" id="{00E94F94-5FA1-7DF3-DE87-E7F6ABFAF831}"/>
              </a:ext>
            </a:extLst>
          </p:cNvPr>
          <p:cNvSpPr>
            <a:spLocks noGrp="1"/>
          </p:cNvSpPr>
          <p:nvPr>
            <p:ph type="dt" sz="half" idx="10"/>
          </p:nvPr>
        </p:nvSpPr>
        <p:spPr>
          <a:xfrm>
            <a:off x="7678737" y="5883275"/>
            <a:ext cx="2743200" cy="1772747"/>
          </a:xfrm>
        </p:spPr>
        <p:txBody>
          <a:bodyPr/>
          <a:lstStyle/>
          <a:p>
            <a:r>
              <a:rPr lang="en-IN" dirty="0"/>
              <a:t>11-04-2025</a:t>
            </a:r>
          </a:p>
        </p:txBody>
      </p:sp>
    </p:spTree>
    <p:extLst>
      <p:ext uri="{BB962C8B-B14F-4D97-AF65-F5344CB8AC3E}">
        <p14:creationId xmlns:p14="http://schemas.microsoft.com/office/powerpoint/2010/main" val="24720236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A1010-A754-F876-3CB9-BB6E51EE550A}"/>
              </a:ext>
            </a:extLst>
          </p:cNvPr>
          <p:cNvSpPr>
            <a:spLocks noGrp="1"/>
          </p:cNvSpPr>
          <p:nvPr>
            <p:ph type="title"/>
          </p:nvPr>
        </p:nvSpPr>
        <p:spPr>
          <a:xfrm>
            <a:off x="913775" y="557349"/>
            <a:ext cx="10364451" cy="5199017"/>
          </a:xfrm>
        </p:spPr>
        <p:txBody>
          <a:bodyPr>
            <a:normAutofit/>
          </a:bodyPr>
          <a:lstStyle/>
          <a:p>
            <a:r>
              <a:rPr lang="en-US" sz="2800" dirty="0">
                <a:latin typeface="Times New Roman" panose="02020603050405020304" pitchFamily="18" charset="0"/>
                <a:cs typeface="Times New Roman" panose="02020603050405020304" pitchFamily="18" charset="0"/>
              </a:rPr>
              <a:t>Project Execution Screens</a:t>
            </a:r>
            <a:endParaRPr lang="en-IN" sz="2800"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935E3F31-21A8-9E03-767D-C59C5D961822}"/>
              </a:ext>
            </a:extLst>
          </p:cNvPr>
          <p:cNvSpPr>
            <a:spLocks noGrp="1"/>
          </p:cNvSpPr>
          <p:nvPr>
            <p:ph type="ftr" sz="quarter" idx="11"/>
          </p:nvPr>
        </p:nvSpPr>
        <p:spPr>
          <a:xfrm>
            <a:off x="913774" y="5883275"/>
            <a:ext cx="6672887" cy="1653598"/>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BFDB2D8-FFF3-59F3-0661-7A9C79CE8494}"/>
              </a:ext>
            </a:extLst>
          </p:cNvPr>
          <p:cNvSpPr>
            <a:spLocks noGrp="1"/>
          </p:cNvSpPr>
          <p:nvPr>
            <p:ph type="sldNum" sz="quarter" idx="12"/>
          </p:nvPr>
        </p:nvSpPr>
        <p:spPr>
          <a:xfrm>
            <a:off x="10514011" y="5883275"/>
            <a:ext cx="1677989" cy="1743652"/>
          </a:xfrm>
        </p:spPr>
        <p:txBody>
          <a:bodyPr/>
          <a:lstStyle/>
          <a:p>
            <a:fld id="{D11D1588-8316-42EA-B695-F2D8B3238057}" type="slidenum">
              <a:rPr lang="en-IN" smtClean="0"/>
              <a:t>25</a:t>
            </a:fld>
            <a:endParaRPr lang="en-IN" dirty="0"/>
          </a:p>
        </p:txBody>
      </p:sp>
      <p:sp>
        <p:nvSpPr>
          <p:cNvPr id="5" name="Date Placeholder 4">
            <a:extLst>
              <a:ext uri="{FF2B5EF4-FFF2-40B4-BE49-F238E27FC236}">
                <a16:creationId xmlns:a16="http://schemas.microsoft.com/office/drawing/2014/main" id="{F92115E4-76F0-9666-0E4F-8389EC3AD71F}"/>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37523241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9913F-C613-0075-8779-61979D808914}"/>
              </a:ext>
            </a:extLst>
          </p:cNvPr>
          <p:cNvSpPr>
            <a:spLocks noGrp="1"/>
          </p:cNvSpPr>
          <p:nvPr>
            <p:ph type="title"/>
          </p:nvPr>
        </p:nvSpPr>
        <p:spPr>
          <a:xfrm>
            <a:off x="1733006" y="-984069"/>
            <a:ext cx="9545220" cy="3351161"/>
          </a:xfrm>
        </p:spPr>
        <p:txBody>
          <a:bodyPr/>
          <a:lstStyle/>
          <a:p>
            <a:pPr marL="285750" indent="-285750" algn="l">
              <a:buFont typeface="Arial" panose="020B0604020202020204" pitchFamily="34" charset="0"/>
              <a:buChar char="•"/>
            </a:pPr>
            <a:r>
              <a:rPr lang="en-IN" sz="1800" cap="none" dirty="0">
                <a:latin typeface="Times New Roman" panose="02020603050405020304" pitchFamily="18" charset="0"/>
                <a:ea typeface="Calibri" panose="020F0502020204030204" pitchFamily="34" charset="0"/>
                <a:cs typeface="Times New Roman" panose="02020603050405020304" pitchFamily="18" charset="0"/>
              </a:rPr>
              <a:t>T</a:t>
            </a:r>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o run project double click on ‘run.bat’ file to get below screen.</a:t>
            </a:r>
            <a:br>
              <a:rPr lang="en-IN" sz="1800" cap="none" dirty="0">
                <a:effectLst/>
                <a:latin typeface="Calibri" panose="020F0502020204030204" pitchFamily="34" charset="0"/>
                <a:ea typeface="Calibri" panose="020F0502020204030204" pitchFamily="34" charset="0"/>
                <a:cs typeface="Times New Roman" panose="02020603050405020304" pitchFamily="18" charset="0"/>
              </a:rPr>
            </a:br>
            <a:endParaRPr lang="en-IN" cap="none" dirty="0"/>
          </a:p>
        </p:txBody>
      </p:sp>
      <p:sp>
        <p:nvSpPr>
          <p:cNvPr id="3" name="Content Placeholder 2">
            <a:extLst>
              <a:ext uri="{FF2B5EF4-FFF2-40B4-BE49-F238E27FC236}">
                <a16:creationId xmlns:a16="http://schemas.microsoft.com/office/drawing/2014/main" id="{6937EEB6-A587-C8C1-B9DA-3EFB9E29AC6E}"/>
              </a:ext>
            </a:extLst>
          </p:cNvPr>
          <p:cNvSpPr>
            <a:spLocks noGrp="1"/>
          </p:cNvSpPr>
          <p:nvPr>
            <p:ph sz="quarter" idx="13"/>
          </p:nvPr>
        </p:nvSpPr>
        <p:spPr>
          <a:xfrm>
            <a:off x="1732378" y="2168434"/>
            <a:ext cx="9545221" cy="4689566"/>
          </a:xfrm>
        </p:spPr>
        <p:txBody>
          <a:bodyPr>
            <a:normAutofit/>
          </a:bodyPr>
          <a:lstStyle/>
          <a:p>
            <a:pPr marL="0" indent="0">
              <a:buNone/>
            </a:pPr>
            <a:endParaRPr lang="en-IN" dirty="0"/>
          </a:p>
          <a:p>
            <a:pPr marL="0" indent="0">
              <a:buNone/>
            </a:pPr>
            <a:endParaRPr lang="en-IN" dirty="0"/>
          </a:p>
          <a:p>
            <a:r>
              <a:rPr lang="en-IN" sz="1800" cap="none" dirty="0">
                <a:latin typeface="Times New Roman" panose="02020603050405020304" pitchFamily="18" charset="0"/>
                <a:ea typeface="Calibri" panose="020F0502020204030204" pitchFamily="34" charset="0"/>
                <a:cs typeface="Times New Roman" panose="02020603050405020304" pitchFamily="18" charset="0"/>
              </a:rPr>
              <a:t>I</a:t>
            </a:r>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n above screen click on ‘upload pupillometric dataset’ button to load dataset.</a:t>
            </a:r>
          </a:p>
          <a:p>
            <a:endParaRPr lang="en-IN" sz="1800" cap="none" dirty="0">
              <a:latin typeface="Times New Roman" panose="02020603050405020304" pitchFamily="18" charset="0"/>
              <a:ea typeface="Calibri" panose="020F0502020204030204" pitchFamily="34" charset="0"/>
              <a:cs typeface="Times New Roman" panose="02020603050405020304" pitchFamily="18" charset="0"/>
            </a:endParaRPr>
          </a:p>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cap="none"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cap="none"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cap="none" dirty="0">
              <a:latin typeface="Calibri" panose="020F0502020204030204" pitchFamily="34" charset="0"/>
              <a:ea typeface="Calibri" panose="020F0502020204030204" pitchFamily="34" charset="0"/>
              <a:cs typeface="Times New Roman" panose="02020603050405020304" pitchFamily="18" charset="0"/>
            </a:endParaRPr>
          </a:p>
          <a:p>
            <a:r>
              <a:rPr lang="en-IN" sz="1800" cap="none" dirty="0">
                <a:latin typeface="Times New Roman" panose="02020603050405020304" pitchFamily="18" charset="0"/>
                <a:ea typeface="Calibri" panose="020F0502020204030204" pitchFamily="34" charset="0"/>
                <a:cs typeface="Times New Roman" panose="02020603050405020304" pitchFamily="18" charset="0"/>
              </a:rPr>
              <a:t>I</a:t>
            </a:r>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n above screen uploading ‘dataset’ folder and after upload will get next screen.</a:t>
            </a:r>
            <a:endParaRPr lang="en-IN" sz="1800" cap="none"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135D3FC7-232E-BE37-6BB2-4542E65F336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02048" y="3774755"/>
            <a:ext cx="6461420" cy="1912536"/>
          </a:xfrm>
          <a:prstGeom prst="rect">
            <a:avLst/>
          </a:prstGeom>
        </p:spPr>
      </p:pic>
      <p:pic>
        <p:nvPicPr>
          <p:cNvPr id="6" name="Picture 5">
            <a:extLst>
              <a:ext uri="{FF2B5EF4-FFF2-40B4-BE49-F238E27FC236}">
                <a16:creationId xmlns:a16="http://schemas.microsoft.com/office/drawing/2014/main" id="{964E76EF-60DD-43E6-80C0-FE53123990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02047" y="691511"/>
            <a:ext cx="6296297" cy="2382615"/>
          </a:xfrm>
          <a:prstGeom prst="rect">
            <a:avLst/>
          </a:prstGeom>
        </p:spPr>
      </p:pic>
      <p:sp>
        <p:nvSpPr>
          <p:cNvPr id="4" name="Footer Placeholder 3">
            <a:extLst>
              <a:ext uri="{FF2B5EF4-FFF2-40B4-BE49-F238E27FC236}">
                <a16:creationId xmlns:a16="http://schemas.microsoft.com/office/drawing/2014/main" id="{08DBC2F0-912E-48A3-02D0-C54790CAB302}"/>
              </a:ext>
            </a:extLst>
          </p:cNvPr>
          <p:cNvSpPr>
            <a:spLocks noGrp="1"/>
          </p:cNvSpPr>
          <p:nvPr>
            <p:ph type="ftr" sz="quarter" idx="11"/>
          </p:nvPr>
        </p:nvSpPr>
        <p:spPr>
          <a:xfrm>
            <a:off x="731520" y="5883275"/>
            <a:ext cx="6855141" cy="1570470"/>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02926EB3-053D-D46B-7D32-EEA977A9DEB1}"/>
              </a:ext>
            </a:extLst>
          </p:cNvPr>
          <p:cNvSpPr>
            <a:spLocks noGrp="1"/>
          </p:cNvSpPr>
          <p:nvPr>
            <p:ph type="sldNum" sz="quarter" idx="12"/>
          </p:nvPr>
        </p:nvSpPr>
        <p:spPr>
          <a:xfrm>
            <a:off x="10514011" y="5883275"/>
            <a:ext cx="1677989" cy="1570470"/>
          </a:xfrm>
        </p:spPr>
        <p:txBody>
          <a:bodyPr/>
          <a:lstStyle/>
          <a:p>
            <a:fld id="{D11D1588-8316-42EA-B695-F2D8B3238057}" type="slidenum">
              <a:rPr lang="en-IN" smtClean="0"/>
              <a:t>26</a:t>
            </a:fld>
            <a:endParaRPr lang="en-IN" dirty="0"/>
          </a:p>
        </p:txBody>
      </p:sp>
      <p:sp>
        <p:nvSpPr>
          <p:cNvPr id="8" name="Date Placeholder 7">
            <a:extLst>
              <a:ext uri="{FF2B5EF4-FFF2-40B4-BE49-F238E27FC236}">
                <a16:creationId xmlns:a16="http://schemas.microsoft.com/office/drawing/2014/main" id="{52D10981-94D3-3CDE-ADB9-31763C7AEF61}"/>
              </a:ext>
            </a:extLst>
          </p:cNvPr>
          <p:cNvSpPr>
            <a:spLocks noGrp="1"/>
          </p:cNvSpPr>
          <p:nvPr>
            <p:ph type="dt" sz="half" idx="10"/>
          </p:nvPr>
        </p:nvSpPr>
        <p:spPr>
          <a:xfrm>
            <a:off x="7678737" y="5883275"/>
            <a:ext cx="2743200" cy="1473489"/>
          </a:xfrm>
        </p:spPr>
        <p:txBody>
          <a:bodyPr/>
          <a:lstStyle/>
          <a:p>
            <a:r>
              <a:rPr lang="en-IN"/>
              <a:t>11-04-2025</a:t>
            </a:r>
          </a:p>
        </p:txBody>
      </p:sp>
    </p:spTree>
    <p:extLst>
      <p:ext uri="{BB962C8B-B14F-4D97-AF65-F5344CB8AC3E}">
        <p14:creationId xmlns:p14="http://schemas.microsoft.com/office/powerpoint/2010/main" val="17427303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172FB2-B53D-5C0E-C65A-7D68F9EA994E}"/>
              </a:ext>
            </a:extLst>
          </p:cNvPr>
          <p:cNvSpPr>
            <a:spLocks noGrp="1"/>
          </p:cNvSpPr>
          <p:nvPr>
            <p:ph sz="quarter" idx="13"/>
          </p:nvPr>
        </p:nvSpPr>
        <p:spPr>
          <a:xfrm>
            <a:off x="1385147" y="1744896"/>
            <a:ext cx="9570720" cy="5081452"/>
          </a:xfrm>
        </p:spPr>
        <p:txBody>
          <a:bodyPr>
            <a:normAutofit/>
          </a:bodyPr>
          <a:lstStyle/>
          <a:p>
            <a:endParaRPr lang="en-IN" dirty="0"/>
          </a:p>
          <a:p>
            <a:endParaRPr lang="en-IN" dirty="0"/>
          </a:p>
          <a:p>
            <a:endParaRPr lang="en-IN" dirty="0"/>
          </a:p>
          <a:p>
            <a:r>
              <a:rPr lang="en-IN" sz="1800" cap="none" dirty="0">
                <a:latin typeface="Times New Roman" panose="02020603050405020304" pitchFamily="18" charset="0"/>
                <a:ea typeface="Calibri" panose="020F0502020204030204" pitchFamily="34" charset="0"/>
                <a:cs typeface="Times New Roman" panose="02020603050405020304" pitchFamily="18" charset="0"/>
              </a:rPr>
              <a:t>N</a:t>
            </a:r>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ow click on ‘run filtering’ button to perform filtering on dataset to </a:t>
            </a:r>
            <a:r>
              <a:rPr lang="en-IN" sz="1800" cap="none" dirty="0">
                <a:latin typeface="Times New Roman" panose="02020603050405020304" pitchFamily="18" charset="0"/>
                <a:ea typeface="Calibri" panose="020F0502020204030204" pitchFamily="34" charset="0"/>
                <a:cs typeface="Times New Roman" panose="02020603050405020304" pitchFamily="18" charset="0"/>
              </a:rPr>
              <a:t>display the count of</a:t>
            </a:r>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 data sets.</a:t>
            </a:r>
            <a:endParaRPr lang="en-IN" sz="1800" cap="none" dirty="0">
              <a:effectLst/>
              <a:latin typeface="Calibri" panose="020F0502020204030204" pitchFamily="34" charset="0"/>
              <a:ea typeface="Calibri" panose="020F0502020204030204" pitchFamily="34" charset="0"/>
              <a:cs typeface="Times New Roman" panose="02020603050405020304" pitchFamily="18" charset="0"/>
            </a:endParaRPr>
          </a:p>
          <a:p>
            <a:endParaRPr lang="en-IN" cap="none" dirty="0"/>
          </a:p>
          <a:p>
            <a:endParaRPr lang="en-IN" cap="none" dirty="0"/>
          </a:p>
          <a:p>
            <a:endParaRPr lang="en-IN" cap="none" dirty="0"/>
          </a:p>
          <a:p>
            <a:endParaRPr lang="en-IN" cap="none" dirty="0"/>
          </a:p>
          <a:p>
            <a:pPr marL="0" indent="0">
              <a:buNone/>
            </a:pPr>
            <a:endParaRPr lang="en-IN" cap="none" dirty="0"/>
          </a:p>
          <a:p>
            <a:r>
              <a:rPr lang="en-IN" sz="1800" cap="none" dirty="0">
                <a:latin typeface="Times New Roman" panose="02020603050405020304" pitchFamily="18" charset="0"/>
                <a:ea typeface="Calibri" panose="020F0502020204030204" pitchFamily="34" charset="0"/>
                <a:cs typeface="Times New Roman" panose="02020603050405020304" pitchFamily="18" charset="0"/>
              </a:rPr>
              <a:t>N</a:t>
            </a:r>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ow click on ‘run features extraction’ button to read features from raw file.</a:t>
            </a:r>
            <a:endParaRPr lang="en-IN" sz="1800" cap="none"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5B8D5E6B-92D9-32A0-911D-94AAEA82B5B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06880" y="365759"/>
            <a:ext cx="6383380" cy="2758274"/>
          </a:xfrm>
          <a:prstGeom prst="rect">
            <a:avLst/>
          </a:prstGeom>
        </p:spPr>
      </p:pic>
      <p:pic>
        <p:nvPicPr>
          <p:cNvPr id="5" name="Picture 4">
            <a:extLst>
              <a:ext uri="{FF2B5EF4-FFF2-40B4-BE49-F238E27FC236}">
                <a16:creationId xmlns:a16="http://schemas.microsoft.com/office/drawing/2014/main" id="{40CB8664-4016-CE70-556D-5C2DAA31835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06880" y="3653963"/>
            <a:ext cx="6383380" cy="2307573"/>
          </a:xfrm>
          <a:prstGeom prst="rect">
            <a:avLst/>
          </a:prstGeom>
        </p:spPr>
      </p:pic>
      <p:sp>
        <p:nvSpPr>
          <p:cNvPr id="2" name="Footer Placeholder 1">
            <a:extLst>
              <a:ext uri="{FF2B5EF4-FFF2-40B4-BE49-F238E27FC236}">
                <a16:creationId xmlns:a16="http://schemas.microsoft.com/office/drawing/2014/main" id="{0B29EF13-52BF-6D5A-3B6B-ED3CA59A90E2}"/>
              </a:ext>
            </a:extLst>
          </p:cNvPr>
          <p:cNvSpPr>
            <a:spLocks noGrp="1"/>
          </p:cNvSpPr>
          <p:nvPr>
            <p:ph type="ftr" sz="quarter" idx="11"/>
          </p:nvPr>
        </p:nvSpPr>
        <p:spPr>
          <a:xfrm>
            <a:off x="723208" y="5883275"/>
            <a:ext cx="6863454" cy="1681307"/>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283817F5-62B3-7BA8-7CB1-332128752D1C}"/>
              </a:ext>
            </a:extLst>
          </p:cNvPr>
          <p:cNvSpPr>
            <a:spLocks noGrp="1"/>
          </p:cNvSpPr>
          <p:nvPr>
            <p:ph type="sldNum" sz="quarter" idx="12"/>
          </p:nvPr>
        </p:nvSpPr>
        <p:spPr>
          <a:xfrm>
            <a:off x="10514011" y="5883275"/>
            <a:ext cx="1677989" cy="1681307"/>
          </a:xfrm>
        </p:spPr>
        <p:txBody>
          <a:bodyPr/>
          <a:lstStyle/>
          <a:p>
            <a:fld id="{D11D1588-8316-42EA-B695-F2D8B3238057}" type="slidenum">
              <a:rPr lang="en-IN" smtClean="0"/>
              <a:t>27</a:t>
            </a:fld>
            <a:endParaRPr lang="en-IN" dirty="0"/>
          </a:p>
        </p:txBody>
      </p:sp>
      <p:sp>
        <p:nvSpPr>
          <p:cNvPr id="7" name="Date Placeholder 6">
            <a:extLst>
              <a:ext uri="{FF2B5EF4-FFF2-40B4-BE49-F238E27FC236}">
                <a16:creationId xmlns:a16="http://schemas.microsoft.com/office/drawing/2014/main" id="{0EF8F0AF-7832-C7CD-0E75-04B6585951FF}"/>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2484766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78F2F6-BF8A-1605-750E-0033FF8ADD24}"/>
              </a:ext>
            </a:extLst>
          </p:cNvPr>
          <p:cNvSpPr>
            <a:spLocks noGrp="1"/>
          </p:cNvSpPr>
          <p:nvPr>
            <p:ph sz="quarter" idx="13"/>
          </p:nvPr>
        </p:nvSpPr>
        <p:spPr>
          <a:xfrm>
            <a:off x="1706880" y="2133600"/>
            <a:ext cx="9570720" cy="4615543"/>
          </a:xfrm>
        </p:spPr>
        <p:txBody>
          <a:bodyPr>
            <a:normAutofit/>
          </a:bodyPr>
          <a:lstStyle/>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cap="none" dirty="0">
              <a:latin typeface="Times New Roman" panose="02020603050405020304" pitchFamily="18" charset="0"/>
              <a:ea typeface="Calibri" panose="020F0502020204030204" pitchFamily="34" charset="0"/>
              <a:cs typeface="Times New Roman" panose="02020603050405020304" pitchFamily="18" charset="0"/>
            </a:endParaRPr>
          </a:p>
          <a:p>
            <a:r>
              <a:rPr lang="en-IN" sz="1800" cap="none" dirty="0">
                <a:latin typeface="Times New Roman" panose="02020603050405020304" pitchFamily="18" charset="0"/>
                <a:ea typeface="Calibri" panose="020F0502020204030204" pitchFamily="34" charset="0"/>
                <a:cs typeface="Times New Roman" panose="02020603050405020304" pitchFamily="18" charset="0"/>
              </a:rPr>
              <a:t>N</a:t>
            </a:r>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ow click on ‘run features reduction’ button to remove unimportant features and then generate train and test model for classification and to get pupil diameter graph.</a:t>
            </a:r>
            <a:endParaRPr lang="en-IN" sz="1800" cap="none" dirty="0">
              <a:effectLst/>
              <a:latin typeface="Calibri" panose="020F0502020204030204" pitchFamily="34" charset="0"/>
              <a:ea typeface="Calibri" panose="020F0502020204030204" pitchFamily="34" charset="0"/>
              <a:cs typeface="Times New Roman" panose="02020603050405020304" pitchFamily="18" charset="0"/>
            </a:endParaRPr>
          </a:p>
          <a:p>
            <a:endParaRPr lang="en-IN" cap="none" dirty="0"/>
          </a:p>
          <a:p>
            <a:endParaRPr lang="en-IN" cap="none" dirty="0"/>
          </a:p>
          <a:p>
            <a:endParaRPr lang="en-IN" cap="none" dirty="0"/>
          </a:p>
          <a:p>
            <a:endParaRPr lang="en-IN" sz="1800" cap="none" dirty="0">
              <a:effectLst/>
              <a:latin typeface="Times New Roman" panose="02020603050405020304" pitchFamily="18" charset="0"/>
              <a:ea typeface="Calibri" panose="020F0502020204030204" pitchFamily="34" charset="0"/>
            </a:endParaRPr>
          </a:p>
          <a:p>
            <a:endParaRPr lang="en-IN" sz="1800" cap="none" dirty="0">
              <a:latin typeface="Times New Roman" panose="02020603050405020304" pitchFamily="18" charset="0"/>
              <a:ea typeface="Calibri" panose="020F0502020204030204" pitchFamily="34" charset="0"/>
            </a:endParaRPr>
          </a:p>
          <a:p>
            <a:r>
              <a:rPr lang="en-IN" sz="1800" cap="none" dirty="0">
                <a:latin typeface="Times New Roman" panose="02020603050405020304" pitchFamily="18" charset="0"/>
                <a:ea typeface="Calibri" panose="020F0502020204030204" pitchFamily="34" charset="0"/>
              </a:rPr>
              <a:t>C</a:t>
            </a:r>
            <a:r>
              <a:rPr lang="en-IN" sz="1800" cap="none" dirty="0">
                <a:effectLst/>
                <a:latin typeface="Times New Roman" panose="02020603050405020304" pitchFamily="18" charset="0"/>
                <a:ea typeface="Calibri" panose="020F0502020204030204" pitchFamily="34" charset="0"/>
              </a:rPr>
              <a:t>lose above graph to get below screen.</a:t>
            </a:r>
            <a:endParaRPr lang="en-IN" cap="none" dirty="0"/>
          </a:p>
        </p:txBody>
      </p:sp>
      <p:pic>
        <p:nvPicPr>
          <p:cNvPr id="4" name="Picture 3">
            <a:extLst>
              <a:ext uri="{FF2B5EF4-FFF2-40B4-BE49-F238E27FC236}">
                <a16:creationId xmlns:a16="http://schemas.microsoft.com/office/drawing/2014/main" id="{3276C799-D955-B698-24CD-2ED785553E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1747" y="374469"/>
            <a:ext cx="6289805" cy="2673531"/>
          </a:xfrm>
          <a:prstGeom prst="rect">
            <a:avLst/>
          </a:prstGeom>
        </p:spPr>
      </p:pic>
      <p:pic>
        <p:nvPicPr>
          <p:cNvPr id="5" name="Picture 4">
            <a:extLst>
              <a:ext uri="{FF2B5EF4-FFF2-40B4-BE49-F238E27FC236}">
                <a16:creationId xmlns:a16="http://schemas.microsoft.com/office/drawing/2014/main" id="{C20720C2-4DF9-5FAF-D7D7-149A02CB650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91746" y="3810002"/>
            <a:ext cx="6289806" cy="2429482"/>
          </a:xfrm>
          <a:prstGeom prst="rect">
            <a:avLst/>
          </a:prstGeom>
        </p:spPr>
      </p:pic>
      <p:sp>
        <p:nvSpPr>
          <p:cNvPr id="2" name="Footer Placeholder 1">
            <a:extLst>
              <a:ext uri="{FF2B5EF4-FFF2-40B4-BE49-F238E27FC236}">
                <a16:creationId xmlns:a16="http://schemas.microsoft.com/office/drawing/2014/main" id="{90BEA2B3-BEB5-A607-DE28-A4D60EBD6B17}"/>
              </a:ext>
            </a:extLst>
          </p:cNvPr>
          <p:cNvSpPr>
            <a:spLocks noGrp="1"/>
          </p:cNvSpPr>
          <p:nvPr>
            <p:ph type="ftr" sz="quarter" idx="11"/>
          </p:nvPr>
        </p:nvSpPr>
        <p:spPr>
          <a:xfrm>
            <a:off x="714896" y="5883275"/>
            <a:ext cx="6871766" cy="1736725"/>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EA0A188B-34C9-3A82-3B4F-9E59CEBBE3B8}"/>
              </a:ext>
            </a:extLst>
          </p:cNvPr>
          <p:cNvSpPr>
            <a:spLocks noGrp="1"/>
          </p:cNvSpPr>
          <p:nvPr>
            <p:ph type="sldNum" sz="quarter" idx="12"/>
          </p:nvPr>
        </p:nvSpPr>
        <p:spPr>
          <a:xfrm>
            <a:off x="10514011" y="5883275"/>
            <a:ext cx="1677989" cy="1653598"/>
          </a:xfrm>
        </p:spPr>
        <p:txBody>
          <a:bodyPr/>
          <a:lstStyle/>
          <a:p>
            <a:fld id="{D11D1588-8316-42EA-B695-F2D8B3238057}" type="slidenum">
              <a:rPr lang="en-IN" smtClean="0"/>
              <a:t>28</a:t>
            </a:fld>
            <a:endParaRPr lang="en-IN" dirty="0"/>
          </a:p>
        </p:txBody>
      </p:sp>
      <p:sp>
        <p:nvSpPr>
          <p:cNvPr id="7" name="Date Placeholder 6">
            <a:extLst>
              <a:ext uri="{FF2B5EF4-FFF2-40B4-BE49-F238E27FC236}">
                <a16:creationId xmlns:a16="http://schemas.microsoft.com/office/drawing/2014/main" id="{4245AED7-31A1-EF11-1051-14A2D691B1D2}"/>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26102809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3B249A-2584-1A12-0704-4B5277078765}"/>
              </a:ext>
            </a:extLst>
          </p:cNvPr>
          <p:cNvSpPr>
            <a:spLocks noGrp="1"/>
          </p:cNvSpPr>
          <p:nvPr>
            <p:ph sz="quarter" idx="13"/>
          </p:nvPr>
        </p:nvSpPr>
        <p:spPr>
          <a:xfrm>
            <a:off x="1698170" y="2461146"/>
            <a:ext cx="9579429" cy="4287997"/>
          </a:xfrm>
        </p:spPr>
        <p:txBody>
          <a:bodyPr>
            <a:normAutofit fontScale="62500" lnSpcReduction="20000"/>
          </a:bodyPr>
          <a:lstStyle/>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2900" cap="none" dirty="0">
                <a:latin typeface="Times New Roman" panose="02020603050405020304" pitchFamily="18" charset="0"/>
                <a:ea typeface="Calibri" panose="020F0502020204030204" pitchFamily="34" charset="0"/>
                <a:cs typeface="Times New Roman" panose="02020603050405020304" pitchFamily="18" charset="0"/>
              </a:rPr>
              <a:t>N</a:t>
            </a:r>
            <a:r>
              <a:rPr lang="en-IN" sz="2900" cap="none" dirty="0">
                <a:effectLst/>
                <a:latin typeface="Times New Roman" panose="02020603050405020304" pitchFamily="18" charset="0"/>
                <a:ea typeface="Calibri" panose="020F0502020204030204" pitchFamily="34" charset="0"/>
                <a:cs typeface="Times New Roman" panose="02020603050405020304" pitchFamily="18" charset="0"/>
              </a:rPr>
              <a:t>ow click on ‘run </a:t>
            </a:r>
            <a:r>
              <a:rPr lang="en-IN" sz="2900" cap="none" dirty="0" err="1">
                <a:effectLst/>
                <a:latin typeface="Times New Roman" panose="02020603050405020304" pitchFamily="18" charset="0"/>
                <a:ea typeface="Calibri" panose="020F0502020204030204" pitchFamily="34" charset="0"/>
                <a:cs typeface="Times New Roman" panose="02020603050405020304" pitchFamily="18" charset="0"/>
              </a:rPr>
              <a:t>svm</a:t>
            </a:r>
            <a:r>
              <a:rPr lang="en-IN" sz="2900" cap="none" dirty="0">
                <a:effectLst/>
                <a:latin typeface="Times New Roman" panose="02020603050405020304" pitchFamily="18" charset="0"/>
                <a:ea typeface="Calibri" panose="020F0502020204030204" pitchFamily="34" charset="0"/>
                <a:cs typeface="Times New Roman" panose="02020603050405020304" pitchFamily="18" charset="0"/>
              </a:rPr>
              <a:t> on right eye features’ to run </a:t>
            </a:r>
            <a:r>
              <a:rPr lang="en-IN" sz="2900" cap="none" dirty="0" err="1">
                <a:effectLst/>
                <a:latin typeface="Times New Roman" panose="02020603050405020304" pitchFamily="18" charset="0"/>
                <a:ea typeface="Calibri" panose="020F0502020204030204" pitchFamily="34" charset="0"/>
                <a:cs typeface="Times New Roman" panose="02020603050405020304" pitchFamily="18" charset="0"/>
              </a:rPr>
              <a:t>svm</a:t>
            </a:r>
            <a:r>
              <a:rPr lang="en-IN" sz="2900" cap="none" dirty="0">
                <a:effectLst/>
                <a:latin typeface="Times New Roman" panose="02020603050405020304" pitchFamily="18" charset="0"/>
                <a:ea typeface="Calibri" panose="020F0502020204030204" pitchFamily="34" charset="0"/>
                <a:cs typeface="Times New Roman" panose="02020603050405020304" pitchFamily="18" charset="0"/>
              </a:rPr>
              <a:t> classifier.</a:t>
            </a:r>
            <a:endParaRPr lang="en-IN" sz="2900" cap="none" dirty="0">
              <a:effectLst/>
              <a:latin typeface="Calibri" panose="020F0502020204030204" pitchFamily="34" charset="0"/>
              <a:ea typeface="Calibri" panose="020F0502020204030204" pitchFamily="34" charset="0"/>
              <a:cs typeface="Times New Roman" panose="02020603050405020304" pitchFamily="18" charset="0"/>
            </a:endParaRPr>
          </a:p>
          <a:p>
            <a:endParaRPr lang="en-IN" cap="none" dirty="0"/>
          </a:p>
          <a:p>
            <a:endParaRPr lang="en-IN" cap="none" dirty="0"/>
          </a:p>
          <a:p>
            <a:endParaRPr lang="en-IN" cap="none" dirty="0"/>
          </a:p>
          <a:p>
            <a:endParaRPr lang="en-IN" cap="none" dirty="0"/>
          </a:p>
          <a:p>
            <a:endParaRPr lang="en-IN" cap="none" dirty="0"/>
          </a:p>
          <a:p>
            <a:endParaRPr lang="en-IN" sz="1800" cap="none" dirty="0">
              <a:effectLst/>
              <a:latin typeface="Times New Roman" panose="02020603050405020304" pitchFamily="18" charset="0"/>
              <a:ea typeface="Calibri" panose="020F0502020204030204" pitchFamily="34" charset="0"/>
            </a:endParaRPr>
          </a:p>
          <a:p>
            <a:endParaRPr lang="en-IN" sz="1800" cap="none" dirty="0">
              <a:effectLst/>
              <a:latin typeface="Times New Roman" panose="02020603050405020304" pitchFamily="18" charset="0"/>
              <a:ea typeface="Calibri" panose="020F0502020204030204" pitchFamily="34" charset="0"/>
            </a:endParaRPr>
          </a:p>
          <a:p>
            <a:endParaRPr lang="en-IN" sz="1800" cap="none" dirty="0">
              <a:effectLst/>
              <a:latin typeface="Times New Roman" panose="02020603050405020304" pitchFamily="18" charset="0"/>
              <a:ea typeface="Calibri" panose="020F0502020204030204" pitchFamily="34" charset="0"/>
            </a:endParaRPr>
          </a:p>
          <a:p>
            <a:endParaRPr lang="en-IN" sz="1800" cap="none" dirty="0">
              <a:effectLst/>
              <a:latin typeface="Times New Roman" panose="02020603050405020304" pitchFamily="18" charset="0"/>
              <a:ea typeface="Calibri" panose="020F0502020204030204" pitchFamily="34" charset="0"/>
            </a:endParaRPr>
          </a:p>
          <a:p>
            <a:r>
              <a:rPr lang="en-IN" sz="2900" cap="none" dirty="0">
                <a:latin typeface="Times New Roman" panose="02020603050405020304" pitchFamily="18" charset="0"/>
                <a:ea typeface="Calibri" panose="020F0502020204030204" pitchFamily="34" charset="0"/>
              </a:rPr>
              <a:t>N</a:t>
            </a:r>
            <a:r>
              <a:rPr lang="en-IN" sz="2900" cap="none" dirty="0">
                <a:effectLst/>
                <a:latin typeface="Times New Roman" panose="02020603050405020304" pitchFamily="18" charset="0"/>
                <a:ea typeface="Calibri" panose="020F0502020204030204" pitchFamily="34" charset="0"/>
              </a:rPr>
              <a:t>ow click on ‘run </a:t>
            </a:r>
            <a:r>
              <a:rPr lang="en-IN" sz="2900" cap="none" dirty="0" err="1">
                <a:effectLst/>
                <a:latin typeface="Times New Roman" panose="02020603050405020304" pitchFamily="18" charset="0"/>
                <a:ea typeface="Calibri" panose="020F0502020204030204" pitchFamily="34" charset="0"/>
              </a:rPr>
              <a:t>svm</a:t>
            </a:r>
            <a:r>
              <a:rPr lang="en-IN" sz="2900" cap="none" dirty="0">
                <a:effectLst/>
                <a:latin typeface="Times New Roman" panose="02020603050405020304" pitchFamily="18" charset="0"/>
                <a:ea typeface="Calibri" panose="020F0502020204030204" pitchFamily="34" charset="0"/>
              </a:rPr>
              <a:t> on left eye features’ button to run </a:t>
            </a:r>
            <a:r>
              <a:rPr lang="en-IN" sz="2900" cap="none" dirty="0" err="1">
                <a:effectLst/>
                <a:latin typeface="Times New Roman" panose="02020603050405020304" pitchFamily="18" charset="0"/>
                <a:ea typeface="Calibri" panose="020F0502020204030204" pitchFamily="34" charset="0"/>
              </a:rPr>
              <a:t>svm</a:t>
            </a:r>
            <a:r>
              <a:rPr lang="en-IN" sz="2900" cap="none" dirty="0">
                <a:effectLst/>
                <a:latin typeface="Times New Roman" panose="02020603050405020304" pitchFamily="18" charset="0"/>
                <a:ea typeface="Calibri" panose="020F0502020204030204" pitchFamily="34" charset="0"/>
              </a:rPr>
              <a:t> classifier on left eye data.</a:t>
            </a:r>
            <a:endParaRPr lang="en-IN" sz="2900" cap="none" dirty="0"/>
          </a:p>
        </p:txBody>
      </p:sp>
      <p:pic>
        <p:nvPicPr>
          <p:cNvPr id="4" name="Picture 3">
            <a:extLst>
              <a:ext uri="{FF2B5EF4-FFF2-40B4-BE49-F238E27FC236}">
                <a16:creationId xmlns:a16="http://schemas.microsoft.com/office/drawing/2014/main" id="{98AB7431-3B51-EBA8-7D72-BCDDDB3554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11383" y="372065"/>
            <a:ext cx="6278880" cy="2702061"/>
          </a:xfrm>
          <a:prstGeom prst="rect">
            <a:avLst/>
          </a:prstGeom>
        </p:spPr>
      </p:pic>
      <p:pic>
        <p:nvPicPr>
          <p:cNvPr id="5" name="Picture 4">
            <a:extLst>
              <a:ext uri="{FF2B5EF4-FFF2-40B4-BE49-F238E27FC236}">
                <a16:creationId xmlns:a16="http://schemas.microsoft.com/office/drawing/2014/main" id="{30E145EA-0FFC-551C-164B-1131305BF59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1383" y="3506393"/>
            <a:ext cx="6278879" cy="2810483"/>
          </a:xfrm>
          <a:prstGeom prst="rect">
            <a:avLst/>
          </a:prstGeom>
        </p:spPr>
      </p:pic>
      <p:sp>
        <p:nvSpPr>
          <p:cNvPr id="2" name="Footer Placeholder 1">
            <a:extLst>
              <a:ext uri="{FF2B5EF4-FFF2-40B4-BE49-F238E27FC236}">
                <a16:creationId xmlns:a16="http://schemas.microsoft.com/office/drawing/2014/main" id="{BFFCAE77-DC15-48FE-E975-B6DCBDD16D00}"/>
              </a:ext>
            </a:extLst>
          </p:cNvPr>
          <p:cNvSpPr>
            <a:spLocks noGrp="1"/>
          </p:cNvSpPr>
          <p:nvPr>
            <p:ph type="ftr" sz="quarter" idx="11"/>
          </p:nvPr>
        </p:nvSpPr>
        <p:spPr>
          <a:xfrm>
            <a:off x="723208" y="5883275"/>
            <a:ext cx="6863454" cy="1625889"/>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071F46EC-4E5B-9FB7-BC89-1D689834231F}"/>
              </a:ext>
            </a:extLst>
          </p:cNvPr>
          <p:cNvSpPr>
            <a:spLocks noGrp="1"/>
          </p:cNvSpPr>
          <p:nvPr>
            <p:ph type="sldNum" sz="quarter" idx="12"/>
          </p:nvPr>
        </p:nvSpPr>
        <p:spPr>
          <a:xfrm>
            <a:off x="10514011" y="5883275"/>
            <a:ext cx="1677989" cy="1729798"/>
          </a:xfrm>
        </p:spPr>
        <p:txBody>
          <a:bodyPr/>
          <a:lstStyle/>
          <a:p>
            <a:fld id="{D11D1588-8316-42EA-B695-F2D8B3238057}" type="slidenum">
              <a:rPr lang="en-IN" smtClean="0"/>
              <a:t>29</a:t>
            </a:fld>
            <a:endParaRPr lang="en-IN" dirty="0"/>
          </a:p>
        </p:txBody>
      </p:sp>
      <p:sp>
        <p:nvSpPr>
          <p:cNvPr id="7" name="Date Placeholder 6">
            <a:extLst>
              <a:ext uri="{FF2B5EF4-FFF2-40B4-BE49-F238E27FC236}">
                <a16:creationId xmlns:a16="http://schemas.microsoft.com/office/drawing/2014/main" id="{994D0791-A883-BEE4-CF1B-049A35437014}"/>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1208123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8243F6-A10B-C607-3B85-526E9E75A99F}"/>
              </a:ext>
            </a:extLst>
          </p:cNvPr>
          <p:cNvSpPr>
            <a:spLocks noGrp="1"/>
          </p:cNvSpPr>
          <p:nvPr>
            <p:ph sz="quarter" idx="13"/>
          </p:nvPr>
        </p:nvSpPr>
        <p:spPr>
          <a:xfrm>
            <a:off x="1706880" y="2116184"/>
            <a:ext cx="9570720" cy="4741816"/>
          </a:xfrm>
        </p:spPr>
        <p:txBody>
          <a:bodyPr>
            <a:normAutofit fontScale="70000" lnSpcReduction="20000"/>
          </a:bodyPr>
          <a:lstStyle/>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cap="none" dirty="0">
              <a:latin typeface="Times New Roman" panose="02020603050405020304" pitchFamily="18" charset="0"/>
              <a:ea typeface="Calibri" panose="020F0502020204030204" pitchFamily="34" charset="0"/>
              <a:cs typeface="Times New Roman" panose="02020603050405020304" pitchFamily="18" charset="0"/>
            </a:endParaRPr>
          </a:p>
          <a:p>
            <a:endParaRPr lang="en-IN" sz="1800" cap="none" dirty="0">
              <a:latin typeface="Times New Roman" panose="02020603050405020304" pitchFamily="18" charset="0"/>
              <a:ea typeface="Calibri" panose="020F0502020204030204" pitchFamily="34" charset="0"/>
              <a:cs typeface="Times New Roman" panose="02020603050405020304" pitchFamily="18" charset="0"/>
            </a:endParaRPr>
          </a:p>
          <a:p>
            <a:r>
              <a:rPr lang="en-IN" sz="2300" cap="none" dirty="0">
                <a:latin typeface="Times New Roman" panose="02020603050405020304" pitchFamily="18" charset="0"/>
                <a:ea typeface="Calibri" panose="020F0502020204030204" pitchFamily="34" charset="0"/>
                <a:cs typeface="Times New Roman" panose="02020603050405020304" pitchFamily="18" charset="0"/>
              </a:rPr>
              <a:t>N</a:t>
            </a:r>
            <a:r>
              <a:rPr lang="en-IN" sz="2300" cap="none" dirty="0">
                <a:effectLst/>
                <a:latin typeface="Times New Roman" panose="02020603050405020304" pitchFamily="18" charset="0"/>
                <a:ea typeface="Calibri" panose="020F0502020204030204" pitchFamily="34" charset="0"/>
                <a:cs typeface="Times New Roman" panose="02020603050405020304" pitchFamily="18" charset="0"/>
              </a:rPr>
              <a:t>ow click on ‘run or ensemble algorithm (left &amp; right </a:t>
            </a:r>
            <a:r>
              <a:rPr lang="en-IN" sz="2300" cap="none" dirty="0" err="1">
                <a:effectLst/>
                <a:latin typeface="Times New Roman" panose="02020603050405020304" pitchFamily="18" charset="0"/>
                <a:ea typeface="Calibri" panose="020F0502020204030204" pitchFamily="34" charset="0"/>
                <a:cs typeface="Times New Roman" panose="02020603050405020304" pitchFamily="18" charset="0"/>
              </a:rPr>
              <a:t>svm</a:t>
            </a:r>
            <a:r>
              <a:rPr lang="en-IN" sz="2300" cap="none" dirty="0">
                <a:effectLst/>
                <a:latin typeface="Times New Roman" panose="02020603050405020304" pitchFamily="18" charset="0"/>
                <a:ea typeface="Calibri" panose="020F0502020204030204" pitchFamily="34" charset="0"/>
                <a:cs typeface="Times New Roman" panose="02020603050405020304" pitchFamily="18" charset="0"/>
              </a:rPr>
              <a:t>)’ button to combine both classifier to choose classifier with better accuracy.</a:t>
            </a:r>
            <a:endParaRPr lang="en-IN" sz="2300" cap="none"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cap="none" dirty="0">
              <a:latin typeface="Times New Roman" panose="02020603050405020304" pitchFamily="18" charset="0"/>
              <a:ea typeface="Calibri" panose="020F0502020204030204" pitchFamily="34" charset="0"/>
              <a:cs typeface="Times New Roman" panose="02020603050405020304" pitchFamily="18" charset="0"/>
            </a:endParaRPr>
          </a:p>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cap="none" dirty="0">
              <a:latin typeface="Times New Roman" panose="02020603050405020304" pitchFamily="18" charset="0"/>
              <a:ea typeface="Calibri" panose="020F0502020204030204" pitchFamily="34" charset="0"/>
              <a:cs typeface="Times New Roman" panose="02020603050405020304" pitchFamily="18" charset="0"/>
            </a:endParaRPr>
          </a:p>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2300" cap="none" dirty="0">
                <a:effectLst/>
                <a:latin typeface="Times New Roman" panose="02020603050405020304" pitchFamily="18" charset="0"/>
                <a:ea typeface="Calibri" panose="020F0502020204030204" pitchFamily="34" charset="0"/>
                <a:cs typeface="Times New Roman" panose="02020603050405020304" pitchFamily="18" charset="0"/>
              </a:rPr>
              <a:t>Now click on </a:t>
            </a:r>
            <a:r>
              <a:rPr lang="en-IN" sz="2300" cap="none" dirty="0">
                <a:latin typeface="Times New Roman" panose="02020603050405020304" pitchFamily="18" charset="0"/>
                <a:ea typeface="Calibri" panose="020F0502020204030204" pitchFamily="34" charset="0"/>
                <a:cs typeface="Times New Roman" panose="02020603050405020304" pitchFamily="18" charset="0"/>
              </a:rPr>
              <a:t>elm algorithm</a:t>
            </a:r>
            <a:r>
              <a:rPr lang="en-IN" sz="2300" cap="none" dirty="0">
                <a:effectLst/>
                <a:latin typeface="Times New Roman" panose="02020603050405020304" pitchFamily="18" charset="0"/>
                <a:ea typeface="Calibri" panose="020F0502020204030204" pitchFamily="34" charset="0"/>
                <a:cs typeface="Times New Roman" panose="02020603050405020304" pitchFamily="18" charset="0"/>
              </a:rPr>
              <a:t> to get below </a:t>
            </a:r>
            <a:r>
              <a:rPr lang="en-IN" sz="2300" cap="none" dirty="0">
                <a:latin typeface="Times New Roman" panose="02020603050405020304" pitchFamily="18" charset="0"/>
                <a:ea typeface="Calibri" panose="020F0502020204030204" pitchFamily="34" charset="0"/>
                <a:cs typeface="Times New Roman" panose="02020603050405020304" pitchFamily="18" charset="0"/>
              </a:rPr>
              <a:t>screen</a:t>
            </a:r>
            <a:r>
              <a:rPr lang="en-IN" sz="2300" cap="none"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300" cap="none"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A67B6BA8-92B0-7DCB-5C2B-CB9EA6CE80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0090" y="365760"/>
            <a:ext cx="6278879" cy="2708366"/>
          </a:xfrm>
          <a:prstGeom prst="rect">
            <a:avLst/>
          </a:prstGeom>
        </p:spPr>
      </p:pic>
      <p:pic>
        <p:nvPicPr>
          <p:cNvPr id="7" name="Picture 6">
            <a:extLst>
              <a:ext uri="{FF2B5EF4-FFF2-40B4-BE49-F238E27FC236}">
                <a16:creationId xmlns:a16="http://schemas.microsoft.com/office/drawing/2014/main" id="{0B950CFC-ADDD-1406-FF00-78AAB5CBDD1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20090" y="3702502"/>
            <a:ext cx="6278879" cy="2527121"/>
          </a:xfrm>
          <a:prstGeom prst="rect">
            <a:avLst/>
          </a:prstGeom>
        </p:spPr>
      </p:pic>
      <p:sp>
        <p:nvSpPr>
          <p:cNvPr id="2" name="Footer Placeholder 1">
            <a:extLst>
              <a:ext uri="{FF2B5EF4-FFF2-40B4-BE49-F238E27FC236}">
                <a16:creationId xmlns:a16="http://schemas.microsoft.com/office/drawing/2014/main" id="{E1454AC3-25FB-7EA5-A96A-81A1DEC7FB8F}"/>
              </a:ext>
            </a:extLst>
          </p:cNvPr>
          <p:cNvSpPr>
            <a:spLocks noGrp="1"/>
          </p:cNvSpPr>
          <p:nvPr>
            <p:ph type="ftr" sz="quarter" idx="11"/>
          </p:nvPr>
        </p:nvSpPr>
        <p:spPr>
          <a:xfrm>
            <a:off x="723208" y="5883275"/>
            <a:ext cx="6863454" cy="1729798"/>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51093E96-3B87-4866-4A43-1E49EBBF3120}"/>
              </a:ext>
            </a:extLst>
          </p:cNvPr>
          <p:cNvSpPr>
            <a:spLocks noGrp="1"/>
          </p:cNvSpPr>
          <p:nvPr>
            <p:ph type="sldNum" sz="quarter" idx="12"/>
          </p:nvPr>
        </p:nvSpPr>
        <p:spPr>
          <a:xfrm>
            <a:off x="10514011" y="5883275"/>
            <a:ext cx="1677989" cy="1667452"/>
          </a:xfrm>
        </p:spPr>
        <p:txBody>
          <a:bodyPr/>
          <a:lstStyle/>
          <a:p>
            <a:fld id="{D11D1588-8316-42EA-B695-F2D8B3238057}" type="slidenum">
              <a:rPr lang="en-IN" smtClean="0"/>
              <a:t>30</a:t>
            </a:fld>
            <a:endParaRPr lang="en-IN" dirty="0"/>
          </a:p>
        </p:txBody>
      </p:sp>
      <p:sp>
        <p:nvSpPr>
          <p:cNvPr id="6" name="Date Placeholder 5">
            <a:extLst>
              <a:ext uri="{FF2B5EF4-FFF2-40B4-BE49-F238E27FC236}">
                <a16:creationId xmlns:a16="http://schemas.microsoft.com/office/drawing/2014/main" id="{F9B6C26A-CFFC-71EA-F68A-AE81DA70687B}"/>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40168311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3DAEA7-8EAE-4AAB-1ABA-6A12D290163E}"/>
              </a:ext>
            </a:extLst>
          </p:cNvPr>
          <p:cNvSpPr>
            <a:spLocks noGrp="1"/>
          </p:cNvSpPr>
          <p:nvPr>
            <p:ph sz="quarter" idx="13"/>
          </p:nvPr>
        </p:nvSpPr>
        <p:spPr>
          <a:xfrm>
            <a:off x="1741714" y="2367092"/>
            <a:ext cx="9535886" cy="4490908"/>
          </a:xfrm>
        </p:spPr>
        <p:txBody>
          <a:bodyPr>
            <a:normAutofit lnSpcReduction="10000"/>
          </a:bodyPr>
          <a:lstStyle/>
          <a:p>
            <a:endParaRPr lang="en-IN" sz="1800" cap="none" dirty="0">
              <a:effectLst/>
              <a:latin typeface="Times New Roman" panose="02020603050405020304" pitchFamily="18" charset="0"/>
              <a:ea typeface="Calibri" panose="020F0502020204030204" pitchFamily="34" charset="0"/>
            </a:endParaRPr>
          </a:p>
          <a:p>
            <a:endParaRPr lang="en-IN" sz="1800" cap="none" dirty="0">
              <a:latin typeface="Times New Roman" panose="02020603050405020304" pitchFamily="18" charset="0"/>
              <a:ea typeface="Calibri" panose="020F0502020204030204" pitchFamily="34" charset="0"/>
            </a:endParaRPr>
          </a:p>
          <a:p>
            <a:r>
              <a:rPr lang="en-IN" sz="1800" cap="none" dirty="0">
                <a:latin typeface="Times New Roman" panose="02020603050405020304" pitchFamily="18" charset="0"/>
                <a:ea typeface="Calibri" panose="020F0502020204030204" pitchFamily="34" charset="0"/>
              </a:rPr>
              <a:t>N</a:t>
            </a:r>
            <a:r>
              <a:rPr lang="en-IN" sz="1800" cap="none" dirty="0">
                <a:effectLst/>
                <a:latin typeface="Times New Roman" panose="02020603050405020304" pitchFamily="18" charset="0"/>
                <a:ea typeface="Calibri" panose="020F0502020204030204" pitchFamily="34" charset="0"/>
              </a:rPr>
              <a:t>ow click on ‘</a:t>
            </a:r>
            <a:r>
              <a:rPr lang="en-IN" sz="1800" cap="none" dirty="0">
                <a:latin typeface="Times New Roman" panose="02020603050405020304" pitchFamily="18" charset="0"/>
                <a:ea typeface="Calibri" panose="020F0502020204030204" pitchFamily="34" charset="0"/>
              </a:rPr>
              <a:t>RUN LSTM’ button to find accuracy</a:t>
            </a:r>
            <a:r>
              <a:rPr lang="en-IN" sz="1800" cap="none" dirty="0">
                <a:effectLst/>
                <a:latin typeface="Times New Roman" panose="02020603050405020304" pitchFamily="18" charset="0"/>
                <a:ea typeface="Calibri" panose="020F0502020204030204" pitchFamily="34" charset="0"/>
              </a:rPr>
              <a:t>. </a:t>
            </a:r>
          </a:p>
          <a:p>
            <a:endParaRPr lang="en-IN" sz="1800" cap="none" dirty="0">
              <a:latin typeface="Times New Roman" panose="02020603050405020304" pitchFamily="18" charset="0"/>
              <a:ea typeface="Calibri" panose="020F0502020204030204" pitchFamily="34" charset="0"/>
            </a:endParaRPr>
          </a:p>
          <a:p>
            <a:endParaRPr lang="en-IN" sz="1800" cap="none" dirty="0">
              <a:latin typeface="Times New Roman" panose="02020603050405020304" pitchFamily="18" charset="0"/>
              <a:ea typeface="Calibri" panose="020F0502020204030204" pitchFamily="34" charset="0"/>
            </a:endParaRPr>
          </a:p>
          <a:p>
            <a:endParaRPr lang="en-IN" sz="1800" cap="none" dirty="0">
              <a:latin typeface="Times New Roman" panose="02020603050405020304" pitchFamily="18" charset="0"/>
              <a:ea typeface="Calibri" panose="020F0502020204030204" pitchFamily="34" charset="0"/>
            </a:endParaRPr>
          </a:p>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sz="1800" cap="none" dirty="0">
              <a:latin typeface="Times New Roman" panose="02020603050405020304" pitchFamily="18" charset="0"/>
              <a:ea typeface="Calibri" panose="020F0502020204030204" pitchFamily="34" charset="0"/>
              <a:cs typeface="Times New Roman" panose="02020603050405020304" pitchFamily="18" charset="0"/>
            </a:endParaRPr>
          </a:p>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Now click on ‘RUN BILSTM’ to find the accuracy. </a:t>
            </a:r>
            <a:endParaRPr lang="en-IN" sz="1800" cap="none"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AD564C47-757C-F49F-FD72-1EA534BB49A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0089" y="365760"/>
            <a:ext cx="6287590" cy="2734491"/>
          </a:xfrm>
          <a:prstGeom prst="rect">
            <a:avLst/>
          </a:prstGeom>
        </p:spPr>
      </p:pic>
      <p:pic>
        <p:nvPicPr>
          <p:cNvPr id="7" name="Picture 6">
            <a:extLst>
              <a:ext uri="{FF2B5EF4-FFF2-40B4-BE49-F238E27FC236}">
                <a16:creationId xmlns:a16="http://schemas.microsoft.com/office/drawing/2014/main" id="{43BF1232-37B2-EDBE-D74B-C321DF007BE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20089" y="3614058"/>
            <a:ext cx="6287590" cy="2368732"/>
          </a:xfrm>
          <a:prstGeom prst="rect">
            <a:avLst/>
          </a:prstGeom>
        </p:spPr>
      </p:pic>
      <p:sp>
        <p:nvSpPr>
          <p:cNvPr id="2" name="Footer Placeholder 1">
            <a:extLst>
              <a:ext uri="{FF2B5EF4-FFF2-40B4-BE49-F238E27FC236}">
                <a16:creationId xmlns:a16="http://schemas.microsoft.com/office/drawing/2014/main" id="{DE10A92E-B353-AE16-D80E-34421B8F9DEB}"/>
              </a:ext>
            </a:extLst>
          </p:cNvPr>
          <p:cNvSpPr>
            <a:spLocks noGrp="1"/>
          </p:cNvSpPr>
          <p:nvPr>
            <p:ph type="ftr" sz="quarter" idx="11"/>
          </p:nvPr>
        </p:nvSpPr>
        <p:spPr>
          <a:xfrm>
            <a:off x="698270" y="5883275"/>
            <a:ext cx="6888392" cy="1722870"/>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66AAC36A-3C7D-200E-262E-EFB59A9F2467}"/>
              </a:ext>
            </a:extLst>
          </p:cNvPr>
          <p:cNvSpPr>
            <a:spLocks noGrp="1"/>
          </p:cNvSpPr>
          <p:nvPr>
            <p:ph type="sldNum" sz="quarter" idx="12"/>
          </p:nvPr>
        </p:nvSpPr>
        <p:spPr>
          <a:xfrm>
            <a:off x="10514011" y="5883275"/>
            <a:ext cx="1677989" cy="1653598"/>
          </a:xfrm>
        </p:spPr>
        <p:txBody>
          <a:bodyPr/>
          <a:lstStyle/>
          <a:p>
            <a:fld id="{D11D1588-8316-42EA-B695-F2D8B3238057}" type="slidenum">
              <a:rPr lang="en-IN" smtClean="0"/>
              <a:t>31</a:t>
            </a:fld>
            <a:endParaRPr lang="en-IN" dirty="0"/>
          </a:p>
        </p:txBody>
      </p:sp>
      <p:sp>
        <p:nvSpPr>
          <p:cNvPr id="6" name="Date Placeholder 5">
            <a:extLst>
              <a:ext uri="{FF2B5EF4-FFF2-40B4-BE49-F238E27FC236}">
                <a16:creationId xmlns:a16="http://schemas.microsoft.com/office/drawing/2014/main" id="{432333B3-189E-4074-7589-6B158E095776}"/>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35068950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A41E81-5B8A-086B-9FAE-142597D42EA9}"/>
              </a:ext>
            </a:extLst>
          </p:cNvPr>
          <p:cNvSpPr>
            <a:spLocks noGrp="1"/>
          </p:cNvSpPr>
          <p:nvPr>
            <p:ph sz="quarter" idx="13"/>
          </p:nvPr>
        </p:nvSpPr>
        <p:spPr>
          <a:xfrm>
            <a:off x="1689462" y="2367092"/>
            <a:ext cx="9588137" cy="4390759"/>
          </a:xfrm>
        </p:spPr>
        <p:txBody>
          <a:bodyPr>
            <a:normAutofit fontScale="92500" lnSpcReduction="10000"/>
          </a:bodyPr>
          <a:lstStyle/>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800" cap="none" dirty="0">
              <a:latin typeface="Times New Roman" panose="02020603050405020304" pitchFamily="18" charset="0"/>
              <a:ea typeface="Calibri" panose="020F0502020204030204" pitchFamily="34" charset="0"/>
              <a:cs typeface="Times New Roman" panose="02020603050405020304" pitchFamily="18" charset="0"/>
            </a:endParaRPr>
          </a:p>
          <a:p>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Now click on ‘show accuracy gra</a:t>
            </a:r>
            <a:r>
              <a:rPr lang="en-IN" sz="1800" cap="none" dirty="0">
                <a:latin typeface="Times New Roman" panose="02020603050405020304" pitchFamily="18" charset="0"/>
                <a:ea typeface="Calibri" panose="020F0502020204030204" pitchFamily="34" charset="0"/>
                <a:cs typeface="Times New Roman" panose="02020603050405020304" pitchFamily="18" charset="0"/>
              </a:rPr>
              <a:t>ph to get below accuracy graph</a:t>
            </a:r>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cap="none" dirty="0">
              <a:effectLst/>
              <a:latin typeface="Calibri" panose="020F0502020204030204" pitchFamily="34" charset="0"/>
              <a:ea typeface="Calibri" panose="020F0502020204030204" pitchFamily="34" charset="0"/>
              <a:cs typeface="Times New Roman" panose="02020603050405020304" pitchFamily="18" charset="0"/>
            </a:endParaRPr>
          </a:p>
          <a:p>
            <a:endParaRPr lang="en-IN" cap="none" dirty="0"/>
          </a:p>
          <a:p>
            <a:endParaRPr lang="en-IN" cap="none" dirty="0"/>
          </a:p>
          <a:p>
            <a:endParaRPr lang="en-IN" cap="none" dirty="0"/>
          </a:p>
          <a:p>
            <a:endParaRPr lang="en-IN" cap="none" dirty="0"/>
          </a:p>
          <a:p>
            <a:endParaRPr lang="en-IN" cap="none" dirty="0"/>
          </a:p>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1800" cap="none" dirty="0">
                <a:latin typeface="Times New Roman" panose="02020603050405020304" pitchFamily="18" charset="0"/>
                <a:ea typeface="Calibri" panose="020F0502020204030204" pitchFamily="34" charset="0"/>
                <a:cs typeface="Times New Roman" panose="02020603050405020304" pitchFamily="18" charset="0"/>
              </a:rPr>
              <a:t>Now click on ‘predict disease’ button to upload test data and predict disease</a:t>
            </a:r>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cap="none"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253370F9-66A0-9741-54BB-A04014DCE7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11383" y="365759"/>
            <a:ext cx="6278878" cy="2795451"/>
          </a:xfrm>
          <a:prstGeom prst="rect">
            <a:avLst/>
          </a:prstGeom>
        </p:spPr>
      </p:pic>
      <p:pic>
        <p:nvPicPr>
          <p:cNvPr id="7" name="Picture 6">
            <a:extLst>
              <a:ext uri="{FF2B5EF4-FFF2-40B4-BE49-F238E27FC236}">
                <a16:creationId xmlns:a16="http://schemas.microsoft.com/office/drawing/2014/main" id="{3494FEBB-D96E-8BE8-E824-31DA47484D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1383" y="3596641"/>
            <a:ext cx="6278878" cy="2642842"/>
          </a:xfrm>
          <a:prstGeom prst="rect">
            <a:avLst/>
          </a:prstGeom>
        </p:spPr>
      </p:pic>
      <p:sp>
        <p:nvSpPr>
          <p:cNvPr id="2" name="Footer Placeholder 1">
            <a:extLst>
              <a:ext uri="{FF2B5EF4-FFF2-40B4-BE49-F238E27FC236}">
                <a16:creationId xmlns:a16="http://schemas.microsoft.com/office/drawing/2014/main" id="{F4222717-9B7D-6C0D-F2FA-01A3119CB6D7}"/>
              </a:ext>
            </a:extLst>
          </p:cNvPr>
          <p:cNvSpPr>
            <a:spLocks noGrp="1"/>
          </p:cNvSpPr>
          <p:nvPr>
            <p:ph type="ftr" sz="quarter" idx="11"/>
          </p:nvPr>
        </p:nvSpPr>
        <p:spPr>
          <a:xfrm>
            <a:off x="775062" y="5883275"/>
            <a:ext cx="6811600" cy="1625889"/>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5B491D5C-7AEB-694D-8F7A-EF8CA220CA02}"/>
              </a:ext>
            </a:extLst>
          </p:cNvPr>
          <p:cNvSpPr>
            <a:spLocks noGrp="1"/>
          </p:cNvSpPr>
          <p:nvPr>
            <p:ph type="sldNum" sz="quarter" idx="12"/>
          </p:nvPr>
        </p:nvSpPr>
        <p:spPr>
          <a:xfrm>
            <a:off x="10514011" y="5883275"/>
            <a:ext cx="1677989" cy="1681307"/>
          </a:xfrm>
        </p:spPr>
        <p:txBody>
          <a:bodyPr/>
          <a:lstStyle/>
          <a:p>
            <a:fld id="{D11D1588-8316-42EA-B695-F2D8B3238057}" type="slidenum">
              <a:rPr lang="en-IN" smtClean="0"/>
              <a:t>32</a:t>
            </a:fld>
            <a:endParaRPr lang="en-IN" dirty="0"/>
          </a:p>
        </p:txBody>
      </p:sp>
      <p:sp>
        <p:nvSpPr>
          <p:cNvPr id="6" name="Date Placeholder 5">
            <a:extLst>
              <a:ext uri="{FF2B5EF4-FFF2-40B4-BE49-F238E27FC236}">
                <a16:creationId xmlns:a16="http://schemas.microsoft.com/office/drawing/2014/main" id="{7A129202-66B2-4C6E-8F0D-63BBF40B55D8}"/>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18150631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A41E81-5B8A-086B-9FAE-142597D42EA9}"/>
              </a:ext>
            </a:extLst>
          </p:cNvPr>
          <p:cNvSpPr>
            <a:spLocks noGrp="1"/>
          </p:cNvSpPr>
          <p:nvPr>
            <p:ph sz="quarter" idx="13"/>
          </p:nvPr>
        </p:nvSpPr>
        <p:spPr>
          <a:xfrm>
            <a:off x="1689462" y="2367092"/>
            <a:ext cx="9588137" cy="4390759"/>
          </a:xfrm>
        </p:spPr>
        <p:txBody>
          <a:bodyPr>
            <a:normAutofit fontScale="92500" lnSpcReduction="10000"/>
          </a:bodyPr>
          <a:lstStyle/>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800" cap="none" dirty="0">
              <a:latin typeface="Times New Roman" panose="02020603050405020304" pitchFamily="18" charset="0"/>
              <a:ea typeface="Calibri" panose="020F0502020204030204" pitchFamily="34" charset="0"/>
              <a:cs typeface="Times New Roman" panose="02020603050405020304" pitchFamily="18" charset="0"/>
            </a:endParaRPr>
          </a:p>
          <a:p>
            <a:r>
              <a:rPr lang="en-IN" sz="1800" cap="none" dirty="0">
                <a:latin typeface="Times New Roman" panose="02020603050405020304" pitchFamily="18" charset="0"/>
                <a:ea typeface="Calibri" panose="020F0502020204030204" pitchFamily="34" charset="0"/>
                <a:cs typeface="Times New Roman" panose="02020603050405020304" pitchFamily="18" charset="0"/>
              </a:rPr>
              <a:t>In above test data ‘test.txt’ we have only features values and after uploading classifier will predict disease</a:t>
            </a:r>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cap="none" dirty="0">
              <a:effectLst/>
              <a:latin typeface="Calibri" panose="020F0502020204030204" pitchFamily="34" charset="0"/>
              <a:ea typeface="Calibri" panose="020F0502020204030204" pitchFamily="34" charset="0"/>
              <a:cs typeface="Times New Roman" panose="02020603050405020304" pitchFamily="18" charset="0"/>
            </a:endParaRPr>
          </a:p>
          <a:p>
            <a:endParaRPr lang="en-IN" cap="none" dirty="0"/>
          </a:p>
          <a:p>
            <a:endParaRPr lang="en-IN" cap="none" dirty="0"/>
          </a:p>
          <a:p>
            <a:endParaRPr lang="en-IN" cap="none" dirty="0"/>
          </a:p>
          <a:p>
            <a:endParaRPr lang="en-IN" cap="none" dirty="0"/>
          </a:p>
          <a:p>
            <a:endParaRPr lang="en-IN" cap="none" dirty="0"/>
          </a:p>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1800" cap="none" dirty="0">
                <a:latin typeface="Times New Roman" panose="02020603050405020304" pitchFamily="18" charset="0"/>
                <a:ea typeface="Calibri" panose="020F0502020204030204" pitchFamily="34" charset="0"/>
                <a:cs typeface="Times New Roman" panose="02020603050405020304" pitchFamily="18" charset="0"/>
              </a:rPr>
              <a:t>In above screen uploading test data and after upload will get below screen</a:t>
            </a:r>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cap="none"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253370F9-66A0-9741-54BB-A04014DCE7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1383" y="532386"/>
            <a:ext cx="6278878" cy="2462197"/>
          </a:xfrm>
          <a:prstGeom prst="rect">
            <a:avLst/>
          </a:prstGeom>
        </p:spPr>
      </p:pic>
      <p:pic>
        <p:nvPicPr>
          <p:cNvPr id="7" name="Picture 6">
            <a:extLst>
              <a:ext uri="{FF2B5EF4-FFF2-40B4-BE49-F238E27FC236}">
                <a16:creationId xmlns:a16="http://schemas.microsoft.com/office/drawing/2014/main" id="{3494FEBB-D96E-8BE8-E824-31DA47484D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1383" y="3596641"/>
            <a:ext cx="6278878" cy="2642842"/>
          </a:xfrm>
          <a:prstGeom prst="rect">
            <a:avLst/>
          </a:prstGeom>
        </p:spPr>
      </p:pic>
      <p:sp>
        <p:nvSpPr>
          <p:cNvPr id="2" name="Footer Placeholder 1">
            <a:extLst>
              <a:ext uri="{FF2B5EF4-FFF2-40B4-BE49-F238E27FC236}">
                <a16:creationId xmlns:a16="http://schemas.microsoft.com/office/drawing/2014/main" id="{7A350C63-AB19-F226-AE70-ECDFD0740B1D}"/>
              </a:ext>
            </a:extLst>
          </p:cNvPr>
          <p:cNvSpPr>
            <a:spLocks noGrp="1"/>
          </p:cNvSpPr>
          <p:nvPr>
            <p:ph type="ftr" sz="quarter" idx="11"/>
          </p:nvPr>
        </p:nvSpPr>
        <p:spPr>
          <a:xfrm>
            <a:off x="714896" y="5883275"/>
            <a:ext cx="6871766" cy="1646670"/>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F37D744-5062-0ECF-0CB9-661C56452071}"/>
              </a:ext>
            </a:extLst>
          </p:cNvPr>
          <p:cNvSpPr>
            <a:spLocks noGrp="1"/>
          </p:cNvSpPr>
          <p:nvPr>
            <p:ph type="sldNum" sz="quarter" idx="12"/>
          </p:nvPr>
        </p:nvSpPr>
        <p:spPr>
          <a:xfrm>
            <a:off x="10514011" y="5883275"/>
            <a:ext cx="1677989" cy="1646670"/>
          </a:xfrm>
        </p:spPr>
        <p:txBody>
          <a:bodyPr/>
          <a:lstStyle/>
          <a:p>
            <a:fld id="{D11D1588-8316-42EA-B695-F2D8B3238057}" type="slidenum">
              <a:rPr lang="en-IN" smtClean="0"/>
              <a:t>33</a:t>
            </a:fld>
            <a:endParaRPr lang="en-IN" dirty="0"/>
          </a:p>
        </p:txBody>
      </p:sp>
      <p:sp>
        <p:nvSpPr>
          <p:cNvPr id="6" name="Date Placeholder 5">
            <a:extLst>
              <a:ext uri="{FF2B5EF4-FFF2-40B4-BE49-F238E27FC236}">
                <a16:creationId xmlns:a16="http://schemas.microsoft.com/office/drawing/2014/main" id="{1D7C0084-5942-A97E-D9FA-D7C3ACA34D24}"/>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42111784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A41E81-5B8A-086B-9FAE-142597D42EA9}"/>
              </a:ext>
            </a:extLst>
          </p:cNvPr>
          <p:cNvSpPr>
            <a:spLocks noGrp="1"/>
          </p:cNvSpPr>
          <p:nvPr>
            <p:ph sz="quarter" idx="13"/>
          </p:nvPr>
        </p:nvSpPr>
        <p:spPr>
          <a:xfrm>
            <a:off x="1520128" y="-257575"/>
            <a:ext cx="9588137" cy="4390759"/>
          </a:xfrm>
        </p:spPr>
        <p:txBody>
          <a:bodyPr>
            <a:normAutofit fontScale="92500" lnSpcReduction="20000"/>
          </a:bodyPr>
          <a:lstStyle/>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sz="1800" cap="none" dirty="0">
              <a:latin typeface="Times New Roman" panose="02020603050405020304" pitchFamily="18" charset="0"/>
              <a:ea typeface="Calibri" panose="020F0502020204030204" pitchFamily="34" charset="0"/>
              <a:cs typeface="Times New Roman" panose="02020603050405020304" pitchFamily="18" charset="0"/>
            </a:endParaRPr>
          </a:p>
          <a:p>
            <a:r>
              <a:rPr lang="en-IN" sz="1800" cap="none"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cap="none" dirty="0">
              <a:effectLst/>
              <a:latin typeface="Calibri" panose="020F0502020204030204" pitchFamily="34" charset="0"/>
              <a:ea typeface="Calibri" panose="020F0502020204030204" pitchFamily="34" charset="0"/>
              <a:cs typeface="Times New Roman" panose="02020603050405020304" pitchFamily="18" charset="0"/>
            </a:endParaRPr>
          </a:p>
          <a:p>
            <a:endParaRPr lang="en-IN" cap="none" dirty="0"/>
          </a:p>
          <a:p>
            <a:endParaRPr lang="en-IN" cap="none" dirty="0"/>
          </a:p>
          <a:p>
            <a:endParaRPr lang="en-IN" cap="none" dirty="0"/>
          </a:p>
          <a:p>
            <a:endParaRPr lang="en-IN" cap="none" dirty="0"/>
          </a:p>
          <a:p>
            <a:endParaRPr lang="en-IN" cap="none" dirty="0"/>
          </a:p>
          <a:p>
            <a:endParaRPr lang="en-IN" sz="1800" cap="none"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1800" cap="none" dirty="0">
                <a:latin typeface="Times New Roman" panose="02020603050405020304" pitchFamily="18" charset="0"/>
                <a:ea typeface="Calibri" panose="020F0502020204030204" pitchFamily="34" charset="0"/>
                <a:cs typeface="Times New Roman" panose="02020603050405020304" pitchFamily="18" charset="0"/>
              </a:rPr>
              <a:t>In above screen for each test record classifier display result as ‘disease predicted’ or ‘no </a:t>
            </a:r>
            <a:r>
              <a:rPr lang="en-IN" sz="1800" cap="none">
                <a:latin typeface="Times New Roman" panose="02020603050405020304" pitchFamily="18" charset="0"/>
                <a:ea typeface="Calibri" panose="020F0502020204030204" pitchFamily="34" charset="0"/>
                <a:cs typeface="Times New Roman" panose="02020603050405020304" pitchFamily="18" charset="0"/>
              </a:rPr>
              <a:t>disease predicted’</a:t>
            </a:r>
            <a:r>
              <a:rPr lang="en-IN" sz="1800" cap="none">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cap="none"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253370F9-66A0-9741-54BB-A04014DCE7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11383" y="365759"/>
            <a:ext cx="6278878" cy="2795451"/>
          </a:xfrm>
          <a:prstGeom prst="rect">
            <a:avLst/>
          </a:prstGeom>
        </p:spPr>
      </p:pic>
      <p:sp>
        <p:nvSpPr>
          <p:cNvPr id="2" name="Footer Placeholder 1">
            <a:extLst>
              <a:ext uri="{FF2B5EF4-FFF2-40B4-BE49-F238E27FC236}">
                <a16:creationId xmlns:a16="http://schemas.microsoft.com/office/drawing/2014/main" id="{0F311614-7A9F-D71C-EE73-9D7DBF2B97DD}"/>
              </a:ext>
            </a:extLst>
          </p:cNvPr>
          <p:cNvSpPr>
            <a:spLocks noGrp="1"/>
          </p:cNvSpPr>
          <p:nvPr>
            <p:ph type="ftr" sz="quarter" idx="11"/>
          </p:nvPr>
        </p:nvSpPr>
        <p:spPr>
          <a:xfrm>
            <a:off x="723208" y="5883275"/>
            <a:ext cx="6863454" cy="1618961"/>
          </a:xfrm>
        </p:spPr>
        <p:txBody>
          <a:bodyPr/>
          <a:lstStyle/>
          <a:p>
            <a:r>
              <a:rPr lang="en-US" dirty="0"/>
              <a:t>Department of CSE,BVCITS(H4),Amalapuram</a:t>
            </a:r>
            <a:endParaRPr lang="en-IN" dirty="0"/>
          </a:p>
        </p:txBody>
      </p:sp>
      <p:sp>
        <p:nvSpPr>
          <p:cNvPr id="5" name="Slide Number Placeholder 4">
            <a:extLst>
              <a:ext uri="{FF2B5EF4-FFF2-40B4-BE49-F238E27FC236}">
                <a16:creationId xmlns:a16="http://schemas.microsoft.com/office/drawing/2014/main" id="{F040D687-3F8F-32FE-22BC-6C741C16821E}"/>
              </a:ext>
            </a:extLst>
          </p:cNvPr>
          <p:cNvSpPr>
            <a:spLocks noGrp="1"/>
          </p:cNvSpPr>
          <p:nvPr>
            <p:ph type="sldNum" sz="quarter" idx="12"/>
          </p:nvPr>
        </p:nvSpPr>
        <p:spPr>
          <a:xfrm>
            <a:off x="10403174" y="5883275"/>
            <a:ext cx="1788826" cy="1681307"/>
          </a:xfrm>
        </p:spPr>
        <p:txBody>
          <a:bodyPr/>
          <a:lstStyle/>
          <a:p>
            <a:fld id="{D11D1588-8316-42EA-B695-F2D8B3238057}" type="slidenum">
              <a:rPr lang="en-IN" smtClean="0"/>
              <a:t>34</a:t>
            </a:fld>
            <a:endParaRPr lang="en-IN"/>
          </a:p>
        </p:txBody>
      </p:sp>
      <p:sp>
        <p:nvSpPr>
          <p:cNvPr id="6" name="Date Placeholder 5">
            <a:extLst>
              <a:ext uri="{FF2B5EF4-FFF2-40B4-BE49-F238E27FC236}">
                <a16:creationId xmlns:a16="http://schemas.microsoft.com/office/drawing/2014/main" id="{3D66F28C-31A5-2798-D7AC-C8819BCE633A}"/>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39793632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31F4B-3418-9EF8-2F44-8C741A723B50}"/>
              </a:ext>
            </a:extLst>
          </p:cNvPr>
          <p:cNvSpPr>
            <a:spLocks noGrp="1"/>
          </p:cNvSpPr>
          <p:nvPr>
            <p:ph type="title"/>
          </p:nvPr>
        </p:nvSpPr>
        <p:spPr>
          <a:xfrm>
            <a:off x="913774" y="0"/>
            <a:ext cx="10351752" cy="1332411"/>
          </a:xfrm>
        </p:spPr>
        <p:txBody>
          <a:bodyPr>
            <a:normAutofit/>
          </a:bodyPr>
          <a:lstStyle/>
          <a:p>
            <a:r>
              <a:rPr lang="en-US" sz="2800" dirty="0">
                <a:latin typeface="Times New Roman" panose="02020603050405020304" pitchFamily="18" charset="0"/>
                <a:cs typeface="Times New Roman" panose="02020603050405020304" pitchFamily="18" charset="0"/>
              </a:rPr>
              <a:t>Conclusion and future enhancement</a:t>
            </a:r>
            <a:endParaRPr lang="en-IN" sz="2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E61F8F53-09D9-9C00-103F-2C94F557CEDC}"/>
              </a:ext>
            </a:extLst>
          </p:cNvPr>
          <p:cNvSpPr>
            <a:spLocks noGrp="1"/>
          </p:cNvSpPr>
          <p:nvPr>
            <p:ph type="body" idx="1"/>
          </p:nvPr>
        </p:nvSpPr>
        <p:spPr>
          <a:xfrm>
            <a:off x="723207" y="1595120"/>
            <a:ext cx="10745585" cy="4640347"/>
          </a:xfrm>
        </p:spPr>
        <p:txBody>
          <a:bodyPr>
            <a:normAutofit/>
          </a:bodyPr>
          <a:lstStyle/>
          <a:p>
            <a:pPr algn="just"/>
            <a:r>
              <a:rPr lang="en-US" sz="1800" cap="none" dirty="0">
                <a:solidFill>
                  <a:srgbClr val="333333"/>
                </a:solidFill>
                <a:latin typeface="Times New Roman" panose="02020603050405020304" pitchFamily="18" charset="0"/>
                <a:cs typeface="Times New Roman" panose="02020603050405020304" pitchFamily="18" charset="0"/>
              </a:rPr>
              <a:t>	This project demonstrates the feasibility and potential of utilizing pupillometry data and machine learning, specifically Support Vector Machines, for the non-invasive detection of genetic eye diseases in pediatric patients. By automating the analysis of pupil dynamics, we have developed a system that minimizes the need for stressful and invasive clinical procedures, offering a more comfortable and accessible diagnostic approach. The high accuracy achieved through our ensemble SVM classifier highlights the effectiveness of this methodology. </a:t>
            </a:r>
          </a:p>
          <a:p>
            <a:pPr algn="just"/>
            <a:r>
              <a:rPr lang="en-US" sz="1800" cap="none" dirty="0">
                <a:solidFill>
                  <a:srgbClr val="333333"/>
                </a:solidFill>
                <a:latin typeface="Times New Roman" panose="02020603050405020304" pitchFamily="18" charset="0"/>
                <a:cs typeface="Times New Roman" panose="02020603050405020304" pitchFamily="18" charset="0"/>
              </a:rPr>
              <a:t>	Future enhancements for this project could focus on expanding the system's capabilities by incorporating diverse datasets from various pupillometry devices and patient demographics, thereby improving generalizability. Additionally, integrating the system with electronic health records and developing a user-friendly mobile application could facilitate seamless clinical integration and remote patient monitoring. Furthermore, implementing real-time data analysis and alert systems would enable immediate detection of potential abnormalities, leading to faster interventions and improved patient outcomes.</a:t>
            </a:r>
            <a:endParaRPr lang="en-IN" sz="1800" cap="none" dirty="0">
              <a:solidFill>
                <a:srgbClr val="333333"/>
              </a:solidFill>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CA6382D-89DE-7E22-E2CF-7F34F56D0992}"/>
              </a:ext>
            </a:extLst>
          </p:cNvPr>
          <p:cNvSpPr>
            <a:spLocks noGrp="1"/>
          </p:cNvSpPr>
          <p:nvPr>
            <p:ph type="ftr" sz="quarter" idx="11"/>
          </p:nvPr>
        </p:nvSpPr>
        <p:spPr>
          <a:xfrm>
            <a:off x="723208" y="5883275"/>
            <a:ext cx="6863454" cy="1639743"/>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4AA1F236-8BBA-BC9F-8C80-4426555D461F}"/>
              </a:ext>
            </a:extLst>
          </p:cNvPr>
          <p:cNvSpPr>
            <a:spLocks noGrp="1"/>
          </p:cNvSpPr>
          <p:nvPr>
            <p:ph type="sldNum" sz="quarter" idx="12"/>
          </p:nvPr>
        </p:nvSpPr>
        <p:spPr>
          <a:xfrm>
            <a:off x="10514011" y="5883275"/>
            <a:ext cx="1677989" cy="1639743"/>
          </a:xfrm>
        </p:spPr>
        <p:txBody>
          <a:bodyPr/>
          <a:lstStyle/>
          <a:p>
            <a:fld id="{D11D1588-8316-42EA-B695-F2D8B3238057}" type="slidenum">
              <a:rPr lang="en-IN" smtClean="0"/>
              <a:t>35</a:t>
            </a:fld>
            <a:endParaRPr lang="en-IN" dirty="0"/>
          </a:p>
        </p:txBody>
      </p:sp>
      <p:sp>
        <p:nvSpPr>
          <p:cNvPr id="6" name="Date Placeholder 5">
            <a:extLst>
              <a:ext uri="{FF2B5EF4-FFF2-40B4-BE49-F238E27FC236}">
                <a16:creationId xmlns:a16="http://schemas.microsoft.com/office/drawing/2014/main" id="{ECBF95F8-8AB0-59BD-BF4B-972D21F27EBC}"/>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27642486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3E50EFB-93A7-1A60-664A-66F69D7D45FC}"/>
              </a:ext>
            </a:extLst>
          </p:cNvPr>
          <p:cNvSpPr>
            <a:spLocks noGrp="1"/>
          </p:cNvSpPr>
          <p:nvPr>
            <p:ph type="body" idx="1"/>
          </p:nvPr>
        </p:nvSpPr>
        <p:spPr>
          <a:xfrm>
            <a:off x="723208" y="1366683"/>
            <a:ext cx="10823170" cy="4945625"/>
          </a:xfrm>
        </p:spPr>
        <p:txBody>
          <a:bodyPr>
            <a:normAutofit/>
          </a:bodyPr>
          <a:lstStyle/>
          <a:p>
            <a:pPr algn="just"/>
            <a:r>
              <a:rPr lang="en-IN" sz="1800" b="1" cap="none" dirty="0">
                <a:solidFill>
                  <a:schemeClr val="tx1"/>
                </a:solidFill>
                <a:latin typeface="Times New Roman" panose="02020603050405020304" pitchFamily="18" charset="0"/>
                <a:cs typeface="Times New Roman" panose="02020603050405020304" pitchFamily="18" charset="0"/>
              </a:rPr>
              <a:t>Books &amp; academic sources:</a:t>
            </a:r>
            <a:endParaRPr lang="en-IN" sz="1800" cap="none"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cap="none" dirty="0">
                <a:solidFill>
                  <a:schemeClr val="tx1"/>
                </a:solidFill>
                <a:latin typeface="Times New Roman" panose="02020603050405020304" pitchFamily="18" charset="0"/>
                <a:cs typeface="Times New Roman" panose="02020603050405020304" pitchFamily="18" charset="0"/>
              </a:rPr>
              <a:t>Smith, J. &amp; Lee, R. (2016). Pupillometry in clinical neurology. Oxford university press.</a:t>
            </a:r>
          </a:p>
          <a:p>
            <a:pPr marL="285750" indent="-285750" algn="just">
              <a:buFont typeface="Arial" panose="020B0604020202020204" pitchFamily="34" charset="0"/>
              <a:buChar char="•"/>
            </a:pPr>
            <a:r>
              <a:rPr lang="en-US" sz="1800" cap="none" dirty="0">
                <a:solidFill>
                  <a:schemeClr val="tx1"/>
                </a:solidFill>
                <a:latin typeface="Times New Roman" panose="02020603050405020304" pitchFamily="18" charset="0"/>
                <a:cs typeface="Times New Roman" panose="02020603050405020304" pitchFamily="18" charset="0"/>
              </a:rPr>
              <a:t>Kaplan, h. (2019). Genetic disorders and visual impairments: A diagnostic approach</a:t>
            </a:r>
            <a:r>
              <a:rPr lang="en-US" sz="1800" i="1" cap="none" dirty="0">
                <a:solidFill>
                  <a:schemeClr val="tx1"/>
                </a:solidFill>
                <a:latin typeface="Times New Roman" panose="02020603050405020304" pitchFamily="18" charset="0"/>
                <a:cs typeface="Times New Roman" panose="02020603050405020304" pitchFamily="18" charset="0"/>
              </a:rPr>
              <a:t>.</a:t>
            </a:r>
            <a:r>
              <a:rPr lang="en-US" sz="1800" cap="none" dirty="0">
                <a:solidFill>
                  <a:schemeClr val="tx1"/>
                </a:solidFill>
                <a:latin typeface="Times New Roman" panose="02020603050405020304" pitchFamily="18" charset="0"/>
                <a:cs typeface="Times New Roman" panose="02020603050405020304" pitchFamily="18" charset="0"/>
              </a:rPr>
              <a:t> Cambridge university press.</a:t>
            </a:r>
          </a:p>
          <a:p>
            <a:pPr algn="just"/>
            <a:endParaRPr lang="en-US" sz="1800" cap="none" dirty="0">
              <a:solidFill>
                <a:schemeClr val="tx1"/>
              </a:solidFill>
              <a:latin typeface="Times New Roman" panose="02020603050405020304" pitchFamily="18" charset="0"/>
              <a:cs typeface="Times New Roman" panose="02020603050405020304" pitchFamily="18" charset="0"/>
            </a:endParaRPr>
          </a:p>
          <a:p>
            <a:pPr algn="just"/>
            <a:r>
              <a:rPr lang="en-US" sz="1800" b="1" cap="none" dirty="0">
                <a:solidFill>
                  <a:schemeClr val="tx1"/>
                </a:solidFill>
                <a:latin typeface="Times New Roman" panose="02020603050405020304" pitchFamily="18" charset="0"/>
                <a:cs typeface="Times New Roman" panose="02020603050405020304" pitchFamily="18" charset="0"/>
              </a:rPr>
              <a:t>Online references:</a:t>
            </a:r>
          </a:p>
          <a:p>
            <a:pPr marL="285750" indent="-285750" algn="just">
              <a:buFont typeface="Arial" panose="020B0604020202020204" pitchFamily="34" charset="0"/>
              <a:buChar char="•"/>
            </a:pPr>
            <a:r>
              <a:rPr lang="en-US" sz="1800" i="0" cap="none" dirty="0">
                <a:solidFill>
                  <a:schemeClr val="tx1"/>
                </a:solidFill>
                <a:effectLst/>
                <a:latin typeface="Times New Roman" panose="02020603050405020304" pitchFamily="18" charset="0"/>
                <a:cs typeface="Times New Roman" panose="02020603050405020304" pitchFamily="18" charset="0"/>
              </a:rPr>
              <a:t>Automatic detection of genetic diseases in pediatric age using pupillometry by IEEE: </a:t>
            </a:r>
            <a:r>
              <a:rPr lang="en-US" sz="1800" cap="none" dirty="0">
                <a:latin typeface="Times New Roman" panose="02020603050405020304" pitchFamily="18" charset="0"/>
                <a:cs typeface="Times New Roman" panose="02020603050405020304" pitchFamily="18" charset="0"/>
                <a:hlinkClick r:id="rId2"/>
              </a:rPr>
              <a:t>https://ieeexplore.Ieee.Org/document/8998205</a:t>
            </a:r>
            <a:endParaRPr lang="en-US" sz="1800" cap="none"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IN" sz="1800" b="0" i="0" cap="none" dirty="0">
                <a:solidFill>
                  <a:schemeClr val="tx1"/>
                </a:solidFill>
                <a:effectLst/>
                <a:latin typeface="Times New Roman" panose="02020603050405020304" pitchFamily="18" charset="0"/>
                <a:cs typeface="Times New Roman" panose="02020603050405020304" pitchFamily="18" charset="0"/>
              </a:rPr>
              <a:t>Pupillometry Wikipedia:</a:t>
            </a:r>
            <a:r>
              <a:rPr lang="en-IN" sz="1800" b="0" i="0" cap="none" dirty="0">
                <a:effectLst/>
                <a:latin typeface="Times New Roman" panose="02020603050405020304" pitchFamily="18" charset="0"/>
                <a:cs typeface="Times New Roman" panose="02020603050405020304" pitchFamily="18" charset="0"/>
              </a:rPr>
              <a:t> </a:t>
            </a:r>
            <a:r>
              <a:rPr lang="en-IN" sz="1800" b="0" i="0" cap="none" dirty="0">
                <a:effectLst/>
                <a:latin typeface="Times New Roman" panose="02020603050405020304" pitchFamily="18" charset="0"/>
                <a:cs typeface="Times New Roman" panose="02020603050405020304" pitchFamily="18" charset="0"/>
                <a:hlinkClick r:id="rId3"/>
              </a:rPr>
              <a:t>https://en.Wikipedia.Org/wiki/pupillometry?Utm_source=chatgpt.Com</a:t>
            </a:r>
            <a:endParaRPr lang="en-IN" sz="1800" b="0" i="0" cap="none" dirty="0">
              <a:effectLst/>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i="0" cap="none" dirty="0">
                <a:solidFill>
                  <a:srgbClr val="273239"/>
                </a:solidFill>
                <a:effectLst/>
                <a:latin typeface="Times New Roman" panose="02020603050405020304" pitchFamily="18" charset="0"/>
                <a:cs typeface="Times New Roman" panose="02020603050405020304" pitchFamily="18" charset="0"/>
              </a:rPr>
              <a:t>Machine learning with python tutorial</a:t>
            </a:r>
            <a:r>
              <a:rPr lang="en-IN" sz="1800" cap="none" dirty="0">
                <a:solidFill>
                  <a:srgbClr val="273239"/>
                </a:solidFill>
                <a:latin typeface="Times New Roman" panose="02020603050405020304" pitchFamily="18" charset="0"/>
                <a:cs typeface="Times New Roman" panose="02020603050405020304" pitchFamily="18" charset="0"/>
              </a:rPr>
              <a:t>: </a:t>
            </a:r>
            <a:r>
              <a:rPr lang="en-IN" sz="1800" cap="none" dirty="0">
                <a:solidFill>
                  <a:srgbClr val="273239"/>
                </a:solidFill>
                <a:latin typeface="Times New Roman" panose="02020603050405020304" pitchFamily="18" charset="0"/>
                <a:cs typeface="Times New Roman" panose="02020603050405020304" pitchFamily="18" charset="0"/>
                <a:hlinkClick r:id="rId4"/>
              </a:rPr>
              <a:t>https://www.geeksforgeeks.org/machine-learning-with-python/</a:t>
            </a:r>
            <a:endParaRPr lang="en-US" sz="1800" b="1" i="0" cap="none" dirty="0">
              <a:solidFill>
                <a:srgbClr val="273239"/>
              </a:solidFill>
              <a:effectLst/>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68E94632-97EF-3F1A-3571-2EB948B3E262}"/>
              </a:ext>
            </a:extLst>
          </p:cNvPr>
          <p:cNvSpPr>
            <a:spLocks noGrp="1"/>
          </p:cNvSpPr>
          <p:nvPr>
            <p:ph type="title"/>
          </p:nvPr>
        </p:nvSpPr>
        <p:spPr>
          <a:xfrm>
            <a:off x="915026" y="425551"/>
            <a:ext cx="10350500" cy="587171"/>
          </a:xfrm>
        </p:spPr>
        <p:txBody>
          <a:bodyPr>
            <a:normAutofit/>
          </a:bodyPr>
          <a:lstStyle/>
          <a:p>
            <a:r>
              <a:rPr lang="en-US" sz="2800" dirty="0">
                <a:latin typeface="Times New Roman" panose="02020603050405020304" pitchFamily="18" charset="0"/>
                <a:cs typeface="Times New Roman" panose="02020603050405020304" pitchFamily="18" charset="0"/>
              </a:rPr>
              <a:t>References</a:t>
            </a:r>
            <a:endParaRPr lang="en-IN" sz="28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8517EA85-61BA-A457-1DAB-541CB7CE95FA}"/>
              </a:ext>
            </a:extLst>
          </p:cNvPr>
          <p:cNvSpPr>
            <a:spLocks noGrp="1"/>
          </p:cNvSpPr>
          <p:nvPr>
            <p:ph type="ftr" sz="quarter" idx="11"/>
          </p:nvPr>
        </p:nvSpPr>
        <p:spPr>
          <a:xfrm>
            <a:off x="723208" y="5883275"/>
            <a:ext cx="6863454" cy="1570470"/>
          </a:xfrm>
        </p:spPr>
        <p:txBody>
          <a:bodyPr/>
          <a:lstStyle/>
          <a:p>
            <a:r>
              <a:rPr lang="en-US" dirty="0">
                <a:latin typeface="Times New Roman" panose="02020603050405020304" pitchFamily="18" charset="0"/>
                <a:cs typeface="Times New Roman" panose="02020603050405020304" pitchFamily="18" charset="0"/>
              </a:rPr>
              <a:t>Department of CSE,BVCITS(H4),Amalapuram</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2DD57A5-4E8B-862C-393F-1E58127DA22E}"/>
              </a:ext>
            </a:extLst>
          </p:cNvPr>
          <p:cNvSpPr>
            <a:spLocks noGrp="1"/>
          </p:cNvSpPr>
          <p:nvPr>
            <p:ph type="sldNum" sz="quarter" idx="12"/>
          </p:nvPr>
        </p:nvSpPr>
        <p:spPr>
          <a:xfrm>
            <a:off x="10514011" y="5883275"/>
            <a:ext cx="1677989" cy="1674380"/>
          </a:xfrm>
        </p:spPr>
        <p:txBody>
          <a:bodyPr/>
          <a:lstStyle/>
          <a:p>
            <a:fld id="{D11D1588-8316-42EA-B695-F2D8B3238057}" type="slidenum">
              <a:rPr lang="en-IN" smtClean="0"/>
              <a:t>36</a:t>
            </a:fld>
            <a:endParaRPr lang="en-IN" dirty="0"/>
          </a:p>
        </p:txBody>
      </p:sp>
      <p:sp>
        <p:nvSpPr>
          <p:cNvPr id="6" name="Date Placeholder 5">
            <a:extLst>
              <a:ext uri="{FF2B5EF4-FFF2-40B4-BE49-F238E27FC236}">
                <a16:creationId xmlns:a16="http://schemas.microsoft.com/office/drawing/2014/main" id="{98236E2A-0AD8-7B2C-B7F4-D7424D7EE307}"/>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7499483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6D528-1A47-AFA0-F033-9ACB5471BDB3}"/>
              </a:ext>
            </a:extLst>
          </p:cNvPr>
          <p:cNvSpPr>
            <a:spLocks noGrp="1"/>
          </p:cNvSpPr>
          <p:nvPr>
            <p:ph type="title"/>
          </p:nvPr>
        </p:nvSpPr>
        <p:spPr/>
        <p:txBody>
          <a:bodyPr>
            <a:normAutofit/>
          </a:bodyPr>
          <a:lstStyle/>
          <a:p>
            <a:r>
              <a:rPr lang="en-IN" sz="6600" dirty="0">
                <a:latin typeface="Algerian" panose="04020705040A02060702" pitchFamily="82" charset="0"/>
              </a:rPr>
              <a:t>Thank you</a:t>
            </a:r>
          </a:p>
        </p:txBody>
      </p:sp>
      <p:sp>
        <p:nvSpPr>
          <p:cNvPr id="3" name="Footer Placeholder 2">
            <a:extLst>
              <a:ext uri="{FF2B5EF4-FFF2-40B4-BE49-F238E27FC236}">
                <a16:creationId xmlns:a16="http://schemas.microsoft.com/office/drawing/2014/main" id="{CC56D494-6533-391D-CD3D-5FE0F3F0B98C}"/>
              </a:ext>
            </a:extLst>
          </p:cNvPr>
          <p:cNvSpPr>
            <a:spLocks noGrp="1"/>
          </p:cNvSpPr>
          <p:nvPr>
            <p:ph type="ftr" sz="quarter" idx="11"/>
          </p:nvPr>
        </p:nvSpPr>
        <p:spPr/>
        <p:txBody>
          <a:bodyPr/>
          <a:lstStyle/>
          <a:p>
            <a:r>
              <a:rPr lang="en-US" dirty="0"/>
              <a:t>Department of CSE,BVCITS(H4),Amalapuram</a:t>
            </a:r>
            <a:endParaRPr lang="en-IN" dirty="0"/>
          </a:p>
        </p:txBody>
      </p:sp>
      <p:sp>
        <p:nvSpPr>
          <p:cNvPr id="4" name="Slide Number Placeholder 3">
            <a:extLst>
              <a:ext uri="{FF2B5EF4-FFF2-40B4-BE49-F238E27FC236}">
                <a16:creationId xmlns:a16="http://schemas.microsoft.com/office/drawing/2014/main" id="{F65B97D5-E6DC-AA34-1A2D-E8D9204A017A}"/>
              </a:ext>
            </a:extLst>
          </p:cNvPr>
          <p:cNvSpPr>
            <a:spLocks noGrp="1"/>
          </p:cNvSpPr>
          <p:nvPr>
            <p:ph type="sldNum" sz="quarter" idx="12"/>
          </p:nvPr>
        </p:nvSpPr>
        <p:spPr/>
        <p:txBody>
          <a:bodyPr/>
          <a:lstStyle/>
          <a:p>
            <a:fld id="{D11D1588-8316-42EA-B695-F2D8B3238057}" type="slidenum">
              <a:rPr lang="en-IN" smtClean="0"/>
              <a:t>37</a:t>
            </a:fld>
            <a:endParaRPr lang="en-IN"/>
          </a:p>
        </p:txBody>
      </p:sp>
      <p:sp>
        <p:nvSpPr>
          <p:cNvPr id="5" name="Date Placeholder 4">
            <a:extLst>
              <a:ext uri="{FF2B5EF4-FFF2-40B4-BE49-F238E27FC236}">
                <a16:creationId xmlns:a16="http://schemas.microsoft.com/office/drawing/2014/main" id="{0E1A9F20-1DA4-43C3-3D74-0D2D48650D05}"/>
              </a:ext>
            </a:extLst>
          </p:cNvPr>
          <p:cNvSpPr>
            <a:spLocks noGrp="1"/>
          </p:cNvSpPr>
          <p:nvPr>
            <p:ph type="dt" sz="half" idx="10"/>
          </p:nvPr>
        </p:nvSpPr>
        <p:spPr/>
        <p:txBody>
          <a:bodyPr/>
          <a:lstStyle/>
          <a:p>
            <a:r>
              <a:rPr lang="en-IN"/>
              <a:t>11-04-2025</a:t>
            </a:r>
          </a:p>
        </p:txBody>
      </p:sp>
    </p:spTree>
    <p:extLst>
      <p:ext uri="{BB962C8B-B14F-4D97-AF65-F5344CB8AC3E}">
        <p14:creationId xmlns:p14="http://schemas.microsoft.com/office/powerpoint/2010/main" val="157171403"/>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3158557</TotalTime>
  <Words>3463</Words>
  <Application>Microsoft Office PowerPoint</Application>
  <PresentationFormat>Widescreen</PresentationFormat>
  <Paragraphs>449</Paragraphs>
  <Slides>37</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Algerian</vt:lpstr>
      <vt:lpstr>Arial</vt:lpstr>
      <vt:lpstr>Calibri</vt:lpstr>
      <vt:lpstr>Times New Roman</vt:lpstr>
      <vt:lpstr>Tw Cen MT</vt:lpstr>
      <vt:lpstr>Wingdings</vt:lpstr>
      <vt:lpstr>Droplet</vt:lpstr>
      <vt:lpstr>                             </vt:lpstr>
      <vt:lpstr>Contents</vt:lpstr>
      <vt:lpstr>abstract</vt:lpstr>
      <vt:lpstr>introduction</vt:lpstr>
      <vt:lpstr>Literature survey</vt:lpstr>
      <vt:lpstr>Existing system</vt:lpstr>
      <vt:lpstr>PROPOSED SYSTEM</vt:lpstr>
      <vt:lpstr>REQUIREMENTS</vt:lpstr>
      <vt:lpstr>Feasibility Study</vt:lpstr>
      <vt:lpstr>FUNCTIONAL REQUIREMENTS</vt:lpstr>
      <vt:lpstr>NON-FUNCTIONAL REQUIREMENTS</vt:lpstr>
      <vt:lpstr>modules</vt:lpstr>
      <vt:lpstr>Data flow diagram</vt:lpstr>
      <vt:lpstr>Uml diagrams</vt:lpstr>
      <vt:lpstr>PowerPoint Presentation</vt:lpstr>
      <vt:lpstr>fig3: Sequence diagram for Automatic detection of genetic diseases in pediatric age using pupillometry</vt:lpstr>
      <vt:lpstr>fig4: Activity diagram for Automatic detection of genetic diseases in pediatric age using pupillometry</vt:lpstr>
      <vt:lpstr>PowerPoint Presentation</vt:lpstr>
      <vt:lpstr>implementation</vt:lpstr>
      <vt:lpstr>PowerPoint Presentation</vt:lpstr>
      <vt:lpstr>PowerPoint Presentation</vt:lpstr>
      <vt:lpstr>PowerPoint Presentation</vt:lpstr>
      <vt:lpstr>PowerPoint Presentation</vt:lpstr>
      <vt:lpstr>Test Cases</vt:lpstr>
      <vt:lpstr>Project Execution Screens</vt:lpstr>
      <vt:lpstr>To run project double click on ‘run.bat’ file to get below screen.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and future enhancement</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V V S S Sai Ganesh Ganesula;YCRD</dc:creator>
  <cp:lastModifiedBy>V V S S Sai Ganesh Ganesula</cp:lastModifiedBy>
  <cp:revision>57</cp:revision>
  <dcterms:created xsi:type="dcterms:W3CDTF">2025-03-14T12:12:00Z</dcterms:created>
  <dcterms:modified xsi:type="dcterms:W3CDTF">2025-04-14T17:50:47Z</dcterms:modified>
</cp:coreProperties>
</file>